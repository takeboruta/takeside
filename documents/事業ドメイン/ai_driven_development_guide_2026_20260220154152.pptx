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slideLayout" Target="../slideLayouts/slideLayout1.xml"/><Relationship Id="rId2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slideLayout" Target="../slideLayouts/slideLayout1.xml"/><Relationship Id="rId2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22.png"/><Relationship Id="rId23" Type="http://schemas.openxmlformats.org/officeDocument/2006/relationships/image" Target="../media/image-4-23.png"/><Relationship Id="rId24" Type="http://schemas.openxmlformats.org/officeDocument/2006/relationships/image" Target="../media/image-4-24.png"/><Relationship Id="rId25" Type="http://schemas.openxmlformats.org/officeDocument/2006/relationships/image" Target="../media/image-4-25.png"/><Relationship Id="rId26" Type="http://schemas.openxmlformats.org/officeDocument/2006/relationships/image" Target="../media/image-4-26.png"/><Relationship Id="rId27" Type="http://schemas.openxmlformats.org/officeDocument/2006/relationships/image" Target="../media/image-4-27.png"/><Relationship Id="rId28" Type="http://schemas.openxmlformats.org/officeDocument/2006/relationships/image" Target="../media/image-4-28.png"/><Relationship Id="rId29" Type="http://schemas.openxmlformats.org/officeDocument/2006/relationships/image" Target="../media/image-4-29.png"/><Relationship Id="rId30" Type="http://schemas.openxmlformats.org/officeDocument/2006/relationships/image" Target="../media/image-4-30.png"/><Relationship Id="rId31" Type="http://schemas.openxmlformats.org/officeDocument/2006/relationships/slideLayout" Target="../slideLayouts/slideLayout1.xml"/><Relationship Id="rId3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slideLayout" Target="../slideLayouts/slideLayout1.xml"/><Relationship Id="rId2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slideLayout" Target="../slideLayouts/slideLayout1.xml"/><Relationship Id="rId2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slideLayout" Target="../slideLayouts/slideLayout1.xml"/><Relationship Id="rId2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image" Target="../media/image-8-23.png"/><Relationship Id="rId24" Type="http://schemas.openxmlformats.org/officeDocument/2006/relationships/image" Target="../media/image-8-24.png"/><Relationship Id="rId25" Type="http://schemas.openxmlformats.org/officeDocument/2006/relationships/slideLayout" Target="../slideLayouts/slideLayout1.xml"/><Relationship Id="rId2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0F172A"/>
          </a:solidFill>
          <a:ln w="12700">
            <a:solidFill>
              <a:srgbClr val="FFFFFF">
                <a:alpha val="0"/>
              </a:srgbClr>
            </a:solidFill>
            <a:prstDash val="solid"/>
          </a:ln>
        </p:spPr>
      </p:sp>
      <p:pic>
        <p:nvPicPr>
          <p:cNvPr id="4" name="Image 0" descr="preencoded.png">    </p:cNvPr>
          <p:cNvPicPr>
            <a:picLocks noChangeAspect="1"/>
          </p:cNvPicPr>
          <p:nvPr/>
        </p:nvPicPr>
        <p:blipFill>
          <a:blip r:embed="rId1"/>
          <a:srcRect l="0" r="0" t="-201" b="-201"/>
          <a:stretch/>
        </p:blipFill>
        <p:spPr>
          <a:xfrm>
            <a:off x="0" y="0"/>
            <a:ext cx="75895" cy="6858000"/>
          </a:xfrm>
          <a:prstGeom prst="rect">
            <a:avLst/>
          </a:prstGeom>
        </p:spPr>
      </p:pic>
      <p:sp>
        <p:nvSpPr>
          <p:cNvPr id="5" name="Shape 2"/>
          <p:cNvSpPr/>
          <p:nvPr/>
        </p:nvSpPr>
        <p:spPr>
          <a:xfrm>
            <a:off x="7429500" y="-952805"/>
            <a:ext cx="5715000" cy="5715000"/>
          </a:xfrm>
          <a:prstGeom prst="ellipse">
            <a:avLst/>
          </a:prstGeom>
          <a:noFill/>
          <a:ln w="25400">
            <a:solidFill>
              <a:srgbClr val="3B82F6">
                <a:alpha val="10000"/>
              </a:srgbClr>
            </a:solidFill>
            <a:prstDash val="solid"/>
          </a:ln>
        </p:spPr>
      </p:sp>
      <p:sp>
        <p:nvSpPr>
          <p:cNvPr id="6" name="Shape 3"/>
          <p:cNvSpPr/>
          <p:nvPr/>
        </p:nvSpPr>
        <p:spPr>
          <a:xfrm>
            <a:off x="7905902" y="-476402"/>
            <a:ext cx="4762195" cy="4762195"/>
          </a:xfrm>
          <a:prstGeom prst="ellipse">
            <a:avLst/>
          </a:prstGeom>
          <a:noFill/>
          <a:ln w="25400">
            <a:solidFill>
              <a:srgbClr val="3B82F6">
                <a:alpha val="15000"/>
              </a:srgbClr>
            </a:solidFill>
            <a:prstDash val="solid"/>
          </a:ln>
        </p:spPr>
      </p:sp>
      <p:pic>
        <p:nvPicPr>
          <p:cNvPr id="7" name="Image 1" descr="preencoded.png">    </p:cNvPr>
          <p:cNvPicPr>
            <a:picLocks noChangeAspect="1"/>
          </p:cNvPicPr>
          <p:nvPr/>
        </p:nvPicPr>
        <p:blipFill>
          <a:blip r:embed="rId2"/>
          <a:srcRect l="0" r="0" t="-408" b="-408"/>
          <a:stretch/>
        </p:blipFill>
        <p:spPr>
          <a:xfrm>
            <a:off x="6096305" y="6362395"/>
            <a:ext cx="1904695" cy="19202"/>
          </a:xfrm>
          <a:prstGeom prst="rect">
            <a:avLst/>
          </a:prstGeom>
        </p:spPr>
      </p:pic>
      <p:pic>
        <p:nvPicPr>
          <p:cNvPr id="8" name="Image 2" descr="preencoded.png">    </p:cNvPr>
          <p:cNvPicPr>
            <a:picLocks noChangeAspect="1"/>
          </p:cNvPicPr>
          <p:nvPr/>
        </p:nvPicPr>
        <p:blipFill>
          <a:blip r:embed="rId3"/>
          <a:stretch>
            <a:fillRect/>
          </a:stretch>
        </p:blipFill>
        <p:spPr>
          <a:xfrm>
            <a:off x="914400" y="1209751"/>
            <a:ext cx="2219249" cy="286207"/>
          </a:xfrm>
          <a:prstGeom prst="rect">
            <a:avLst/>
          </a:prstGeom>
        </p:spPr>
      </p:pic>
      <p:sp>
        <p:nvSpPr>
          <p:cNvPr id="9" name="Text 4"/>
          <p:cNvSpPr/>
          <p:nvPr/>
        </p:nvSpPr>
        <p:spPr>
          <a:xfrm>
            <a:off x="1257300" y="1209751"/>
            <a:ext cx="1877263" cy="286207"/>
          </a:xfrm>
          <a:prstGeom prst="rect">
            <a:avLst/>
          </a:prstGeom>
          <a:solidFill>
            <a:srgbClr val="FFFFFF">
              <a:alpha val="0"/>
            </a:srgbClr>
          </a:solidFill>
          <a:ln w="12700">
            <a:solidFill>
              <a:srgbClr val="047857">
                <a:alpha val="50000"/>
              </a:srgbClr>
            </a:solidFill>
          </a:ln>
        </p:spPr>
        <p:txBody>
          <a:bodyPr wrap="square" lIns="0" tIns="0" rIns="0" bIns="0" rtlCol="0" anchor="ctr"/>
          <a:lstStyle/>
          <a:p>
            <a:pPr algn="ctr" indent="0" marL="0">
              <a:buNone/>
            </a:pPr>
            <a:r>
              <a:rPr lang="en-US" sz="1000" b="1" spc="52" kern="0" dirty="0">
                <a:solidFill>
                  <a:srgbClr val="6EE7B7"/>
                </a:solidFill>
                <a:latin typeface="Noto Sans JP" pitchFamily="34" charset="0"/>
                <a:ea typeface="Noto Sans JP" pitchFamily="34" charset="-122"/>
                <a:cs typeface="Noto Sans JP" pitchFamily="34" charset="-120"/>
              </a:rPr>
              <a:t>ENGINEERING STRATEGY</a:t>
            </a:r>
            <a:endParaRPr lang="en-US" sz="1000" dirty="0"/>
          </a:p>
        </p:txBody>
      </p:sp>
      <p:sp>
        <p:nvSpPr>
          <p:cNvPr id="10" name="Text 5"/>
          <p:cNvSpPr txBox="1"/>
          <p:nvPr/>
        </p:nvSpPr>
        <p:spPr>
          <a:xfrm>
            <a:off x="3278124" y="1257300"/>
            <a:ext cx="876910" cy="191110"/>
          </a:xfrm>
          <a:prstGeom prst="rect">
            <a:avLst/>
          </a:prstGeom>
          <a:noFill/>
          <a:ln/>
        </p:spPr>
        <p:txBody>
          <a:bodyPr wrap="square" lIns="0" tIns="0" rIns="0" bIns="0" rtlCol="0" anchor="ctr"/>
          <a:lstStyle/>
          <a:p>
            <a:pPr algn="l" indent="0" marL="0">
              <a:buNone/>
            </a:pPr>
            <a:r>
              <a:rPr lang="en-US" sz="1000" dirty="0">
                <a:solidFill>
                  <a:srgbClr val="64748B"/>
                </a:solidFill>
                <a:latin typeface="JetBrains Mono" pitchFamily="34" charset="0"/>
                <a:ea typeface="JetBrains Mono" pitchFamily="34" charset="-122"/>
                <a:cs typeface="JetBrains Mono" pitchFamily="34" charset="-120"/>
              </a:rPr>
              <a:t>v2026.2.20</a:t>
            </a:r>
            <a:endParaRPr lang="en-US" sz="1000" dirty="0"/>
          </a:p>
        </p:txBody>
      </p:sp>
      <p:sp>
        <p:nvSpPr>
          <p:cNvPr id="11" name="Text 6"/>
          <p:cNvSpPr txBox="1"/>
          <p:nvPr/>
        </p:nvSpPr>
        <p:spPr>
          <a:xfrm>
            <a:off x="914400" y="1723644"/>
            <a:ext cx="6934810" cy="1714500"/>
          </a:xfrm>
          <a:prstGeom prst="rect">
            <a:avLst/>
          </a:prstGeom>
          <a:noFill/>
          <a:ln/>
        </p:spPr>
        <p:txBody>
          <a:bodyPr wrap="square" lIns="0" tIns="0" rIns="0" bIns="0" rtlCol="0" anchor="t"/>
          <a:lstStyle/>
          <a:p>
            <a:pPr algn="l" indent="0" marL="0">
              <a:buNone/>
            </a:pPr>
            <a:r>
              <a:rPr lang="en-US" sz="5400" b="1" spc="-135" kern="0" dirty="0">
                <a:solidFill>
                  <a:srgbClr val="FFFFFF"/>
                </a:solidFill>
                <a:latin typeface="Noto Sans JP" pitchFamily="34" charset="0"/>
                <a:ea typeface="Noto Sans JP" pitchFamily="34" charset="-122"/>
                <a:cs typeface="Noto Sans JP" pitchFamily="34" charset="-120"/>
              </a:rPr>
              <a:t>AI駆動開発</a:t>
            </a:r>
            <a:pPr algn="l" indent="0" marL="0">
              <a:buNone/>
            </a:pPr>
            <a:endParaRPr lang="en-US" sz="5400" dirty="0"/>
          </a:p>
          <a:p>
            <a:pPr algn="l" indent="0" marL="0">
              <a:buNone/>
            </a:pPr>
            <a:r>
              <a:rPr lang="en-US" sz="5400" b="1" spc="-135" kern="0" dirty="0">
                <a:solidFill>
                  <a:srgbClr val="34D399"/>
                </a:solidFill>
                <a:latin typeface="Noto Sans JP" pitchFamily="34" charset="0"/>
                <a:ea typeface="Noto Sans JP" pitchFamily="34" charset="-122"/>
                <a:cs typeface="Noto Sans JP" pitchFamily="34" charset="-120"/>
              </a:rPr>
              <a:t>実践ガイド 2026</a:t>
            </a:r>
            <a:endParaRPr lang="en-US" sz="5400" dirty="0"/>
          </a:p>
        </p:txBody>
      </p:sp>
      <p:pic>
        <p:nvPicPr>
          <p:cNvPr id="12" name="Image 3" descr="preencoded.png">    </p:cNvPr>
          <p:cNvPicPr>
            <a:picLocks noChangeAspect="1"/>
          </p:cNvPicPr>
          <p:nvPr/>
        </p:nvPicPr>
        <p:blipFill>
          <a:blip r:embed="rId4"/>
          <a:srcRect l="0" r="0" t="-400" b="-400"/>
          <a:stretch/>
        </p:blipFill>
        <p:spPr>
          <a:xfrm>
            <a:off x="914400" y="3877056"/>
            <a:ext cx="457200" cy="38405"/>
          </a:xfrm>
          <a:prstGeom prst="rect">
            <a:avLst/>
          </a:prstGeom>
        </p:spPr>
      </p:pic>
      <p:sp>
        <p:nvSpPr>
          <p:cNvPr id="13" name="Text 7"/>
          <p:cNvSpPr txBox="1"/>
          <p:nvPr/>
        </p:nvSpPr>
        <p:spPr>
          <a:xfrm>
            <a:off x="1600200" y="3590849"/>
            <a:ext cx="4648810" cy="609905"/>
          </a:xfrm>
          <a:prstGeom prst="rect">
            <a:avLst/>
          </a:prstGeom>
          <a:noFill/>
          <a:ln/>
        </p:spPr>
        <p:txBody>
          <a:bodyPr wrap="square" lIns="0" tIns="0" rIns="0" bIns="0" rtlCol="0" anchor="t"/>
          <a:lstStyle/>
          <a:p>
            <a:pPr algn="l" indent="0" marL="0">
              <a:buNone/>
            </a:pPr>
            <a:r>
              <a:rPr lang="en-US" sz="1800" dirty="0">
                <a:solidFill>
                  <a:srgbClr val="CBD5E1"/>
                </a:solidFill>
                <a:latin typeface="Noto Sans JP" pitchFamily="34" charset="0"/>
                <a:ea typeface="Noto Sans JP" pitchFamily="34" charset="-122"/>
                <a:cs typeface="Noto Sans JP" pitchFamily="34" charset="-120"/>
              </a:rPr>
              <a:t> 〜「コードを書く」から</a:t>
            </a:r>
            <a:pPr algn="l" indent="0" marL="0">
              <a:buNone/>
            </a:pPr>
            <a:endParaRPr lang="en-US" sz="1800" dirty="0"/>
          </a:p>
          <a:p>
            <a:pPr algn="l" indent="0" marL="0">
              <a:buNone/>
            </a:pPr>
            <a:r>
              <a:rPr lang="en-US" sz="1800" b="1" dirty="0">
                <a:solidFill>
                  <a:srgbClr val="FFFFFF"/>
                </a:solidFill>
                <a:latin typeface="Noto Sans JP" pitchFamily="34" charset="0"/>
                <a:ea typeface="Noto Sans JP" pitchFamily="34" charset="-122"/>
                <a:cs typeface="Noto Sans JP" pitchFamily="34" charset="-120"/>
              </a:rPr>
              <a:t>「AIをオーケストレーションする」</a:t>
            </a:r>
            <a:pPr algn="l" indent="0" marL="0">
              <a:buNone/>
            </a:pPr>
            <a:r>
              <a:rPr lang="en-US" sz="1800" dirty="0">
                <a:solidFill>
                  <a:srgbClr val="CBD5E1"/>
                </a:solidFill>
                <a:latin typeface="Noto Sans JP" pitchFamily="34" charset="0"/>
                <a:ea typeface="Noto Sans JP" pitchFamily="34" charset="-122"/>
                <a:cs typeface="Noto Sans JP" pitchFamily="34" charset="-120"/>
              </a:rPr>
              <a:t>時代へ〜 </a:t>
            </a:r>
            <a:endParaRPr lang="en-US" sz="1800" dirty="0"/>
          </a:p>
        </p:txBody>
      </p:sp>
      <p:sp>
        <p:nvSpPr>
          <p:cNvPr id="14" name="Text 8"/>
          <p:cNvSpPr txBox="1"/>
          <p:nvPr/>
        </p:nvSpPr>
        <p:spPr>
          <a:xfrm>
            <a:off x="914400" y="4962449"/>
            <a:ext cx="1591056" cy="191110"/>
          </a:xfrm>
          <a:prstGeom prst="rect">
            <a:avLst/>
          </a:prstGeom>
          <a:noFill/>
          <a:ln/>
        </p:spPr>
        <p:txBody>
          <a:bodyPr wrap="square" lIns="0" tIns="0" rIns="0" bIns="0" rtlCol="0" anchor="ctr"/>
          <a:lstStyle/>
          <a:p>
            <a:pPr algn="l" indent="0" marL="0">
              <a:buNone/>
            </a:pPr>
            <a:r>
              <a:rPr lang="en-US" sz="1000" spc="105" kern="0" dirty="0">
                <a:solidFill>
                  <a:srgbClr val="94A3B8"/>
                </a:solidFill>
                <a:latin typeface="Noto Sans JP" pitchFamily="34" charset="0"/>
                <a:ea typeface="Noto Sans JP" pitchFamily="34" charset="-122"/>
                <a:cs typeface="Noto Sans JP" pitchFamily="34" charset="-120"/>
              </a:rPr>
              <a:t>PRESENTER</a:t>
            </a:r>
            <a:endParaRPr lang="en-US" sz="1000" dirty="0"/>
          </a:p>
        </p:txBody>
      </p:sp>
      <p:sp>
        <p:nvSpPr>
          <p:cNvPr id="15" name="Text 9"/>
          <p:cNvSpPr txBox="1"/>
          <p:nvPr/>
        </p:nvSpPr>
        <p:spPr>
          <a:xfrm>
            <a:off x="1162202" y="5191049"/>
            <a:ext cx="1388059" cy="267005"/>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石田武士</a:t>
            </a:r>
            <a:endParaRPr lang="en-US" sz="1300" dirty="0"/>
          </a:p>
        </p:txBody>
      </p:sp>
      <p:sp>
        <p:nvSpPr>
          <p:cNvPr id="16" name="Text 10"/>
          <p:cNvSpPr txBox="1"/>
          <p:nvPr/>
        </p:nvSpPr>
        <p:spPr>
          <a:xfrm>
            <a:off x="914400" y="5458054"/>
            <a:ext cx="1802282" cy="191110"/>
          </a:xfrm>
          <a:prstGeom prst="rect">
            <a:avLst/>
          </a:prstGeom>
          <a:noFill/>
          <a:ln/>
        </p:spPr>
        <p:txBody>
          <a:bodyPr wrap="square" lIns="0" tIns="0" rIns="0" bIns="0" rtlCol="0" anchor="ctr"/>
          <a:lstStyle/>
          <a:p>
            <a:pPr algn="l" indent="0" marL="0">
              <a:buNone/>
            </a:pPr>
            <a:r>
              <a:rPr lang="en-US" sz="1000" dirty="0">
                <a:solidFill>
                  <a:srgbClr val="94A3B8"/>
                </a:solidFill>
                <a:latin typeface="Noto Sans JP" pitchFamily="34" charset="0"/>
                <a:ea typeface="Noto Sans JP" pitchFamily="34" charset="-122"/>
                <a:cs typeface="Noto Sans JP" pitchFamily="34" charset="-120"/>
              </a:rPr>
              <a:t>Chief Technology Officer</a:t>
            </a:r>
            <a:endParaRPr lang="en-US" sz="1000" dirty="0"/>
          </a:p>
        </p:txBody>
      </p:sp>
      <p:pic>
        <p:nvPicPr>
          <p:cNvPr id="17" name="Image 4" descr="preencoded.png">    </p:cNvPr>
          <p:cNvPicPr>
            <a:picLocks noChangeAspect="1"/>
          </p:cNvPicPr>
          <p:nvPr/>
        </p:nvPicPr>
        <p:blipFill>
          <a:blip r:embed="rId5"/>
          <a:srcRect l="0" r="0" t="-2127" b="-2127"/>
          <a:stretch/>
        </p:blipFill>
        <p:spPr>
          <a:xfrm>
            <a:off x="2729484" y="5115154"/>
            <a:ext cx="9144" cy="381305"/>
          </a:xfrm>
          <a:prstGeom prst="rect">
            <a:avLst/>
          </a:prstGeom>
        </p:spPr>
      </p:pic>
      <p:sp>
        <p:nvSpPr>
          <p:cNvPr id="18" name="Text 11"/>
          <p:cNvSpPr txBox="1"/>
          <p:nvPr/>
        </p:nvSpPr>
        <p:spPr>
          <a:xfrm>
            <a:off x="3044038" y="5057546"/>
            <a:ext cx="2001622" cy="191110"/>
          </a:xfrm>
          <a:prstGeom prst="rect">
            <a:avLst/>
          </a:prstGeom>
          <a:noFill/>
          <a:ln/>
        </p:spPr>
        <p:txBody>
          <a:bodyPr wrap="square" lIns="0" tIns="0" rIns="0" bIns="0" rtlCol="0" anchor="ctr"/>
          <a:lstStyle/>
          <a:p>
            <a:pPr algn="l" indent="0" marL="0">
              <a:buNone/>
            </a:pPr>
            <a:r>
              <a:rPr lang="en-US" sz="1000" spc="105" kern="0" dirty="0">
                <a:solidFill>
                  <a:srgbClr val="94A3B8"/>
                </a:solidFill>
                <a:latin typeface="Noto Sans JP" pitchFamily="34" charset="0"/>
                <a:ea typeface="Noto Sans JP" pitchFamily="34" charset="-122"/>
                <a:cs typeface="Noto Sans JP" pitchFamily="34" charset="-120"/>
              </a:rPr>
              <a:t>ORGANIZATION</a:t>
            </a:r>
            <a:endParaRPr lang="en-US" sz="1000" dirty="0"/>
          </a:p>
        </p:txBody>
      </p:sp>
      <p:sp>
        <p:nvSpPr>
          <p:cNvPr id="19" name="Text 12"/>
          <p:cNvSpPr txBox="1"/>
          <p:nvPr/>
        </p:nvSpPr>
        <p:spPr>
          <a:xfrm>
            <a:off x="3253435" y="5286146"/>
            <a:ext cx="1869034" cy="267005"/>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テイクサイド株式会社</a:t>
            </a:r>
            <a:endParaRPr lang="en-US" sz="1300" dirty="0"/>
          </a:p>
        </p:txBody>
      </p:sp>
      <p:pic>
        <p:nvPicPr>
          <p:cNvPr id="20" name="Image 5" descr="preencoded.png">    </p:cNvPr>
          <p:cNvPicPr>
            <a:picLocks noChangeAspect="1"/>
          </p:cNvPicPr>
          <p:nvPr/>
        </p:nvPicPr>
        <p:blipFill>
          <a:blip r:embed="rId6"/>
          <a:srcRect l="-3425" r="-3425" t="0" b="0"/>
          <a:stretch/>
        </p:blipFill>
        <p:spPr>
          <a:xfrm>
            <a:off x="1037844" y="1292962"/>
            <a:ext cx="142646" cy="133502"/>
          </a:xfrm>
          <a:prstGeom prst="rect">
            <a:avLst/>
          </a:prstGeom>
        </p:spPr>
      </p:pic>
      <p:pic>
        <p:nvPicPr>
          <p:cNvPr id="21" name="Image 6" descr="preencoded.png">    </p:cNvPr>
          <p:cNvPicPr>
            <a:picLocks noChangeAspect="1"/>
          </p:cNvPicPr>
          <p:nvPr/>
        </p:nvPicPr>
        <p:blipFill>
          <a:blip r:embed="rId7"/>
          <a:srcRect l="0" r="0" t="0" b="0"/>
          <a:stretch/>
        </p:blipFill>
        <p:spPr>
          <a:xfrm>
            <a:off x="914400" y="5250485"/>
            <a:ext cx="171907" cy="171907"/>
          </a:xfrm>
          <a:prstGeom prst="rect">
            <a:avLst/>
          </a:prstGeom>
        </p:spPr>
      </p:pic>
      <p:pic>
        <p:nvPicPr>
          <p:cNvPr id="22" name="Image 7" descr="preencoded.png">    </p:cNvPr>
          <p:cNvPicPr>
            <a:picLocks noChangeAspect="1"/>
          </p:cNvPicPr>
          <p:nvPr/>
        </p:nvPicPr>
        <p:blipFill>
          <a:blip r:embed="rId8"/>
          <a:srcRect l="-1773" r="-1773" t="0" b="0"/>
          <a:stretch/>
        </p:blipFill>
        <p:spPr>
          <a:xfrm>
            <a:off x="3044038" y="5345582"/>
            <a:ext cx="133502" cy="171907"/>
          </a:xfrm>
          <a:prstGeom prst="rect">
            <a:avLst/>
          </a:prstGeom>
        </p:spPr>
      </p:pic>
      <p:sp>
        <p:nvSpPr>
          <p:cNvPr id="23" name="Shape 13"/>
          <p:cNvSpPr/>
          <p:nvPr/>
        </p:nvSpPr>
        <p:spPr>
          <a:xfrm>
            <a:off x="8128102" y="2009851"/>
            <a:ext cx="3610051" cy="2838298"/>
          </a:xfrm>
          <a:prstGeom prst="roundRect">
            <a:avLst>
              <a:gd name="adj" fmla="val 1730"/>
            </a:avLst>
          </a:prstGeom>
          <a:solidFill>
            <a:srgbClr val="1E293B">
              <a:alpha val="95000"/>
            </a:srgbClr>
          </a:solidFill>
          <a:ln w="12700">
            <a:solidFill>
              <a:srgbClr val="94A3B8">
                <a:alpha val="10000"/>
              </a:srgbClr>
            </a:solidFill>
            <a:prstDash val="solid"/>
          </a:ln>
        </p:spPr>
      </p:sp>
      <p:pic>
        <p:nvPicPr>
          <p:cNvPr id="24" name="Image 8" descr="preencoded.png">    </p:cNvPr>
          <p:cNvPicPr>
            <a:picLocks noChangeAspect="1"/>
          </p:cNvPicPr>
          <p:nvPr/>
        </p:nvPicPr>
        <p:blipFill>
          <a:blip r:embed="rId9"/>
          <a:srcRect l="-405" r="-405" t="0" b="0"/>
          <a:stretch/>
        </p:blipFill>
        <p:spPr>
          <a:xfrm>
            <a:off x="8137246" y="2018995"/>
            <a:ext cx="38405" cy="2819095"/>
          </a:xfrm>
          <a:prstGeom prst="rect">
            <a:avLst/>
          </a:prstGeom>
        </p:spPr>
      </p:pic>
      <p:sp>
        <p:nvSpPr>
          <p:cNvPr id="25" name="Text 14"/>
          <p:cNvSpPr txBox="1"/>
          <p:nvPr/>
        </p:nvSpPr>
        <p:spPr>
          <a:xfrm>
            <a:off x="8690458" y="2324405"/>
            <a:ext cx="2848356" cy="228600"/>
          </a:xfrm>
          <a:prstGeom prst="rect">
            <a:avLst/>
          </a:prstGeom>
          <a:noFill/>
          <a:ln/>
        </p:spPr>
        <p:txBody>
          <a:bodyPr wrap="square" lIns="0" tIns="0" rIns="0" bIns="0" rtlCol="0" anchor="ctr"/>
          <a:lstStyle/>
          <a:p>
            <a:pPr algn="l" indent="0" marL="0">
              <a:buNone/>
            </a:pPr>
            <a:r>
              <a:rPr lang="en-US" sz="1200" b="1" dirty="0">
                <a:solidFill>
                  <a:srgbClr val="60A5FA"/>
                </a:solidFill>
                <a:latin typeface="Noto Sans JP" pitchFamily="34" charset="0"/>
                <a:ea typeface="Noto Sans JP" pitchFamily="34" charset="-122"/>
                <a:cs typeface="Noto Sans JP" pitchFamily="34" charset="-120"/>
              </a:rPr>
              <a:t> OUR MISSION </a:t>
            </a:r>
            <a:endParaRPr lang="en-US" sz="1200" dirty="0"/>
          </a:p>
        </p:txBody>
      </p:sp>
      <p:pic>
        <p:nvPicPr>
          <p:cNvPr id="26" name="Image 9" descr="preencoded.png">    </p:cNvPr>
          <p:cNvPicPr>
            <a:picLocks noChangeAspect="1"/>
          </p:cNvPicPr>
          <p:nvPr/>
        </p:nvPicPr>
        <p:blipFill>
          <a:blip r:embed="rId10"/>
          <a:srcRect l="-33" r="-33" t="0" b="0"/>
          <a:stretch/>
        </p:blipFill>
        <p:spPr>
          <a:xfrm>
            <a:off x="8442655" y="2361895"/>
            <a:ext cx="171907" cy="152705"/>
          </a:xfrm>
          <a:prstGeom prst="rect">
            <a:avLst/>
          </a:prstGeom>
        </p:spPr>
      </p:pic>
      <p:sp>
        <p:nvSpPr>
          <p:cNvPr id="27" name="Text 15"/>
          <p:cNvSpPr txBox="1"/>
          <p:nvPr/>
        </p:nvSpPr>
        <p:spPr>
          <a:xfrm>
            <a:off x="8442655" y="2704795"/>
            <a:ext cx="3057754" cy="866851"/>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当社はAI開発をメインに受託し、現場に即したエージェント活用と多層防御を実装。人間は承認と意思決定に集中し、速度と安全性を両立させる開発スタイルを推進しています。</a:t>
            </a:r>
            <a:endParaRPr lang="en-US" sz="1000" dirty="0"/>
          </a:p>
        </p:txBody>
      </p:sp>
      <p:sp>
        <p:nvSpPr>
          <p:cNvPr id="28" name="Shape 16"/>
          <p:cNvSpPr/>
          <p:nvPr/>
        </p:nvSpPr>
        <p:spPr>
          <a:xfrm>
            <a:off x="8442655" y="3800246"/>
            <a:ext cx="2980944" cy="9144"/>
          </a:xfrm>
          <a:prstGeom prst="rect">
            <a:avLst/>
          </a:prstGeom>
          <a:solidFill>
            <a:srgbClr val="334155"/>
          </a:solidFill>
          <a:ln w="12700">
            <a:solidFill>
              <a:srgbClr val="334155">
                <a:alpha val="0"/>
              </a:srgbClr>
            </a:solidFill>
            <a:prstDash val="solid"/>
          </a:ln>
        </p:spPr>
      </p:sp>
      <p:sp>
        <p:nvSpPr>
          <p:cNvPr id="29" name="Text 17"/>
          <p:cNvSpPr txBox="1"/>
          <p:nvPr/>
        </p:nvSpPr>
        <p:spPr>
          <a:xfrm>
            <a:off x="8442655" y="3962095"/>
            <a:ext cx="972007" cy="152705"/>
          </a:xfrm>
          <a:prstGeom prst="rect">
            <a:avLst/>
          </a:prstGeom>
          <a:noFill/>
          <a:ln/>
        </p:spPr>
        <p:txBody>
          <a:bodyPr wrap="square" lIns="0" tIns="0" rIns="0" bIns="0" rtlCol="0" anchor="ctr"/>
          <a:lstStyle/>
          <a:p>
            <a:pPr algn="l" indent="0" marL="0">
              <a:buNone/>
            </a:pPr>
            <a:r>
              <a:rPr lang="en-US" sz="900" dirty="0">
                <a:solidFill>
                  <a:srgbClr val="64748B"/>
                </a:solidFill>
                <a:latin typeface="JetBrains Mono" pitchFamily="34" charset="0"/>
                <a:ea typeface="JetBrains Mono" pitchFamily="34" charset="-122"/>
                <a:cs typeface="JetBrains Mono" pitchFamily="34" charset="-120"/>
              </a:rPr>
              <a:t>SYSTEM_STATUS</a:t>
            </a:r>
            <a:endParaRPr lang="en-US" sz="900" dirty="0"/>
          </a:p>
        </p:txBody>
      </p:sp>
      <p:sp>
        <p:nvSpPr>
          <p:cNvPr id="30" name="Text 18"/>
          <p:cNvSpPr txBox="1"/>
          <p:nvPr/>
        </p:nvSpPr>
        <p:spPr>
          <a:xfrm>
            <a:off x="10871302" y="3962095"/>
            <a:ext cx="629107" cy="152705"/>
          </a:xfrm>
          <a:prstGeom prst="rect">
            <a:avLst/>
          </a:prstGeom>
          <a:noFill/>
          <a:ln/>
        </p:spPr>
        <p:txBody>
          <a:bodyPr wrap="square" lIns="0" tIns="0" rIns="0" bIns="0" rtlCol="0" anchor="ctr"/>
          <a:lstStyle/>
          <a:p>
            <a:pPr algn="l" indent="0" marL="0">
              <a:buNone/>
            </a:pPr>
            <a:r>
              <a:rPr lang="en-US" sz="900" dirty="0">
                <a:solidFill>
                  <a:srgbClr val="34D399"/>
                </a:solidFill>
                <a:latin typeface="JetBrains Mono" pitchFamily="34" charset="0"/>
                <a:ea typeface="JetBrains Mono" pitchFamily="34" charset="-122"/>
                <a:cs typeface="JetBrains Mono" pitchFamily="34" charset="-120"/>
              </a:rPr>
              <a:t>● ONLINE</a:t>
            </a:r>
            <a:endParaRPr lang="en-US" sz="900" dirty="0"/>
          </a:p>
        </p:txBody>
      </p:sp>
      <p:sp>
        <p:nvSpPr>
          <p:cNvPr id="31" name="Text 19"/>
          <p:cNvSpPr txBox="1"/>
          <p:nvPr/>
        </p:nvSpPr>
        <p:spPr>
          <a:xfrm>
            <a:off x="8442655" y="4190695"/>
            <a:ext cx="409651" cy="152705"/>
          </a:xfrm>
          <a:prstGeom prst="rect">
            <a:avLst/>
          </a:prstGeom>
          <a:noFill/>
          <a:ln/>
        </p:spPr>
        <p:txBody>
          <a:bodyPr wrap="square" lIns="0" tIns="0" rIns="0" bIns="0" rtlCol="0" anchor="ctr"/>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Target</a:t>
            </a:r>
            <a:endParaRPr lang="en-US" sz="900" dirty="0"/>
          </a:p>
        </p:txBody>
      </p:sp>
      <p:sp>
        <p:nvSpPr>
          <p:cNvPr id="32" name="Text 20"/>
          <p:cNvSpPr txBox="1"/>
          <p:nvPr/>
        </p:nvSpPr>
        <p:spPr>
          <a:xfrm>
            <a:off x="10514686" y="4190695"/>
            <a:ext cx="1088136" cy="152705"/>
          </a:xfrm>
          <a:prstGeom prst="rect">
            <a:avLst/>
          </a:prstGeom>
          <a:noFill/>
          <a:ln/>
        </p:spPr>
        <p:txBody>
          <a:bodyPr wrap="square" lIns="0" tIns="0" rIns="0" bIns="0" rtlCol="0" anchor="ctr"/>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Enterprise AI Dev</a:t>
            </a:r>
            <a:endParaRPr lang="en-US" sz="900" dirty="0"/>
          </a:p>
        </p:txBody>
      </p:sp>
      <p:sp>
        <p:nvSpPr>
          <p:cNvPr id="33" name="Text 21"/>
          <p:cNvSpPr txBox="1"/>
          <p:nvPr/>
        </p:nvSpPr>
        <p:spPr>
          <a:xfrm>
            <a:off x="8442655" y="4381805"/>
            <a:ext cx="522122" cy="152705"/>
          </a:xfrm>
          <a:prstGeom prst="rect">
            <a:avLst/>
          </a:prstGeom>
          <a:noFill/>
          <a:ln/>
        </p:spPr>
        <p:txBody>
          <a:bodyPr wrap="square" lIns="0" tIns="0" rIns="0" bIns="0" rtlCol="0" anchor="ctr"/>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Security</a:t>
            </a:r>
            <a:endParaRPr lang="en-US" sz="900" dirty="0"/>
          </a:p>
        </p:txBody>
      </p:sp>
      <p:sp>
        <p:nvSpPr>
          <p:cNvPr id="34" name="Text 22"/>
          <p:cNvSpPr txBox="1"/>
          <p:nvPr/>
        </p:nvSpPr>
        <p:spPr>
          <a:xfrm>
            <a:off x="10395814" y="4381805"/>
            <a:ext cx="1224382" cy="152705"/>
          </a:xfrm>
          <a:prstGeom prst="rect">
            <a:avLst/>
          </a:prstGeom>
          <a:noFill/>
          <a:ln/>
        </p:spPr>
        <p:txBody>
          <a:bodyPr wrap="square" lIns="0" tIns="0" rIns="0" bIns="0" rtlCol="0" anchor="ctr"/>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Multi-layer Defense</a:t>
            </a:r>
            <a:endParaRPr lang="en-US" sz="900" dirty="0"/>
          </a:p>
        </p:txBody>
      </p:sp>
      <p:sp>
        <p:nvSpPr>
          <p:cNvPr id="35" name="Text 23"/>
          <p:cNvSpPr txBox="1"/>
          <p:nvPr/>
        </p:nvSpPr>
        <p:spPr>
          <a:xfrm>
            <a:off x="9592970" y="5333695"/>
            <a:ext cx="2229307" cy="152705"/>
          </a:xfrm>
          <a:prstGeom prst="rect">
            <a:avLst/>
          </a:prstGeom>
          <a:noFill/>
          <a:ln/>
        </p:spPr>
        <p:txBody>
          <a:bodyPr wrap="square" lIns="0" tIns="0" rIns="0" bIns="0" rtlCol="0" anchor="ctr"/>
          <a:lstStyle/>
          <a:p>
            <a:pPr algn="l" indent="0" marL="0">
              <a:buNone/>
            </a:pPr>
            <a:r>
              <a:rPr lang="en-US" sz="900" dirty="0">
                <a:solidFill>
                  <a:srgbClr val="93C5FD">
                    <a:alpha val="20000"/>
                  </a:srgbClr>
                </a:solidFill>
                <a:latin typeface="JetBrains Mono" pitchFamily="34" charset="0"/>
                <a:ea typeface="JetBrains Mono" pitchFamily="34" charset="-122"/>
                <a:cs typeface="JetBrains Mono" pitchFamily="34" charset="-120"/>
              </a:rPr>
              <a:t>func main() {</a:t>
            </a:r>
            <a:endParaRPr lang="en-US" sz="900" dirty="0"/>
          </a:p>
        </p:txBody>
      </p:sp>
      <p:sp>
        <p:nvSpPr>
          <p:cNvPr id="36" name="Text 24"/>
          <p:cNvSpPr txBox="1"/>
          <p:nvPr/>
        </p:nvSpPr>
        <p:spPr>
          <a:xfrm>
            <a:off x="9592970" y="5486400"/>
            <a:ext cx="2229307" cy="152705"/>
          </a:xfrm>
          <a:prstGeom prst="rect">
            <a:avLst/>
          </a:prstGeom>
          <a:noFill/>
          <a:ln/>
        </p:spPr>
        <p:txBody>
          <a:bodyPr wrap="square" lIns="0" tIns="0" rIns="0" bIns="0" rtlCol="0" anchor="ctr"/>
          <a:lstStyle/>
          <a:p>
            <a:pPr algn="l" indent="0" marL="0">
              <a:buNone/>
            </a:pPr>
            <a:r>
              <a:rPr lang="en-US" sz="900" dirty="0">
                <a:solidFill>
                  <a:srgbClr val="93C5FD">
                    <a:alpha val="20000"/>
                  </a:srgbClr>
                </a:solidFill>
                <a:latin typeface="JetBrains Mono" pitchFamily="34" charset="0"/>
                <a:ea typeface="JetBrains Mono" pitchFamily="34" charset="-122"/>
                <a:cs typeface="JetBrains Mono" pitchFamily="34" charset="-120"/>
              </a:rPr>
              <a:t>agent := ai.NewAgent()</a:t>
            </a:r>
            <a:endParaRPr lang="en-US" sz="900" dirty="0"/>
          </a:p>
        </p:txBody>
      </p:sp>
      <p:sp>
        <p:nvSpPr>
          <p:cNvPr id="37" name="Text 25"/>
          <p:cNvSpPr txBox="1"/>
          <p:nvPr/>
        </p:nvSpPr>
        <p:spPr>
          <a:xfrm>
            <a:off x="9592970" y="5639105"/>
            <a:ext cx="2229307" cy="152705"/>
          </a:xfrm>
          <a:prstGeom prst="rect">
            <a:avLst/>
          </a:prstGeom>
          <a:noFill/>
          <a:ln/>
        </p:spPr>
        <p:txBody>
          <a:bodyPr wrap="square" lIns="0" tIns="0" rIns="0" bIns="0" rtlCol="0" anchor="ctr"/>
          <a:lstStyle/>
          <a:p>
            <a:pPr algn="l" indent="0" marL="0">
              <a:buNone/>
            </a:pPr>
            <a:r>
              <a:rPr lang="en-US" sz="900" dirty="0">
                <a:solidFill>
                  <a:srgbClr val="93C5FD">
                    <a:alpha val="20000"/>
                  </a:srgbClr>
                </a:solidFill>
                <a:latin typeface="JetBrains Mono" pitchFamily="34" charset="0"/>
                <a:ea typeface="JetBrains Mono" pitchFamily="34" charset="-122"/>
                <a:cs typeface="JetBrains Mono" pitchFamily="34" charset="-120"/>
              </a:rPr>
              <a:t>review := agent.Analyze(code)</a:t>
            </a:r>
            <a:endParaRPr lang="en-US" sz="900" dirty="0"/>
          </a:p>
        </p:txBody>
      </p:sp>
      <p:sp>
        <p:nvSpPr>
          <p:cNvPr id="38" name="Text 26"/>
          <p:cNvSpPr txBox="1"/>
          <p:nvPr/>
        </p:nvSpPr>
        <p:spPr>
          <a:xfrm>
            <a:off x="9592970" y="5790895"/>
            <a:ext cx="2229307" cy="152705"/>
          </a:xfrm>
          <a:prstGeom prst="rect">
            <a:avLst/>
          </a:prstGeom>
          <a:noFill/>
          <a:ln/>
        </p:spPr>
        <p:txBody>
          <a:bodyPr wrap="square" lIns="0" tIns="0" rIns="0" bIns="0" rtlCol="0" anchor="ctr"/>
          <a:lstStyle/>
          <a:p>
            <a:pPr algn="l" indent="0" marL="0">
              <a:buNone/>
            </a:pPr>
            <a:r>
              <a:rPr lang="en-US" sz="900" dirty="0">
                <a:solidFill>
                  <a:srgbClr val="93C5FD">
                    <a:alpha val="20000"/>
                  </a:srgbClr>
                </a:solidFill>
                <a:latin typeface="JetBrains Mono" pitchFamily="34" charset="0"/>
                <a:ea typeface="JetBrains Mono" pitchFamily="34" charset="-122"/>
                <a:cs typeface="JetBrains Mono" pitchFamily="34" charset="-120"/>
              </a:rPr>
              <a:t>if review.IsSecure() {</a:t>
            </a:r>
            <a:endParaRPr lang="en-US" sz="900" dirty="0"/>
          </a:p>
        </p:txBody>
      </p:sp>
      <p:sp>
        <p:nvSpPr>
          <p:cNvPr id="39" name="Text 27"/>
          <p:cNvSpPr txBox="1"/>
          <p:nvPr/>
        </p:nvSpPr>
        <p:spPr>
          <a:xfrm>
            <a:off x="9592970" y="5943600"/>
            <a:ext cx="2229307" cy="152705"/>
          </a:xfrm>
          <a:prstGeom prst="rect">
            <a:avLst/>
          </a:prstGeom>
          <a:noFill/>
          <a:ln/>
        </p:spPr>
        <p:txBody>
          <a:bodyPr wrap="square" lIns="0" tIns="0" rIns="0" bIns="0" rtlCol="0" anchor="ctr"/>
          <a:lstStyle/>
          <a:p>
            <a:pPr algn="l" indent="0" marL="0">
              <a:buNone/>
            </a:pPr>
            <a:r>
              <a:rPr lang="en-US" sz="900" dirty="0">
                <a:solidFill>
                  <a:srgbClr val="93C5FD">
                    <a:alpha val="20000"/>
                  </a:srgbClr>
                </a:solidFill>
                <a:latin typeface="JetBrains Mono" pitchFamily="34" charset="0"/>
                <a:ea typeface="JetBrains Mono" pitchFamily="34" charset="-122"/>
                <a:cs typeface="JetBrains Mono" pitchFamily="34" charset="-120"/>
              </a:rPr>
              <a:t>deploy()</a:t>
            </a:r>
            <a:endParaRPr lang="en-US" sz="900" dirty="0"/>
          </a:p>
        </p:txBody>
      </p:sp>
      <p:sp>
        <p:nvSpPr>
          <p:cNvPr id="40" name="Text 28"/>
          <p:cNvSpPr txBox="1"/>
          <p:nvPr/>
        </p:nvSpPr>
        <p:spPr>
          <a:xfrm>
            <a:off x="9592970" y="6096305"/>
            <a:ext cx="2229307" cy="152705"/>
          </a:xfrm>
          <a:prstGeom prst="rect">
            <a:avLst/>
          </a:prstGeom>
          <a:noFill/>
          <a:ln/>
        </p:spPr>
        <p:txBody>
          <a:bodyPr wrap="square" lIns="0" tIns="0" rIns="0" bIns="0" rtlCol="0" anchor="ctr"/>
          <a:lstStyle/>
          <a:p>
            <a:pPr algn="l" indent="0" marL="0">
              <a:buNone/>
            </a:pPr>
            <a:r>
              <a:rPr lang="en-US" sz="900" dirty="0">
                <a:solidFill>
                  <a:srgbClr val="93C5FD">
                    <a:alpha val="20000"/>
                  </a:srgbClr>
                </a:solidFill>
                <a:latin typeface="JetBrains Mono" pitchFamily="34" charset="0"/>
                <a:ea typeface="JetBrains Mono" pitchFamily="34" charset="-122"/>
                <a:cs typeface="JetBrains Mono" pitchFamily="34" charset="-120"/>
              </a:rPr>
              <a:t>}</a:t>
            </a:r>
            <a:endParaRPr lang="en-US" sz="900" dirty="0"/>
          </a:p>
        </p:txBody>
      </p:sp>
      <p:sp>
        <p:nvSpPr>
          <p:cNvPr id="41" name="Text 29"/>
          <p:cNvSpPr txBox="1"/>
          <p:nvPr/>
        </p:nvSpPr>
        <p:spPr>
          <a:xfrm>
            <a:off x="9592970" y="6248095"/>
            <a:ext cx="2229307" cy="152705"/>
          </a:xfrm>
          <a:prstGeom prst="rect">
            <a:avLst/>
          </a:prstGeom>
          <a:noFill/>
          <a:ln/>
        </p:spPr>
        <p:txBody>
          <a:bodyPr wrap="square" lIns="0" tIns="0" rIns="0" bIns="0" rtlCol="0" anchor="ctr"/>
          <a:lstStyle/>
          <a:p>
            <a:pPr algn="l" indent="0" marL="0">
              <a:buNone/>
            </a:pPr>
            <a:r>
              <a:rPr lang="en-US" sz="900" dirty="0">
                <a:solidFill>
                  <a:srgbClr val="93C5FD">
                    <a:alpha val="20000"/>
                  </a:srgbClr>
                </a:solidFill>
                <a:latin typeface="JetBrains Mono" pitchFamily="34" charset="0"/>
                <a:ea typeface="JetBrains Mono" pitchFamily="34" charset="-122"/>
                <a:cs typeface="JetBrains Mono" pitchFamily="34" charset="-120"/>
              </a:rPr>
              <a: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0F172A"/>
          </a:solidFill>
          <a:ln w="12700">
            <a:solidFill>
              <a:srgbClr val="FFFFFF">
                <a:alpha val="0"/>
              </a:srgbClr>
            </a:solidFill>
            <a:prstDash val="solid"/>
          </a:ln>
        </p:spPr>
      </p:sp>
      <p:sp>
        <p:nvSpPr>
          <p:cNvPr id="4" name="Shape 2"/>
          <p:cNvSpPr/>
          <p:nvPr/>
        </p:nvSpPr>
        <p:spPr>
          <a:xfrm>
            <a:off x="9334195" y="-952805"/>
            <a:ext cx="3810305" cy="3810305"/>
          </a:xfrm>
          <a:prstGeom prst="ellipse">
            <a:avLst/>
          </a:prstGeom>
          <a:noFill/>
          <a:ln w="12700">
            <a:solidFill>
              <a:srgbClr val="3B82F6">
                <a:alpha val="10000"/>
              </a:srgbClr>
            </a:solidFill>
            <a:prstDash val="solid"/>
          </a:ln>
        </p:spPr>
      </p:sp>
      <p:sp>
        <p:nvSpPr>
          <p:cNvPr id="5" name="Shape 3"/>
          <p:cNvSpPr/>
          <p:nvPr/>
        </p:nvSpPr>
        <p:spPr>
          <a:xfrm>
            <a:off x="-476402" y="4476902"/>
            <a:ext cx="2857500" cy="2857500"/>
          </a:xfrm>
          <a:prstGeom prst="ellipse">
            <a:avLst/>
          </a:prstGeom>
          <a:noFill/>
          <a:ln w="12700">
            <a:solidFill>
              <a:srgbClr val="10B981">
                <a:alpha val="10000"/>
              </a:srgbClr>
            </a:solidFill>
            <a:prstDash val="solid"/>
          </a:ln>
        </p:spPr>
      </p:sp>
      <p:pic>
        <p:nvPicPr>
          <p:cNvPr id="6" name="Image 0" descr="preencoded.png">    </p:cNvPr>
          <p:cNvPicPr>
            <a:picLocks noChangeAspect="1"/>
          </p:cNvPicPr>
          <p:nvPr/>
        </p:nvPicPr>
        <p:blipFill>
          <a:blip r:embed="rId1"/>
          <a:srcRect l="-2083" r="-2083" t="0" b="0"/>
          <a:stretch/>
        </p:blipFill>
        <p:spPr>
          <a:xfrm>
            <a:off x="0" y="1143000"/>
            <a:ext cx="12191695" cy="9144"/>
          </a:xfrm>
          <a:prstGeom prst="rect">
            <a:avLst/>
          </a:prstGeom>
        </p:spPr>
      </p:pic>
      <p:pic>
        <p:nvPicPr>
          <p:cNvPr id="7" name="Image 1" descr="preencoded.png">    </p:cNvPr>
          <p:cNvPicPr>
            <a:picLocks noChangeAspect="1"/>
          </p:cNvPicPr>
          <p:nvPr/>
        </p:nvPicPr>
        <p:blipFill>
          <a:blip r:embed="rId2"/>
          <a:stretch>
            <a:fillRect/>
          </a:stretch>
        </p:blipFill>
        <p:spPr>
          <a:xfrm>
            <a:off x="571500" y="381305"/>
            <a:ext cx="1561795" cy="247802"/>
          </a:xfrm>
          <a:prstGeom prst="rect">
            <a:avLst/>
          </a:prstGeom>
        </p:spPr>
      </p:pic>
      <p:sp>
        <p:nvSpPr>
          <p:cNvPr id="8" name="Text 4"/>
          <p:cNvSpPr/>
          <p:nvPr/>
        </p:nvSpPr>
        <p:spPr>
          <a:xfrm>
            <a:off x="571500" y="381305"/>
            <a:ext cx="1562710" cy="247802"/>
          </a:xfrm>
          <a:prstGeom prst="rect">
            <a:avLst/>
          </a:prstGeom>
          <a:solidFill>
            <a:srgbClr val="FFFFFF">
              <a:alpha val="0"/>
            </a:srgbClr>
          </a:solidFill>
          <a:ln w="12700">
            <a:solidFill>
              <a:srgbClr val="064E3B"/>
            </a:solidFill>
          </a:ln>
        </p:spPr>
        <p:txBody>
          <a:bodyPr wrap="square" lIns="0" tIns="0" rIns="0" bIns="0" rtlCol="0" anchor="ctr"/>
          <a:lstStyle/>
          <a:p>
            <a:pPr algn="ctr" indent="0" marL="0">
              <a:buNone/>
            </a:pPr>
            <a:r>
              <a:rPr lang="en-US" sz="900" b="1" spc="45" kern="0" dirty="0">
                <a:solidFill>
                  <a:srgbClr val="34D399"/>
                </a:solidFill>
                <a:latin typeface="Noto Sans JP" pitchFamily="34" charset="0"/>
                <a:ea typeface="Noto Sans JP" pitchFamily="34" charset="-122"/>
                <a:cs typeface="Noto Sans JP" pitchFamily="34" charset="-120"/>
              </a:rPr>
              <a:t>EXECUTIVE SUMMARY</a:t>
            </a:r>
            <a:endParaRPr lang="en-US" sz="900" dirty="0"/>
          </a:p>
        </p:txBody>
      </p:sp>
      <p:sp>
        <p:nvSpPr>
          <p:cNvPr id="9" name="Text 5"/>
          <p:cNvSpPr txBox="1"/>
          <p:nvPr/>
        </p:nvSpPr>
        <p:spPr>
          <a:xfrm>
            <a:off x="571500" y="705002"/>
            <a:ext cx="6461150" cy="381305"/>
          </a:xfrm>
          <a:prstGeom prst="rect">
            <a:avLst/>
          </a:prstGeom>
          <a:noFill/>
          <a:ln/>
        </p:spPr>
        <p:txBody>
          <a:bodyPr wrap="square" lIns="0" tIns="0" rIns="0" bIns="0" rtlCol="0" anchor="ctr"/>
          <a:lstStyle/>
          <a:p>
            <a:pPr algn="l" indent="0" marL="0">
              <a:buNone/>
            </a:pPr>
            <a:r>
              <a:rPr lang="en-US" sz="2700" b="1" spc="-67" kern="0" dirty="0">
                <a:solidFill>
                  <a:srgbClr val="FFFFFF"/>
                </a:solidFill>
                <a:latin typeface="Noto Sans JP" pitchFamily="34" charset="0"/>
                <a:ea typeface="Noto Sans JP" pitchFamily="34" charset="-122"/>
                <a:cs typeface="Noto Sans JP" pitchFamily="34" charset="-120"/>
              </a:rPr>
              <a:t> AI駆動開発への</a:t>
            </a:r>
            <a:pPr algn="l" indent="0" marL="0">
              <a:buNone/>
            </a:pPr>
            <a:r>
              <a:rPr lang="en-US" sz="2700" b="1" spc="-67" kern="0" dirty="0">
                <a:solidFill>
                  <a:srgbClr val="34D399"/>
                </a:solidFill>
                <a:latin typeface="Noto Sans JP" pitchFamily="34" charset="0"/>
                <a:ea typeface="Noto Sans JP" pitchFamily="34" charset="-122"/>
                <a:cs typeface="Noto Sans JP" pitchFamily="34" charset="-120"/>
              </a:rPr>
              <a:t>パラダイムシフト</a:t>
            </a:r>
            <a:endParaRPr lang="en-US" sz="2700" dirty="0"/>
          </a:p>
        </p:txBody>
      </p:sp>
      <p:sp>
        <p:nvSpPr>
          <p:cNvPr id="10" name="Text 6"/>
          <p:cNvSpPr txBox="1"/>
          <p:nvPr/>
        </p:nvSpPr>
        <p:spPr>
          <a:xfrm>
            <a:off x="9944100" y="780898"/>
            <a:ext cx="1677010" cy="191110"/>
          </a:xfrm>
          <a:prstGeom prst="rect">
            <a:avLst/>
          </a:prstGeom>
          <a:noFill/>
          <a:ln/>
        </p:spPr>
        <p:txBody>
          <a:bodyPr wrap="square" lIns="0" tIns="0" rIns="0" bIns="0" rtlCol="0" anchor="ctr"/>
          <a:lstStyle/>
          <a:p>
            <a:pPr algn="r" indent="0" marL="0">
              <a:buNone/>
            </a:pPr>
            <a:r>
              <a:rPr lang="en-US" sz="1000" dirty="0">
                <a:solidFill>
                  <a:srgbClr val="94A3B8"/>
                </a:solidFill>
                <a:latin typeface="JetBrains Mono" pitchFamily="34" charset="0"/>
                <a:ea typeface="JetBrains Mono" pitchFamily="34" charset="-122"/>
                <a:cs typeface="JetBrains Mono" pitchFamily="34" charset="-120"/>
              </a:rPr>
              <a:t>STRATEGY_REPORT_2026</a:t>
            </a:r>
            <a:endParaRPr lang="en-US" sz="1000" dirty="0"/>
          </a:p>
        </p:txBody>
      </p:sp>
      <p:pic>
        <p:nvPicPr>
          <p:cNvPr id="11" name="Image 2" descr="preencoded.png">    </p:cNvPr>
          <p:cNvPicPr>
            <a:picLocks noChangeAspect="1"/>
          </p:cNvPicPr>
          <p:nvPr/>
        </p:nvPicPr>
        <p:blipFill>
          <a:blip r:embed="rId3"/>
          <a:srcRect l="0" r="0" t="-400" b="-400"/>
          <a:stretch/>
        </p:blipFill>
        <p:spPr>
          <a:xfrm>
            <a:off x="10705795" y="1047902"/>
            <a:ext cx="914400" cy="38405"/>
          </a:xfrm>
          <a:prstGeom prst="rect">
            <a:avLst/>
          </a:prstGeom>
        </p:spPr>
      </p:pic>
      <p:sp>
        <p:nvSpPr>
          <p:cNvPr id="12" name="Shape 7"/>
          <p:cNvSpPr/>
          <p:nvPr/>
        </p:nvSpPr>
        <p:spPr>
          <a:xfrm>
            <a:off x="571500" y="1466698"/>
            <a:ext cx="3534156" cy="4972507"/>
          </a:xfrm>
          <a:prstGeom prst="roundRect">
            <a:avLst>
              <a:gd name="adj" fmla="val 837"/>
            </a:avLst>
          </a:prstGeom>
          <a:solidFill>
            <a:srgbClr val="1E293B">
              <a:alpha val="60000"/>
            </a:srgbClr>
          </a:solidFill>
          <a:ln w="12700">
            <a:solidFill>
              <a:srgbClr val="94A3B8">
                <a:alpha val="10000"/>
              </a:srgbClr>
            </a:solidFill>
            <a:prstDash val="solid"/>
          </a:ln>
        </p:spPr>
      </p:sp>
      <p:sp>
        <p:nvSpPr>
          <p:cNvPr id="13" name="Shape 8"/>
          <p:cNvSpPr/>
          <p:nvPr/>
        </p:nvSpPr>
        <p:spPr>
          <a:xfrm>
            <a:off x="580644" y="2848356"/>
            <a:ext cx="3514954" cy="9144"/>
          </a:xfrm>
          <a:prstGeom prst="rect">
            <a:avLst/>
          </a:prstGeom>
          <a:solidFill>
            <a:srgbClr val="94A3B8">
              <a:alpha val="10000"/>
            </a:srgbClr>
          </a:solidFill>
          <a:ln w="12700">
            <a:solidFill>
              <a:srgbClr val="94A3B8">
                <a:alpha val="0"/>
              </a:srgbClr>
            </a:solidFill>
            <a:prstDash val="solid"/>
          </a:ln>
        </p:spPr>
      </p:sp>
      <p:sp>
        <p:nvSpPr>
          <p:cNvPr id="14" name="Shape 9"/>
          <p:cNvSpPr/>
          <p:nvPr/>
        </p:nvSpPr>
        <p:spPr>
          <a:xfrm>
            <a:off x="809244" y="1666951"/>
            <a:ext cx="457200" cy="457200"/>
          </a:xfrm>
          <a:prstGeom prst="roundRect">
            <a:avLst>
              <a:gd name="adj" fmla="val 33333"/>
            </a:avLst>
          </a:prstGeom>
          <a:solidFill>
            <a:srgbClr val="1E3A8A">
              <a:alpha val="40000"/>
            </a:srgbClr>
          </a:solidFill>
          <a:ln w="12700">
            <a:solidFill>
              <a:srgbClr val="3B82F6">
                <a:alpha val="20000"/>
              </a:srgbClr>
            </a:solidFill>
            <a:prstDash val="solid"/>
          </a:ln>
        </p:spPr>
      </p:sp>
      <p:pic>
        <p:nvPicPr>
          <p:cNvPr id="15" name="Image 3" descr="preencoded.png">    </p:cNvPr>
          <p:cNvPicPr>
            <a:picLocks noChangeAspect="1"/>
          </p:cNvPicPr>
          <p:nvPr/>
        </p:nvPicPr>
        <p:blipFill>
          <a:blip r:embed="rId4"/>
          <a:srcRect l="0" r="0" t="-16494" b="-16494"/>
          <a:stretch/>
        </p:blipFill>
        <p:spPr>
          <a:xfrm>
            <a:off x="895198" y="1742846"/>
            <a:ext cx="286207" cy="304495"/>
          </a:xfrm>
          <a:prstGeom prst="rect">
            <a:avLst/>
          </a:prstGeom>
        </p:spPr>
      </p:pic>
      <p:sp>
        <p:nvSpPr>
          <p:cNvPr id="16" name="Text 10"/>
          <p:cNvSpPr txBox="1"/>
          <p:nvPr/>
        </p:nvSpPr>
        <p:spPr>
          <a:xfrm>
            <a:off x="809244" y="2238451"/>
            <a:ext cx="3172054" cy="152705"/>
          </a:xfrm>
          <a:prstGeom prst="rect">
            <a:avLst/>
          </a:prstGeom>
          <a:noFill/>
          <a:ln/>
        </p:spPr>
        <p:txBody>
          <a:bodyPr wrap="square" lIns="0" tIns="0" rIns="0" bIns="0" rtlCol="0" anchor="ctr"/>
          <a:lstStyle/>
          <a:p>
            <a:pPr algn="l" indent="0" marL="0">
              <a:buNone/>
            </a:pPr>
            <a:r>
              <a:rPr lang="en-US" sz="900" b="1" spc="45" kern="0" dirty="0">
                <a:solidFill>
                  <a:srgbClr val="60A5FA"/>
                </a:solidFill>
                <a:latin typeface="Noto Sans JP" pitchFamily="34" charset="0"/>
                <a:ea typeface="Noto Sans JP" pitchFamily="34" charset="-122"/>
                <a:cs typeface="Noto Sans JP" pitchFamily="34" charset="-120"/>
              </a:rPr>
              <a:t>Current Status</a:t>
            </a:r>
            <a:endParaRPr lang="en-US" sz="900" dirty="0"/>
          </a:p>
        </p:txBody>
      </p:sp>
      <p:sp>
        <p:nvSpPr>
          <p:cNvPr id="17" name="Text 11"/>
          <p:cNvSpPr txBox="1"/>
          <p:nvPr/>
        </p:nvSpPr>
        <p:spPr>
          <a:xfrm>
            <a:off x="809244" y="2428646"/>
            <a:ext cx="3248863" cy="267005"/>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前提：AIの自律化</a:t>
            </a:r>
            <a:endParaRPr lang="en-US" sz="1500" dirty="0"/>
          </a:p>
        </p:txBody>
      </p:sp>
      <p:sp>
        <p:nvSpPr>
          <p:cNvPr id="18" name="Text 12"/>
          <p:cNvSpPr txBox="1"/>
          <p:nvPr/>
        </p:nvSpPr>
        <p:spPr>
          <a:xfrm>
            <a:off x="809244" y="3086100"/>
            <a:ext cx="3134563" cy="657454"/>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2026年現在、AIは「入力補助（Copilot）」の域を超え、環境構築からPR作成まで完遂する「自律型エージェント」へ完全に移行しました。</a:t>
            </a:r>
            <a:endParaRPr lang="en-US" sz="1000" dirty="0"/>
          </a:p>
        </p:txBody>
      </p:sp>
      <p:sp>
        <p:nvSpPr>
          <p:cNvPr id="19" name="Shape 13"/>
          <p:cNvSpPr/>
          <p:nvPr/>
        </p:nvSpPr>
        <p:spPr>
          <a:xfrm>
            <a:off x="809244" y="4870094"/>
            <a:ext cx="3057754" cy="1324051"/>
          </a:xfrm>
          <a:prstGeom prst="roundRect">
            <a:avLst>
              <a:gd name="adj" fmla="val 3975"/>
            </a:avLst>
          </a:prstGeom>
          <a:solidFill>
            <a:srgbClr val="1E293B">
              <a:alpha val="50000"/>
            </a:srgbClr>
          </a:solidFill>
          <a:ln w="12700">
            <a:solidFill>
              <a:srgbClr val="334155"/>
            </a:solidFill>
            <a:prstDash val="solid"/>
          </a:ln>
        </p:spPr>
      </p:sp>
      <p:sp>
        <p:nvSpPr>
          <p:cNvPr id="20" name="Text 14"/>
          <p:cNvSpPr txBox="1"/>
          <p:nvPr/>
        </p:nvSpPr>
        <p:spPr>
          <a:xfrm>
            <a:off x="972007" y="5031943"/>
            <a:ext cx="640080" cy="152705"/>
          </a:xfrm>
          <a:prstGeom prst="rect">
            <a:avLst/>
          </a:prstGeom>
          <a:noFill/>
          <a:ln/>
        </p:spPr>
        <p:txBody>
          <a:bodyPr wrap="square" lIns="0" tIns="0" rIns="0" bIns="0" rtlCol="0" anchor="ctr"/>
          <a:lstStyle/>
          <a:p>
            <a:pPr algn="l" indent="0" marL="0">
              <a:buNone/>
            </a:pPr>
            <a:r>
              <a:rPr lang="en-US" sz="900" dirty="0">
                <a:solidFill>
                  <a:srgbClr val="64748B"/>
                </a:solidFill>
                <a:latin typeface="Noto Sans JP" pitchFamily="34" charset="0"/>
                <a:ea typeface="Noto Sans JP" pitchFamily="34" charset="-122"/>
                <a:cs typeface="Noto Sans JP" pitchFamily="34" charset="-120"/>
              </a:rPr>
              <a:t>2023-2024</a:t>
            </a:r>
            <a:endParaRPr lang="en-US" sz="900" dirty="0"/>
          </a:p>
        </p:txBody>
      </p:sp>
      <p:sp>
        <p:nvSpPr>
          <p:cNvPr id="21" name="Text 15"/>
          <p:cNvSpPr txBox="1"/>
          <p:nvPr/>
        </p:nvSpPr>
        <p:spPr>
          <a:xfrm>
            <a:off x="3117190" y="5031943"/>
            <a:ext cx="703174" cy="152705"/>
          </a:xfrm>
          <a:prstGeom prst="rect">
            <a:avLst/>
          </a:prstGeom>
          <a:noFill/>
          <a:ln/>
        </p:spPr>
        <p:txBody>
          <a:bodyPr wrap="square" lIns="0" tIns="0" rIns="0" bIns="0" rtlCol="0" anchor="ctr"/>
          <a:lstStyle/>
          <a:p>
            <a:pPr algn="l" indent="0" marL="0">
              <a:buNone/>
            </a:pPr>
            <a:r>
              <a:rPr lang="en-US" sz="900" dirty="0">
                <a:solidFill>
                  <a:srgbClr val="64748B"/>
                </a:solidFill>
                <a:latin typeface="Noto Sans JP" pitchFamily="34" charset="0"/>
                <a:ea typeface="Noto Sans JP" pitchFamily="34" charset="-122"/>
                <a:cs typeface="Noto Sans JP" pitchFamily="34" charset="-120"/>
              </a:rPr>
              <a:t>Copilot Era</a:t>
            </a:r>
            <a:endParaRPr lang="en-US" sz="900" dirty="0"/>
          </a:p>
        </p:txBody>
      </p:sp>
      <p:pic>
        <p:nvPicPr>
          <p:cNvPr id="22" name="Image 4" descr="preencoded.png">    </p:cNvPr>
          <p:cNvPicPr>
            <a:picLocks noChangeAspect="1"/>
          </p:cNvPicPr>
          <p:nvPr/>
        </p:nvPicPr>
        <p:blipFill>
          <a:blip r:embed="rId5"/>
          <a:srcRect l="0" r="0" t="-100" b="-100"/>
          <a:stretch/>
        </p:blipFill>
        <p:spPr>
          <a:xfrm>
            <a:off x="2279599" y="5298034"/>
            <a:ext cx="114300" cy="152705"/>
          </a:xfrm>
          <a:prstGeom prst="rect">
            <a:avLst/>
          </a:prstGeom>
        </p:spPr>
      </p:pic>
      <p:sp>
        <p:nvSpPr>
          <p:cNvPr id="23" name="Text 16"/>
          <p:cNvSpPr txBox="1"/>
          <p:nvPr/>
        </p:nvSpPr>
        <p:spPr>
          <a:xfrm>
            <a:off x="972007" y="5545836"/>
            <a:ext cx="352958" cy="152705"/>
          </a:xfrm>
          <a:prstGeom prst="rect">
            <a:avLst/>
          </a:prstGeom>
          <a:noFill/>
          <a:ln/>
        </p:spPr>
        <p:txBody>
          <a:bodyPr wrap="square" lIns="0" tIns="0" rIns="0" bIns="0" rtlCol="0" anchor="ctr"/>
          <a:lstStyle/>
          <a:p>
            <a:pPr algn="l" indent="0" marL="0">
              <a:buNone/>
            </a:pPr>
            <a:r>
              <a:rPr lang="en-US" sz="900" b="1" dirty="0">
                <a:solidFill>
                  <a:srgbClr val="34D399"/>
                </a:solidFill>
                <a:latin typeface="Noto Sans JP" pitchFamily="34" charset="0"/>
                <a:ea typeface="Noto Sans JP" pitchFamily="34" charset="-122"/>
                <a:cs typeface="Noto Sans JP" pitchFamily="34" charset="-120"/>
              </a:rPr>
              <a:t>2026</a:t>
            </a:r>
            <a:endParaRPr lang="en-US" sz="900" dirty="0"/>
          </a:p>
        </p:txBody>
      </p:sp>
      <p:sp>
        <p:nvSpPr>
          <p:cNvPr id="24" name="Text 17"/>
          <p:cNvSpPr txBox="1"/>
          <p:nvPr/>
        </p:nvSpPr>
        <p:spPr>
          <a:xfrm>
            <a:off x="2389327" y="5526634"/>
            <a:ext cx="1458468"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Autonomous Agents</a:t>
            </a:r>
            <a:endParaRPr lang="en-US" sz="1000" dirty="0"/>
          </a:p>
        </p:txBody>
      </p:sp>
      <p:sp>
        <p:nvSpPr>
          <p:cNvPr id="25" name="Shape 18"/>
          <p:cNvSpPr/>
          <p:nvPr/>
        </p:nvSpPr>
        <p:spPr>
          <a:xfrm>
            <a:off x="972007" y="5793638"/>
            <a:ext cx="2734056" cy="9144"/>
          </a:xfrm>
          <a:prstGeom prst="rect">
            <a:avLst/>
          </a:prstGeom>
          <a:solidFill>
            <a:srgbClr val="334155">
              <a:alpha val="50000"/>
            </a:srgbClr>
          </a:solidFill>
          <a:ln w="12700">
            <a:solidFill>
              <a:srgbClr val="334155">
                <a:alpha val="0"/>
              </a:srgbClr>
            </a:solidFill>
            <a:prstDash val="solid"/>
          </a:ln>
        </p:spPr>
      </p:sp>
      <p:sp>
        <p:nvSpPr>
          <p:cNvPr id="26" name="Text 19"/>
          <p:cNvSpPr txBox="1"/>
          <p:nvPr/>
        </p:nvSpPr>
        <p:spPr>
          <a:xfrm>
            <a:off x="972007" y="5879592"/>
            <a:ext cx="2843784" cy="152705"/>
          </a:xfrm>
          <a:prstGeom prst="rect">
            <a:avLst/>
          </a:prstGeom>
          <a:noFill/>
          <a:ln/>
        </p:spPr>
        <p:txBody>
          <a:bodyPr wrap="square" lIns="0" tIns="0" rIns="0" bIns="0" rtlCol="0" anchor="ctr"/>
          <a:lstStyle/>
          <a:p>
            <a:pPr algn="l" indent="0" marL="0">
              <a:buNone/>
            </a:pPr>
            <a:r>
              <a:rPr lang="en-US" sz="900" dirty="0">
                <a:solidFill>
                  <a:srgbClr val="94A3B8"/>
                </a:solidFill>
                <a:latin typeface="JetBrains Mono" pitchFamily="34" charset="0"/>
                <a:ea typeface="JetBrains Mono" pitchFamily="34" charset="-122"/>
                <a:cs typeface="JetBrains Mono" pitchFamily="34" charset="-120"/>
              </a:rPr>
              <a:t>Devin, Cursor, Claude Code</a:t>
            </a:r>
            <a:endParaRPr lang="en-US" sz="900" dirty="0"/>
          </a:p>
        </p:txBody>
      </p:sp>
      <p:pic>
        <p:nvPicPr>
          <p:cNvPr id="27" name="Image 5" descr="preencoded.png">    </p:cNvPr>
          <p:cNvPicPr>
            <a:picLocks noChangeAspect="1"/>
          </p:cNvPicPr>
          <p:nvPr/>
        </p:nvPicPr>
        <p:blipFill>
          <a:blip r:embed="rId6"/>
          <a:srcRect l="0" r="0" t="-5" b="-5"/>
          <a:stretch/>
        </p:blipFill>
        <p:spPr>
          <a:xfrm>
            <a:off x="4330598" y="1466698"/>
            <a:ext cx="3530498" cy="4965192"/>
          </a:xfrm>
          <a:prstGeom prst="rect">
            <a:avLst/>
          </a:prstGeom>
        </p:spPr>
      </p:pic>
      <p:pic>
        <p:nvPicPr>
          <p:cNvPr id="28" name="Image 6" descr="preencoded.png">    </p:cNvPr>
          <p:cNvPicPr>
            <a:picLocks noChangeAspect="1"/>
          </p:cNvPicPr>
          <p:nvPr/>
        </p:nvPicPr>
        <p:blipFill>
          <a:blip r:embed="rId7"/>
          <a:srcRect l="0" r="0" t="-404" b="-404"/>
          <a:stretch/>
        </p:blipFill>
        <p:spPr>
          <a:xfrm>
            <a:off x="4339742" y="1476756"/>
            <a:ext cx="3511296" cy="38405"/>
          </a:xfrm>
          <a:prstGeom prst="rect">
            <a:avLst/>
          </a:prstGeom>
        </p:spPr>
      </p:pic>
      <p:sp>
        <p:nvSpPr>
          <p:cNvPr id="29" name="Shape 20"/>
          <p:cNvSpPr/>
          <p:nvPr/>
        </p:nvSpPr>
        <p:spPr>
          <a:xfrm>
            <a:off x="4339742" y="2848356"/>
            <a:ext cx="3514954" cy="9144"/>
          </a:xfrm>
          <a:prstGeom prst="rect">
            <a:avLst/>
          </a:prstGeom>
          <a:solidFill>
            <a:srgbClr val="94A3B8">
              <a:alpha val="10000"/>
            </a:srgbClr>
          </a:solidFill>
          <a:ln w="12700">
            <a:solidFill>
              <a:srgbClr val="94A3B8">
                <a:alpha val="0"/>
              </a:srgbClr>
            </a:solidFill>
            <a:prstDash val="solid"/>
          </a:ln>
        </p:spPr>
      </p:sp>
      <p:sp>
        <p:nvSpPr>
          <p:cNvPr id="30" name="Shape 21"/>
          <p:cNvSpPr/>
          <p:nvPr/>
        </p:nvSpPr>
        <p:spPr>
          <a:xfrm>
            <a:off x="4568342" y="1666951"/>
            <a:ext cx="457200" cy="457200"/>
          </a:xfrm>
          <a:prstGeom prst="roundRect">
            <a:avLst>
              <a:gd name="adj" fmla="val 33333"/>
            </a:avLst>
          </a:prstGeom>
          <a:solidFill>
            <a:srgbClr val="064E3B">
              <a:alpha val="40000"/>
            </a:srgbClr>
          </a:solidFill>
          <a:ln w="12700">
            <a:solidFill>
              <a:srgbClr val="10B981">
                <a:alpha val="20000"/>
              </a:srgbClr>
            </a:solidFill>
            <a:prstDash val="solid"/>
          </a:ln>
        </p:spPr>
      </p:sp>
      <p:pic>
        <p:nvPicPr>
          <p:cNvPr id="31" name="Image 7" descr="preencoded.png">    </p:cNvPr>
          <p:cNvPicPr>
            <a:picLocks noChangeAspect="1"/>
          </p:cNvPicPr>
          <p:nvPr/>
        </p:nvPicPr>
        <p:blipFill>
          <a:blip r:embed="rId8"/>
          <a:srcRect l="0" r="0" t="-16600" b="-16600"/>
          <a:stretch/>
        </p:blipFill>
        <p:spPr>
          <a:xfrm>
            <a:off x="4682642" y="1742846"/>
            <a:ext cx="228600" cy="304495"/>
          </a:xfrm>
          <a:prstGeom prst="rect">
            <a:avLst/>
          </a:prstGeom>
        </p:spPr>
      </p:pic>
      <p:sp>
        <p:nvSpPr>
          <p:cNvPr id="32" name="Text 22"/>
          <p:cNvSpPr txBox="1"/>
          <p:nvPr/>
        </p:nvSpPr>
        <p:spPr>
          <a:xfrm>
            <a:off x="4568342" y="2238451"/>
            <a:ext cx="3172054" cy="152705"/>
          </a:xfrm>
          <a:prstGeom prst="rect">
            <a:avLst/>
          </a:prstGeom>
          <a:noFill/>
          <a:ln/>
        </p:spPr>
        <p:txBody>
          <a:bodyPr wrap="square" lIns="0" tIns="0" rIns="0" bIns="0" rtlCol="0" anchor="ctr"/>
          <a:lstStyle/>
          <a:p>
            <a:pPr algn="l" indent="0" marL="0">
              <a:buNone/>
            </a:pPr>
            <a:r>
              <a:rPr lang="en-US" sz="900" b="1" spc="45" kern="0" dirty="0">
                <a:solidFill>
                  <a:srgbClr val="34D399"/>
                </a:solidFill>
                <a:latin typeface="Noto Sans JP" pitchFamily="34" charset="0"/>
                <a:ea typeface="Noto Sans JP" pitchFamily="34" charset="-122"/>
                <a:cs typeface="Noto Sans JP" pitchFamily="34" charset="-120"/>
              </a:rPr>
              <a:t>Core Strategy</a:t>
            </a:r>
            <a:endParaRPr lang="en-US" sz="900" dirty="0"/>
          </a:p>
        </p:txBody>
      </p:sp>
      <p:sp>
        <p:nvSpPr>
          <p:cNvPr id="33" name="Text 23"/>
          <p:cNvSpPr txBox="1"/>
          <p:nvPr/>
        </p:nvSpPr>
        <p:spPr>
          <a:xfrm>
            <a:off x="4568342" y="2428646"/>
            <a:ext cx="3248863" cy="267005"/>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結論：多層防御への移行</a:t>
            </a:r>
            <a:endParaRPr lang="en-US" sz="1500" dirty="0"/>
          </a:p>
        </p:txBody>
      </p:sp>
      <p:sp>
        <p:nvSpPr>
          <p:cNvPr id="34" name="Text 24"/>
          <p:cNvSpPr txBox="1"/>
          <p:nvPr/>
        </p:nvSpPr>
        <p:spPr>
          <a:xfrm>
            <a:off x="4568342" y="3086100"/>
            <a:ext cx="3134563" cy="657454"/>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開発プロセスを「人間が書き、AIが直す」から「AI同士が書き・レビューし、人間が承認する」形へアップデートします。</a:t>
            </a:r>
            <a:endParaRPr lang="en-US" sz="1000" dirty="0"/>
          </a:p>
        </p:txBody>
      </p:sp>
      <p:sp>
        <p:nvSpPr>
          <p:cNvPr id="35" name="Shape 25"/>
          <p:cNvSpPr/>
          <p:nvPr/>
        </p:nvSpPr>
        <p:spPr>
          <a:xfrm>
            <a:off x="4568342" y="3964838"/>
            <a:ext cx="3057754" cy="437998"/>
          </a:xfrm>
          <a:prstGeom prst="roundRect">
            <a:avLst>
              <a:gd name="adj" fmla="val 18154"/>
            </a:avLst>
          </a:prstGeom>
          <a:solidFill>
            <a:srgbClr val="1E293B">
              <a:alpha val="50000"/>
            </a:srgbClr>
          </a:solidFill>
          <a:ln w="12700">
            <a:solidFill>
              <a:srgbClr val="334155">
                <a:alpha val="50000"/>
              </a:srgbClr>
            </a:solidFill>
            <a:prstDash val="solid"/>
          </a:ln>
        </p:spPr>
      </p:sp>
      <p:pic>
        <p:nvPicPr>
          <p:cNvPr id="36" name="Image 8" descr="preencoded.png">    </p:cNvPr>
          <p:cNvPicPr>
            <a:picLocks noChangeAspect="1"/>
          </p:cNvPicPr>
          <p:nvPr/>
        </p:nvPicPr>
        <p:blipFill>
          <a:blip r:embed="rId9"/>
          <a:stretch>
            <a:fillRect/>
          </a:stretch>
        </p:blipFill>
        <p:spPr>
          <a:xfrm>
            <a:off x="4654296" y="4050792"/>
            <a:ext cx="267005" cy="267005"/>
          </a:xfrm>
          <a:prstGeom prst="rect">
            <a:avLst/>
          </a:prstGeom>
        </p:spPr>
      </p:pic>
      <p:sp>
        <p:nvSpPr>
          <p:cNvPr id="37" name="Text 26"/>
          <p:cNvSpPr/>
          <p:nvPr/>
        </p:nvSpPr>
        <p:spPr>
          <a:xfrm>
            <a:off x="4654296" y="4050792"/>
            <a:ext cx="267005" cy="2670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b="1" dirty="0">
                <a:solidFill>
                  <a:srgbClr val="CBD5E1"/>
                </a:solidFill>
                <a:latin typeface="Noto Sans JP" pitchFamily="34" charset="0"/>
                <a:ea typeface="Noto Sans JP" pitchFamily="34" charset="-122"/>
                <a:cs typeface="Noto Sans JP" pitchFamily="34" charset="-120"/>
              </a:rPr>
              <a:t>1</a:t>
            </a:r>
            <a:endParaRPr lang="en-US" sz="900" dirty="0"/>
          </a:p>
        </p:txBody>
      </p:sp>
      <p:sp>
        <p:nvSpPr>
          <p:cNvPr id="38" name="Text 27"/>
          <p:cNvSpPr txBox="1"/>
          <p:nvPr/>
        </p:nvSpPr>
        <p:spPr>
          <a:xfrm>
            <a:off x="5035601" y="4088282"/>
            <a:ext cx="1142086" cy="191110"/>
          </a:xfrm>
          <a:prstGeom prst="rect">
            <a:avLst/>
          </a:prstGeom>
          <a:noFill/>
          <a:ln/>
        </p:spPr>
        <p:txBody>
          <a:bodyPr wrap="square" lIns="0" tIns="0" rIns="0" bIns="0" rtlCol="0" anchor="ctr"/>
          <a:lstStyle/>
          <a:p>
            <a:pPr algn="l" indent="0" marL="0">
              <a:buNone/>
            </a:pPr>
            <a:r>
              <a:rPr lang="en-US" sz="1000" dirty="0">
                <a:solidFill>
                  <a:srgbClr val="E2E8F0"/>
                </a:solidFill>
                <a:latin typeface="Noto Sans JP" pitchFamily="34" charset="0"/>
                <a:ea typeface="Noto Sans JP" pitchFamily="34" charset="-122"/>
                <a:cs typeface="Noto Sans JP" pitchFamily="34" charset="-120"/>
              </a:rPr>
              <a:t>生成AIによる実装</a:t>
            </a:r>
            <a:endParaRPr lang="en-US" sz="1000" dirty="0"/>
          </a:p>
        </p:txBody>
      </p:sp>
      <p:pic>
        <p:nvPicPr>
          <p:cNvPr id="39" name="Image 9" descr="preencoded.png">    </p:cNvPr>
          <p:cNvPicPr>
            <a:picLocks noChangeAspect="1"/>
          </p:cNvPicPr>
          <p:nvPr/>
        </p:nvPicPr>
        <p:blipFill>
          <a:blip r:embed="rId10"/>
          <a:srcRect l="0" r="0" t="-16622" b="-16622"/>
          <a:stretch/>
        </p:blipFill>
        <p:spPr>
          <a:xfrm>
            <a:off x="6053328" y="4555541"/>
            <a:ext cx="85954" cy="152705"/>
          </a:xfrm>
          <a:prstGeom prst="rect">
            <a:avLst/>
          </a:prstGeom>
        </p:spPr>
      </p:pic>
      <p:sp>
        <p:nvSpPr>
          <p:cNvPr id="40" name="Shape 28"/>
          <p:cNvSpPr/>
          <p:nvPr/>
        </p:nvSpPr>
        <p:spPr>
          <a:xfrm>
            <a:off x="4568342" y="4860036"/>
            <a:ext cx="3057754" cy="437998"/>
          </a:xfrm>
          <a:prstGeom prst="roundRect">
            <a:avLst>
              <a:gd name="adj" fmla="val 18154"/>
            </a:avLst>
          </a:prstGeom>
          <a:solidFill>
            <a:srgbClr val="1E293B">
              <a:alpha val="50000"/>
            </a:srgbClr>
          </a:solidFill>
          <a:ln w="12700">
            <a:solidFill>
              <a:srgbClr val="334155">
                <a:alpha val="50000"/>
              </a:srgbClr>
            </a:solidFill>
            <a:prstDash val="solid"/>
          </a:ln>
        </p:spPr>
      </p:sp>
      <p:pic>
        <p:nvPicPr>
          <p:cNvPr id="41" name="Image 10" descr="preencoded.png">    </p:cNvPr>
          <p:cNvPicPr>
            <a:picLocks noChangeAspect="1"/>
          </p:cNvPicPr>
          <p:nvPr/>
        </p:nvPicPr>
        <p:blipFill>
          <a:blip r:embed="rId11"/>
          <a:stretch>
            <a:fillRect/>
          </a:stretch>
        </p:blipFill>
        <p:spPr>
          <a:xfrm>
            <a:off x="4654296" y="4945990"/>
            <a:ext cx="267005" cy="267005"/>
          </a:xfrm>
          <a:prstGeom prst="rect">
            <a:avLst/>
          </a:prstGeom>
        </p:spPr>
      </p:pic>
      <p:sp>
        <p:nvSpPr>
          <p:cNvPr id="42" name="Text 29"/>
          <p:cNvSpPr/>
          <p:nvPr/>
        </p:nvSpPr>
        <p:spPr>
          <a:xfrm>
            <a:off x="4654296" y="4945990"/>
            <a:ext cx="267005" cy="2670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b="1" dirty="0">
                <a:solidFill>
                  <a:srgbClr val="CBD5E1"/>
                </a:solidFill>
                <a:latin typeface="Noto Sans JP" pitchFamily="34" charset="0"/>
                <a:ea typeface="Noto Sans JP" pitchFamily="34" charset="-122"/>
                <a:cs typeface="Noto Sans JP" pitchFamily="34" charset="-120"/>
              </a:rPr>
              <a:t>2</a:t>
            </a:r>
            <a:endParaRPr lang="en-US" sz="900" dirty="0"/>
          </a:p>
        </p:txBody>
      </p:sp>
      <p:sp>
        <p:nvSpPr>
          <p:cNvPr id="43" name="Text 30"/>
          <p:cNvSpPr txBox="1"/>
          <p:nvPr/>
        </p:nvSpPr>
        <p:spPr>
          <a:xfrm>
            <a:off x="5035601" y="4984394"/>
            <a:ext cx="1430122" cy="191110"/>
          </a:xfrm>
          <a:prstGeom prst="rect">
            <a:avLst/>
          </a:prstGeom>
          <a:noFill/>
          <a:ln/>
        </p:spPr>
        <p:txBody>
          <a:bodyPr wrap="square" lIns="0" tIns="0" rIns="0" bIns="0" rtlCol="0" anchor="ctr"/>
          <a:lstStyle/>
          <a:p>
            <a:pPr algn="l" indent="0" marL="0">
              <a:buNone/>
            </a:pPr>
            <a:r>
              <a:rPr lang="en-US" sz="1000" dirty="0">
                <a:solidFill>
                  <a:srgbClr val="E2E8F0"/>
                </a:solidFill>
                <a:latin typeface="Noto Sans JP" pitchFamily="34" charset="0"/>
                <a:ea typeface="Noto Sans JP" pitchFamily="34" charset="-122"/>
                <a:cs typeface="Noto Sans JP" pitchFamily="34" charset="-120"/>
              </a:rPr>
              <a:t>監視AIによるレビュー</a:t>
            </a:r>
            <a:endParaRPr lang="en-US" sz="1000" dirty="0"/>
          </a:p>
        </p:txBody>
      </p:sp>
      <p:pic>
        <p:nvPicPr>
          <p:cNvPr id="44" name="Image 11" descr="preencoded.png">    </p:cNvPr>
          <p:cNvPicPr>
            <a:picLocks noChangeAspect="1"/>
          </p:cNvPicPr>
          <p:nvPr/>
        </p:nvPicPr>
        <p:blipFill>
          <a:blip r:embed="rId12"/>
          <a:srcRect l="0" r="0" t="-16622" b="-16622"/>
          <a:stretch/>
        </p:blipFill>
        <p:spPr>
          <a:xfrm>
            <a:off x="6053328" y="5450738"/>
            <a:ext cx="85954" cy="152705"/>
          </a:xfrm>
          <a:prstGeom prst="rect">
            <a:avLst/>
          </a:prstGeom>
        </p:spPr>
      </p:pic>
      <p:sp>
        <p:nvSpPr>
          <p:cNvPr id="45" name="Shape 31"/>
          <p:cNvSpPr/>
          <p:nvPr/>
        </p:nvSpPr>
        <p:spPr>
          <a:xfrm>
            <a:off x="4568342" y="5755234"/>
            <a:ext cx="3057754" cy="437998"/>
          </a:xfrm>
          <a:prstGeom prst="roundRect">
            <a:avLst>
              <a:gd name="adj" fmla="val 18154"/>
            </a:avLst>
          </a:prstGeom>
          <a:solidFill>
            <a:srgbClr val="064E3B">
              <a:alpha val="20000"/>
            </a:srgbClr>
          </a:solidFill>
          <a:ln w="12700">
            <a:solidFill>
              <a:srgbClr val="10B981">
                <a:alpha val="30000"/>
              </a:srgbClr>
            </a:solidFill>
            <a:prstDash val="solid"/>
          </a:ln>
        </p:spPr>
      </p:sp>
      <p:pic>
        <p:nvPicPr>
          <p:cNvPr id="46" name="Image 12" descr="preencoded.png">    </p:cNvPr>
          <p:cNvPicPr>
            <a:picLocks noChangeAspect="1"/>
          </p:cNvPicPr>
          <p:nvPr/>
        </p:nvPicPr>
        <p:blipFill>
          <a:blip r:embed="rId13"/>
          <a:stretch>
            <a:fillRect/>
          </a:stretch>
        </p:blipFill>
        <p:spPr>
          <a:xfrm>
            <a:off x="4654296" y="5841187"/>
            <a:ext cx="267005" cy="267005"/>
          </a:xfrm>
          <a:prstGeom prst="rect">
            <a:avLst/>
          </a:prstGeom>
        </p:spPr>
      </p:pic>
      <p:sp>
        <p:nvSpPr>
          <p:cNvPr id="47" name="Text 32"/>
          <p:cNvSpPr/>
          <p:nvPr/>
        </p:nvSpPr>
        <p:spPr>
          <a:xfrm>
            <a:off x="4654296" y="5841187"/>
            <a:ext cx="267005" cy="2670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b="1" dirty="0">
                <a:solidFill>
                  <a:srgbClr val="FFFFFF"/>
                </a:solidFill>
                <a:latin typeface="Noto Sans JP" pitchFamily="34" charset="0"/>
                <a:ea typeface="Noto Sans JP" pitchFamily="34" charset="-122"/>
                <a:cs typeface="Noto Sans JP" pitchFamily="34" charset="-120"/>
              </a:rPr>
              <a:t>3</a:t>
            </a:r>
            <a:endParaRPr lang="en-US" sz="900" dirty="0"/>
          </a:p>
        </p:txBody>
      </p:sp>
      <p:sp>
        <p:nvSpPr>
          <p:cNvPr id="48" name="Text 33"/>
          <p:cNvSpPr txBox="1"/>
          <p:nvPr/>
        </p:nvSpPr>
        <p:spPr>
          <a:xfrm>
            <a:off x="5035601" y="5879592"/>
            <a:ext cx="1296619" cy="191110"/>
          </a:xfrm>
          <a:prstGeom prst="rect">
            <a:avLst/>
          </a:prstGeom>
          <a:noFill/>
          <a:ln/>
        </p:spPr>
        <p:txBody>
          <a:bodyPr wrap="square" lIns="0" tIns="0" rIns="0" bIns="0" rtlCol="0" anchor="ctr"/>
          <a:lstStyle/>
          <a:p>
            <a:pPr algn="l" indent="0" marL="0">
              <a:buNone/>
            </a:pPr>
            <a:r>
              <a:rPr lang="en-US" sz="1000" b="1" dirty="0">
                <a:solidFill>
                  <a:srgbClr val="34D399"/>
                </a:solidFill>
                <a:latin typeface="Noto Sans JP" pitchFamily="34" charset="0"/>
                <a:ea typeface="Noto Sans JP" pitchFamily="34" charset="-122"/>
                <a:cs typeface="Noto Sans JP" pitchFamily="34" charset="-120"/>
              </a:rPr>
              <a:t>人間による最終承認</a:t>
            </a:r>
            <a:endParaRPr lang="en-US" sz="1000" dirty="0"/>
          </a:p>
        </p:txBody>
      </p:sp>
      <p:sp>
        <p:nvSpPr>
          <p:cNvPr id="49" name="Shape 34"/>
          <p:cNvSpPr/>
          <p:nvPr/>
        </p:nvSpPr>
        <p:spPr>
          <a:xfrm>
            <a:off x="8089697" y="1466698"/>
            <a:ext cx="3534156" cy="4972507"/>
          </a:xfrm>
          <a:prstGeom prst="roundRect">
            <a:avLst>
              <a:gd name="adj" fmla="val 837"/>
            </a:avLst>
          </a:prstGeom>
          <a:solidFill>
            <a:srgbClr val="1E293B">
              <a:alpha val="60000"/>
            </a:srgbClr>
          </a:solidFill>
          <a:ln w="12700">
            <a:solidFill>
              <a:srgbClr val="94A3B8">
                <a:alpha val="10000"/>
              </a:srgbClr>
            </a:solidFill>
            <a:prstDash val="solid"/>
          </a:ln>
        </p:spPr>
      </p:sp>
      <p:sp>
        <p:nvSpPr>
          <p:cNvPr id="50" name="Shape 35"/>
          <p:cNvSpPr/>
          <p:nvPr/>
        </p:nvSpPr>
        <p:spPr>
          <a:xfrm>
            <a:off x="8099755" y="2848356"/>
            <a:ext cx="3514954" cy="9144"/>
          </a:xfrm>
          <a:prstGeom prst="rect">
            <a:avLst/>
          </a:prstGeom>
          <a:solidFill>
            <a:srgbClr val="94A3B8">
              <a:alpha val="10000"/>
            </a:srgbClr>
          </a:solidFill>
          <a:ln w="12700">
            <a:solidFill>
              <a:srgbClr val="94A3B8">
                <a:alpha val="0"/>
              </a:srgbClr>
            </a:solidFill>
            <a:prstDash val="solid"/>
          </a:ln>
        </p:spPr>
      </p:sp>
      <p:sp>
        <p:nvSpPr>
          <p:cNvPr id="51" name="Shape 36"/>
          <p:cNvSpPr/>
          <p:nvPr/>
        </p:nvSpPr>
        <p:spPr>
          <a:xfrm>
            <a:off x="8328355" y="1666951"/>
            <a:ext cx="457200" cy="457200"/>
          </a:xfrm>
          <a:prstGeom prst="roundRect">
            <a:avLst>
              <a:gd name="adj" fmla="val 33333"/>
            </a:avLst>
          </a:prstGeom>
          <a:solidFill>
            <a:srgbClr val="7F1D1D">
              <a:alpha val="20000"/>
            </a:srgbClr>
          </a:solidFill>
          <a:ln w="12700">
            <a:solidFill>
              <a:srgbClr val="EF4444">
                <a:alpha val="20000"/>
              </a:srgbClr>
            </a:solidFill>
            <a:prstDash val="solid"/>
          </a:ln>
        </p:spPr>
      </p:sp>
      <p:pic>
        <p:nvPicPr>
          <p:cNvPr id="52" name="Image 13" descr="preencoded.png">    </p:cNvPr>
          <p:cNvPicPr>
            <a:picLocks noChangeAspect="1"/>
          </p:cNvPicPr>
          <p:nvPr/>
        </p:nvPicPr>
        <p:blipFill>
          <a:blip r:embed="rId14"/>
          <a:srcRect l="0" r="0" t="-16600" b="-16600"/>
          <a:stretch/>
        </p:blipFill>
        <p:spPr>
          <a:xfrm>
            <a:off x="8442655" y="1742846"/>
            <a:ext cx="228600" cy="304495"/>
          </a:xfrm>
          <a:prstGeom prst="rect">
            <a:avLst/>
          </a:prstGeom>
        </p:spPr>
      </p:pic>
      <p:sp>
        <p:nvSpPr>
          <p:cNvPr id="53" name="Text 37"/>
          <p:cNvSpPr txBox="1"/>
          <p:nvPr/>
        </p:nvSpPr>
        <p:spPr>
          <a:xfrm>
            <a:off x="8328355" y="2238451"/>
            <a:ext cx="3172054" cy="152705"/>
          </a:xfrm>
          <a:prstGeom prst="rect">
            <a:avLst/>
          </a:prstGeom>
          <a:noFill/>
          <a:ln/>
        </p:spPr>
        <p:txBody>
          <a:bodyPr wrap="square" lIns="0" tIns="0" rIns="0" bIns="0" rtlCol="0" anchor="ctr"/>
          <a:lstStyle/>
          <a:p>
            <a:pPr algn="l" indent="0" marL="0">
              <a:buNone/>
            </a:pPr>
            <a:r>
              <a:rPr lang="en-US" sz="900" b="1" spc="45" kern="0" dirty="0">
                <a:solidFill>
                  <a:srgbClr val="F87171"/>
                </a:solidFill>
                <a:latin typeface="Noto Sans JP" pitchFamily="34" charset="0"/>
                <a:ea typeface="Noto Sans JP" pitchFamily="34" charset="-122"/>
                <a:cs typeface="Noto Sans JP" pitchFamily="34" charset="-120"/>
              </a:rPr>
              <a:t>New Challenges</a:t>
            </a:r>
            <a:endParaRPr lang="en-US" sz="900" dirty="0"/>
          </a:p>
        </p:txBody>
      </p:sp>
      <p:sp>
        <p:nvSpPr>
          <p:cNvPr id="54" name="Text 38"/>
          <p:cNvSpPr txBox="1"/>
          <p:nvPr/>
        </p:nvSpPr>
        <p:spPr>
          <a:xfrm>
            <a:off x="8328355" y="2428646"/>
            <a:ext cx="3248863" cy="267005"/>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課題：新たなボトルネック</a:t>
            </a:r>
            <a:endParaRPr lang="en-US" sz="1500" dirty="0"/>
          </a:p>
        </p:txBody>
      </p:sp>
      <p:sp>
        <p:nvSpPr>
          <p:cNvPr id="55" name="Text 39"/>
          <p:cNvSpPr txBox="1"/>
          <p:nvPr/>
        </p:nvSpPr>
        <p:spPr>
          <a:xfrm>
            <a:off x="8328355" y="3086100"/>
            <a:ext cx="3134563" cy="438912"/>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速度向上の裏で、人間の処理能力の限界とセキュリティリスクが新たな問題として浮上しています。</a:t>
            </a:r>
            <a:endParaRPr lang="en-US" sz="1000" dirty="0"/>
          </a:p>
        </p:txBody>
      </p:sp>
      <p:sp>
        <p:nvSpPr>
          <p:cNvPr id="56" name="Shape 40"/>
          <p:cNvSpPr/>
          <p:nvPr/>
        </p:nvSpPr>
        <p:spPr>
          <a:xfrm>
            <a:off x="8328355" y="3748126"/>
            <a:ext cx="3057754" cy="790956"/>
          </a:xfrm>
          <a:prstGeom prst="roundRect">
            <a:avLst>
              <a:gd name="adj" fmla="val 5571"/>
            </a:avLst>
          </a:prstGeom>
          <a:solidFill>
            <a:srgbClr val="1E293B">
              <a:alpha val="30000"/>
            </a:srgbClr>
          </a:solidFill>
          <a:ln w="12700">
            <a:solidFill>
              <a:srgbClr val="334155">
                <a:alpha val="30000"/>
              </a:srgbClr>
            </a:solidFill>
            <a:prstDash val="solid"/>
          </a:ln>
        </p:spPr>
      </p:sp>
      <p:pic>
        <p:nvPicPr>
          <p:cNvPr id="57" name="Image 14" descr="preencoded.png">    </p:cNvPr>
          <p:cNvPicPr>
            <a:picLocks noChangeAspect="1"/>
          </p:cNvPicPr>
          <p:nvPr/>
        </p:nvPicPr>
        <p:blipFill>
          <a:blip r:embed="rId15"/>
          <a:srcRect l="0" r="0" t="0" b="0"/>
          <a:stretch/>
        </p:blipFill>
        <p:spPr>
          <a:xfrm>
            <a:off x="8451799" y="3909974"/>
            <a:ext cx="152705" cy="152705"/>
          </a:xfrm>
          <a:prstGeom prst="rect">
            <a:avLst/>
          </a:prstGeom>
        </p:spPr>
      </p:pic>
      <p:sp>
        <p:nvSpPr>
          <p:cNvPr id="58" name="Text 41"/>
          <p:cNvSpPr txBox="1"/>
          <p:nvPr/>
        </p:nvSpPr>
        <p:spPr>
          <a:xfrm>
            <a:off x="8718804" y="3871570"/>
            <a:ext cx="2645359" cy="191110"/>
          </a:xfrm>
          <a:prstGeom prst="rect">
            <a:avLst/>
          </a:prstGeom>
          <a:noFill/>
          <a:ln/>
        </p:spPr>
        <p:txBody>
          <a:bodyPr wrap="square" lIns="0" tIns="0" rIns="0" bIns="0" rtlCol="0" anchor="ctr"/>
          <a:lstStyle/>
          <a:p>
            <a:pPr algn="l" indent="0" marL="0">
              <a:buNone/>
            </a:pPr>
            <a:r>
              <a:rPr lang="en-US" sz="1000" b="1" dirty="0">
                <a:solidFill>
                  <a:srgbClr val="E2E8F0"/>
                </a:solidFill>
                <a:latin typeface="Noto Sans JP" pitchFamily="34" charset="0"/>
                <a:ea typeface="Noto Sans JP" pitchFamily="34" charset="-122"/>
                <a:cs typeface="Noto Sans JP" pitchFamily="34" charset="-120"/>
              </a:rPr>
              <a:t>認知負荷 (Brain Drain)</a:t>
            </a:r>
            <a:endParaRPr lang="en-US" sz="1000" dirty="0"/>
          </a:p>
        </p:txBody>
      </p:sp>
      <p:sp>
        <p:nvSpPr>
          <p:cNvPr id="59" name="Text 42"/>
          <p:cNvSpPr txBox="1"/>
          <p:nvPr/>
        </p:nvSpPr>
        <p:spPr>
          <a:xfrm>
            <a:off x="8718804" y="4100170"/>
            <a:ext cx="2619756" cy="314554"/>
          </a:xfrm>
          <a:prstGeom prst="rect">
            <a:avLst/>
          </a:prstGeom>
          <a:noFill/>
          <a:ln/>
        </p:spPr>
        <p:txBody>
          <a:bodyPr wrap="square" lIns="0" tIns="0" rIns="0" bIns="0" rtlCol="0" anchor="t"/>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並列するタスクと非同期PRにより、人間のレビュアーが疲弊する。</a:t>
            </a:r>
            <a:endParaRPr lang="en-US" sz="900" dirty="0"/>
          </a:p>
        </p:txBody>
      </p:sp>
      <p:sp>
        <p:nvSpPr>
          <p:cNvPr id="60" name="Shape 43"/>
          <p:cNvSpPr/>
          <p:nvPr/>
        </p:nvSpPr>
        <p:spPr>
          <a:xfrm>
            <a:off x="8328355" y="4690872"/>
            <a:ext cx="3057754" cy="790956"/>
          </a:xfrm>
          <a:prstGeom prst="roundRect">
            <a:avLst>
              <a:gd name="adj" fmla="val 5571"/>
            </a:avLst>
          </a:prstGeom>
          <a:solidFill>
            <a:srgbClr val="1E293B">
              <a:alpha val="30000"/>
            </a:srgbClr>
          </a:solidFill>
          <a:ln w="12700">
            <a:solidFill>
              <a:srgbClr val="334155">
                <a:alpha val="30000"/>
              </a:srgbClr>
            </a:solidFill>
            <a:prstDash val="solid"/>
          </a:ln>
        </p:spPr>
      </p:sp>
      <p:pic>
        <p:nvPicPr>
          <p:cNvPr id="61" name="Image 15" descr="preencoded.png">    </p:cNvPr>
          <p:cNvPicPr>
            <a:picLocks noChangeAspect="1"/>
          </p:cNvPicPr>
          <p:nvPr/>
        </p:nvPicPr>
        <p:blipFill>
          <a:blip r:embed="rId16"/>
          <a:srcRect l="-33" r="-33" t="0" b="0"/>
          <a:stretch/>
        </p:blipFill>
        <p:spPr>
          <a:xfrm>
            <a:off x="8451799" y="4852721"/>
            <a:ext cx="171907" cy="152705"/>
          </a:xfrm>
          <a:prstGeom prst="rect">
            <a:avLst/>
          </a:prstGeom>
        </p:spPr>
      </p:pic>
      <p:sp>
        <p:nvSpPr>
          <p:cNvPr id="62" name="Text 44"/>
          <p:cNvSpPr txBox="1"/>
          <p:nvPr/>
        </p:nvSpPr>
        <p:spPr>
          <a:xfrm>
            <a:off x="8738006" y="4815230"/>
            <a:ext cx="2714854" cy="191110"/>
          </a:xfrm>
          <a:prstGeom prst="rect">
            <a:avLst/>
          </a:prstGeom>
          <a:noFill/>
          <a:ln/>
        </p:spPr>
        <p:txBody>
          <a:bodyPr wrap="square" lIns="0" tIns="0" rIns="0" bIns="0" rtlCol="0" anchor="ctr"/>
          <a:lstStyle/>
          <a:p>
            <a:pPr algn="l" indent="0" marL="0">
              <a:buNone/>
            </a:pPr>
            <a:r>
              <a:rPr lang="en-US" sz="1000" b="1" dirty="0">
                <a:solidFill>
                  <a:srgbClr val="E2E8F0"/>
                </a:solidFill>
                <a:latin typeface="Noto Sans JP" pitchFamily="34" charset="0"/>
                <a:ea typeface="Noto Sans JP" pitchFamily="34" charset="-122"/>
                <a:cs typeface="Noto Sans JP" pitchFamily="34" charset="-120"/>
              </a:rPr>
              <a:t>セキュリティリスク</a:t>
            </a:r>
            <a:endParaRPr lang="en-US" sz="1000" dirty="0"/>
          </a:p>
        </p:txBody>
      </p:sp>
      <p:sp>
        <p:nvSpPr>
          <p:cNvPr id="63" name="Text 45"/>
          <p:cNvSpPr txBox="1"/>
          <p:nvPr/>
        </p:nvSpPr>
        <p:spPr>
          <a:xfrm>
            <a:off x="8738006" y="5043830"/>
            <a:ext cx="2600554" cy="314554"/>
          </a:xfrm>
          <a:prstGeom prst="rect">
            <a:avLst/>
          </a:prstGeom>
          <a:noFill/>
          <a:ln/>
        </p:spPr>
        <p:txBody>
          <a:bodyPr wrap="square" lIns="0" tIns="0" rIns="0" bIns="0" rtlCol="0" anchor="t"/>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機密情報の無意識なログ出力など、AIは文脈を理解しない。</a:t>
            </a:r>
            <a:endParaRPr lang="en-US" sz="900" dirty="0"/>
          </a:p>
        </p:txBody>
      </p:sp>
      <p:sp>
        <p:nvSpPr>
          <p:cNvPr id="64" name="Shape 46"/>
          <p:cNvSpPr/>
          <p:nvPr/>
        </p:nvSpPr>
        <p:spPr>
          <a:xfrm>
            <a:off x="571500" y="6736385"/>
            <a:ext cx="11048695" cy="790956"/>
          </a:xfrm>
          <a:prstGeom prst="roundRect">
            <a:avLst>
              <a:gd name="adj" fmla="val 16714"/>
            </a:avLst>
          </a:prstGeom>
          <a:solidFill>
            <a:srgbClr val="064E3B">
              <a:alpha val="20000"/>
            </a:srgbClr>
          </a:solidFill>
          <a:ln w="12700">
            <a:solidFill>
              <a:srgbClr val="10B981">
                <a:alpha val="20000"/>
              </a:srgbClr>
            </a:solidFill>
            <a:prstDash val="solid"/>
          </a:ln>
        </p:spPr>
      </p:sp>
      <p:sp>
        <p:nvSpPr>
          <p:cNvPr id="65" name="Shape 47"/>
          <p:cNvSpPr/>
          <p:nvPr/>
        </p:nvSpPr>
        <p:spPr>
          <a:xfrm>
            <a:off x="809244" y="6941210"/>
            <a:ext cx="381305" cy="381305"/>
          </a:xfrm>
          <a:prstGeom prst="roundRect">
            <a:avLst>
              <a:gd name="adj" fmla="val 23981"/>
            </a:avLst>
          </a:prstGeom>
          <a:solidFill>
            <a:srgbClr val="064E3B">
              <a:alpha val="50000"/>
            </a:srgbClr>
          </a:solidFill>
          <a:ln w="12700">
            <a:solidFill>
              <a:srgbClr val="10B981">
                <a:alpha val="30000"/>
              </a:srgbClr>
            </a:solidFill>
            <a:prstDash val="solid"/>
          </a:ln>
        </p:spPr>
      </p:sp>
      <p:pic>
        <p:nvPicPr>
          <p:cNvPr id="66" name="Image 16" descr="preencoded.png">    </p:cNvPr>
          <p:cNvPicPr>
            <a:picLocks noChangeAspect="1"/>
          </p:cNvPicPr>
          <p:nvPr/>
        </p:nvPicPr>
        <p:blipFill>
          <a:blip r:embed="rId17"/>
          <a:srcRect l="0" r="0" t="-27660" b="-27660"/>
          <a:stretch/>
        </p:blipFill>
        <p:spPr>
          <a:xfrm>
            <a:off x="914400" y="6998818"/>
            <a:ext cx="171907" cy="267005"/>
          </a:xfrm>
          <a:prstGeom prst="rect">
            <a:avLst/>
          </a:prstGeom>
        </p:spPr>
      </p:pic>
      <p:sp>
        <p:nvSpPr>
          <p:cNvPr id="67" name="Text 48"/>
          <p:cNvSpPr txBox="1"/>
          <p:nvPr/>
        </p:nvSpPr>
        <p:spPr>
          <a:xfrm>
            <a:off x="1343254" y="6941210"/>
            <a:ext cx="3857854"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当社の現在地 (Our Position)</a:t>
            </a:r>
            <a:endParaRPr lang="en-US" sz="1000" dirty="0"/>
          </a:p>
        </p:txBody>
      </p:sp>
      <p:sp>
        <p:nvSpPr>
          <p:cNvPr id="68" name="Text 49"/>
          <p:cNvSpPr txBox="1"/>
          <p:nvPr/>
        </p:nvSpPr>
        <p:spPr>
          <a:xfrm>
            <a:off x="8904427" y="6898234"/>
            <a:ext cx="629107" cy="143561"/>
          </a:xfrm>
          <a:prstGeom prst="rect">
            <a:avLst/>
          </a:prstGeom>
          <a:noFill/>
          <a:ln/>
        </p:spPr>
        <p:txBody>
          <a:bodyPr wrap="square" lIns="0" tIns="0" rIns="0" bIns="0" rtlCol="0" anchor="ctr"/>
          <a:lstStyle/>
          <a:p>
            <a:pPr algn="l" indent="0" marL="0">
              <a:buNone/>
            </a:pPr>
            <a:r>
              <a:rPr lang="en-US" sz="800" spc="75" kern="0" dirty="0">
                <a:solidFill>
                  <a:srgbClr val="34D399"/>
                </a:solidFill>
                <a:latin typeface="Noto Sans JP" pitchFamily="34" charset="0"/>
                <a:ea typeface="Noto Sans JP" pitchFamily="34" charset="-122"/>
                <a:cs typeface="Noto Sans JP" pitchFamily="34" charset="-120"/>
              </a:rPr>
              <a:t>DEV STYLE</a:t>
            </a:r>
            <a:endParaRPr lang="en-US" sz="800" dirty="0"/>
          </a:p>
        </p:txBody>
      </p:sp>
      <p:pic>
        <p:nvPicPr>
          <p:cNvPr id="69" name="Image 17" descr="preencoded.png">    </p:cNvPr>
          <p:cNvPicPr>
            <a:picLocks noChangeAspect="1"/>
          </p:cNvPicPr>
          <p:nvPr/>
        </p:nvPicPr>
        <p:blipFill>
          <a:blip r:embed="rId18"/>
          <a:stretch>
            <a:fillRect/>
          </a:stretch>
        </p:blipFill>
        <p:spPr>
          <a:xfrm>
            <a:off x="6522415" y="7079285"/>
            <a:ext cx="2943454" cy="286207"/>
          </a:xfrm>
          <a:prstGeom prst="rect">
            <a:avLst/>
          </a:prstGeom>
        </p:spPr>
      </p:pic>
      <p:sp>
        <p:nvSpPr>
          <p:cNvPr id="70" name="Text 50"/>
          <p:cNvSpPr/>
          <p:nvPr/>
        </p:nvSpPr>
        <p:spPr>
          <a:xfrm>
            <a:off x="6522415" y="7079285"/>
            <a:ext cx="2943454" cy="286207"/>
          </a:xfrm>
          <a:prstGeom prst="rect">
            <a:avLst/>
          </a:prstGeom>
          <a:solidFill>
            <a:srgbClr val="FFFFFF">
              <a:alpha val="0"/>
            </a:srgbClr>
          </a:solidFill>
          <a:ln w="12700">
            <a:solidFill>
              <a:srgbClr val="10B981">
                <a:alpha val="20000"/>
              </a:srgbClr>
            </a:solid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ドキュメント駆動 &amp; AIオーケストレーション</a:t>
            </a:r>
            <a:endParaRPr lang="en-US" sz="1000" dirty="0"/>
          </a:p>
        </p:txBody>
      </p:sp>
      <p:sp>
        <p:nvSpPr>
          <p:cNvPr id="71" name="Text 51"/>
          <p:cNvSpPr txBox="1"/>
          <p:nvPr/>
        </p:nvSpPr>
        <p:spPr>
          <a:xfrm>
            <a:off x="11003890" y="6898234"/>
            <a:ext cx="457200" cy="143561"/>
          </a:xfrm>
          <a:prstGeom prst="rect">
            <a:avLst/>
          </a:prstGeom>
          <a:noFill/>
          <a:ln/>
        </p:spPr>
        <p:txBody>
          <a:bodyPr wrap="square" lIns="0" tIns="0" rIns="0" bIns="0" rtlCol="0" anchor="ctr"/>
          <a:lstStyle/>
          <a:p>
            <a:pPr algn="l" indent="0" marL="0">
              <a:buNone/>
            </a:pPr>
            <a:r>
              <a:rPr lang="en-US" sz="800" spc="75" kern="0" dirty="0">
                <a:solidFill>
                  <a:srgbClr val="34D399"/>
                </a:solidFill>
                <a:latin typeface="Noto Sans JP" pitchFamily="34" charset="0"/>
                <a:ea typeface="Noto Sans JP" pitchFamily="34" charset="-122"/>
                <a:cs typeface="Noto Sans JP" pitchFamily="34" charset="-120"/>
              </a:rPr>
              <a:t>POLICY</a:t>
            </a:r>
            <a:endParaRPr lang="en-US" sz="800" dirty="0"/>
          </a:p>
        </p:txBody>
      </p:sp>
      <p:pic>
        <p:nvPicPr>
          <p:cNvPr id="72" name="Image 18" descr="preencoded.png">    </p:cNvPr>
          <p:cNvPicPr>
            <a:picLocks noChangeAspect="1"/>
          </p:cNvPicPr>
          <p:nvPr/>
        </p:nvPicPr>
        <p:blipFill>
          <a:blip r:embed="rId19"/>
          <a:stretch>
            <a:fillRect/>
          </a:stretch>
        </p:blipFill>
        <p:spPr>
          <a:xfrm>
            <a:off x="9685325" y="7079285"/>
            <a:ext cx="1705356" cy="286207"/>
          </a:xfrm>
          <a:prstGeom prst="rect">
            <a:avLst/>
          </a:prstGeom>
        </p:spPr>
      </p:pic>
      <p:sp>
        <p:nvSpPr>
          <p:cNvPr id="73" name="Text 52"/>
          <p:cNvSpPr/>
          <p:nvPr/>
        </p:nvSpPr>
        <p:spPr>
          <a:xfrm>
            <a:off x="9685325" y="7079285"/>
            <a:ext cx="1705356" cy="286207"/>
          </a:xfrm>
          <a:prstGeom prst="rect">
            <a:avLst/>
          </a:prstGeom>
          <a:solidFill>
            <a:srgbClr val="FFFFFF">
              <a:alpha val="0"/>
            </a:srgbClr>
          </a:solidFill>
          <a:ln w="12700">
            <a:solidFill>
              <a:srgbClr val="10B981">
                <a:alpha val="20000"/>
              </a:srgbClr>
            </a:solid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プライバシーファースト</a:t>
            </a:r>
            <a:endParaRPr lang="en-US" sz="1000" dirty="0"/>
          </a:p>
        </p:txBody>
      </p:sp>
      <p:sp>
        <p:nvSpPr>
          <p:cNvPr id="74" name="Text 53"/>
          <p:cNvSpPr txBox="1"/>
          <p:nvPr/>
        </p:nvSpPr>
        <p:spPr>
          <a:xfrm>
            <a:off x="1343254" y="7169810"/>
            <a:ext cx="4182466" cy="152705"/>
          </a:xfrm>
          <a:prstGeom prst="rect">
            <a:avLst/>
          </a:prstGeom>
          <a:noFill/>
          <a:ln/>
        </p:spPr>
        <p:txBody>
          <a:bodyPr wrap="square" lIns="0" tIns="0" rIns="0" bIns="0" rtlCol="0" anchor="ctr"/>
          <a:lstStyle/>
          <a:p>
            <a:pPr algn="l" indent="0" marL="0">
              <a:buNone/>
            </a:pPr>
            <a:r>
              <a:rPr lang="en-US" sz="900" dirty="0">
                <a:solidFill>
                  <a:srgbClr val="D1FAE5">
                    <a:alpha val="80000"/>
                  </a:srgbClr>
                </a:solidFill>
                <a:latin typeface="Noto Sans JP" pitchFamily="34" charset="0"/>
                <a:ea typeface="Noto Sans JP" pitchFamily="34" charset="-122"/>
                <a:cs typeface="Noto Sans JP" pitchFamily="34" charset="-120"/>
              </a:rPr>
              <a:t>主要事業: AIエージェント統合開発 / AIレビュー自動化 / E2Eテスト自動化</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0F172A"/>
          </a:solidFill>
          <a:ln w="12700">
            <a:solidFill>
              <a:srgbClr val="FFFFFF">
                <a:alpha val="0"/>
              </a:srgbClr>
            </a:solidFill>
            <a:prstDash val="solid"/>
          </a:ln>
        </p:spPr>
      </p:sp>
      <p:pic>
        <p:nvPicPr>
          <p:cNvPr id="4" name="Image 0" descr="preencoded.png">    </p:cNvPr>
          <p:cNvPicPr>
            <a:picLocks noChangeAspect="1"/>
          </p:cNvPicPr>
          <p:nvPr/>
        </p:nvPicPr>
        <p:blipFill>
          <a:blip r:embed="rId1">
            <a:alphaModFix amt="10000"/>
          </a:blip>
          <a:srcRect l="0" r="0" t="0" b="0"/>
          <a:stretch/>
        </p:blipFill>
        <p:spPr>
          <a:xfrm>
            <a:off x="-952805" y="-952805"/>
            <a:ext cx="4762195" cy="4762195"/>
          </a:xfrm>
          <a:prstGeom prst="rect">
            <a:avLst/>
          </a:prstGeom>
        </p:spPr>
      </p:pic>
      <p:pic>
        <p:nvPicPr>
          <p:cNvPr id="5" name="Image 1" descr="preencoded.png">    </p:cNvPr>
          <p:cNvPicPr>
            <a:picLocks noChangeAspect="1"/>
          </p:cNvPicPr>
          <p:nvPr/>
        </p:nvPicPr>
        <p:blipFill>
          <a:blip r:embed="rId2">
            <a:alphaModFix amt="10000"/>
          </a:blip>
          <a:srcRect l="0" r="0" t="0" b="0"/>
          <a:stretch/>
        </p:blipFill>
        <p:spPr>
          <a:xfrm>
            <a:off x="8382305" y="3047695"/>
            <a:ext cx="4762195" cy="4762195"/>
          </a:xfrm>
          <a:prstGeom prst="rect">
            <a:avLst/>
          </a:prstGeom>
        </p:spPr>
      </p:pic>
      <p:sp>
        <p:nvSpPr>
          <p:cNvPr id="6" name="Text 2"/>
          <p:cNvSpPr txBox="1"/>
          <p:nvPr/>
        </p:nvSpPr>
        <p:spPr>
          <a:xfrm>
            <a:off x="10584180" y="6476695"/>
            <a:ext cx="1381658" cy="152705"/>
          </a:xfrm>
          <a:prstGeom prst="rect">
            <a:avLst/>
          </a:prstGeom>
          <a:noFill/>
          <a:ln/>
        </p:spPr>
        <p:txBody>
          <a:bodyPr wrap="square" lIns="0" tIns="0" rIns="0" bIns="0" rtlCol="0" anchor="ctr"/>
          <a:lstStyle/>
          <a:p>
            <a:pPr algn="l" indent="0" marL="0">
              <a:buNone/>
            </a:pPr>
            <a:r>
              <a:rPr lang="en-US" sz="900" dirty="0">
                <a:solidFill>
                  <a:srgbClr val="475569">
                    <a:alpha val="50000"/>
                  </a:srgbClr>
                </a:solidFill>
                <a:latin typeface="JetBrains Mono" pitchFamily="34" charset="0"/>
                <a:ea typeface="JetBrains Mono" pitchFamily="34" charset="-122"/>
                <a:cs typeface="JetBrains Mono" pitchFamily="34" charset="-120"/>
              </a:rPr>
              <a:t>&lt;/stack_definition&gt;</a:t>
            </a:r>
            <a:endParaRPr lang="en-US" sz="900" dirty="0"/>
          </a:p>
        </p:txBody>
      </p:sp>
      <p:pic>
        <p:nvPicPr>
          <p:cNvPr id="7" name="Image 2" descr="preencoded.png">    </p:cNvPr>
          <p:cNvPicPr>
            <a:picLocks noChangeAspect="1"/>
          </p:cNvPicPr>
          <p:nvPr/>
        </p:nvPicPr>
        <p:blipFill>
          <a:blip r:embed="rId3"/>
          <a:stretch>
            <a:fillRect/>
          </a:stretch>
        </p:blipFill>
        <p:spPr>
          <a:xfrm>
            <a:off x="571500" y="381305"/>
            <a:ext cx="1324051" cy="247802"/>
          </a:xfrm>
          <a:prstGeom prst="rect">
            <a:avLst/>
          </a:prstGeom>
        </p:spPr>
      </p:pic>
      <p:sp>
        <p:nvSpPr>
          <p:cNvPr id="8" name="Text 3"/>
          <p:cNvSpPr/>
          <p:nvPr/>
        </p:nvSpPr>
        <p:spPr>
          <a:xfrm>
            <a:off x="905256" y="381305"/>
            <a:ext cx="990295" cy="247802"/>
          </a:xfrm>
          <a:prstGeom prst="rect">
            <a:avLst/>
          </a:prstGeom>
          <a:solidFill>
            <a:srgbClr val="FFFFFF">
              <a:alpha val="0"/>
            </a:srgbClr>
          </a:solidFill>
          <a:ln w="12700">
            <a:solidFill>
              <a:srgbClr val="1E3A8A">
                <a:alpha val="50000"/>
              </a:srgbClr>
            </a:solidFill>
          </a:ln>
        </p:spPr>
        <p:txBody>
          <a:bodyPr wrap="square" lIns="0" tIns="0" rIns="0" bIns="0" rtlCol="0" anchor="ctr"/>
          <a:lstStyle/>
          <a:p>
            <a:pPr algn="ctr" indent="0" marL="0">
              <a:buNone/>
            </a:pPr>
            <a:r>
              <a:rPr lang="en-US" sz="900" b="1" spc="45" kern="0" dirty="0">
                <a:solidFill>
                  <a:srgbClr val="60A5FA"/>
                </a:solidFill>
                <a:latin typeface="Noto Sans JP" pitchFamily="34" charset="0"/>
                <a:ea typeface="Noto Sans JP" pitchFamily="34" charset="-122"/>
                <a:cs typeface="Noto Sans JP" pitchFamily="34" charset="-120"/>
              </a:rPr>
              <a:t>AI STACK 2026</a:t>
            </a:r>
            <a:endParaRPr lang="en-US" sz="900" dirty="0"/>
          </a:p>
        </p:txBody>
      </p:sp>
      <p:sp>
        <p:nvSpPr>
          <p:cNvPr id="9" name="Text 4"/>
          <p:cNvSpPr txBox="1"/>
          <p:nvPr/>
        </p:nvSpPr>
        <p:spPr>
          <a:xfrm>
            <a:off x="571500" y="705002"/>
            <a:ext cx="5275174" cy="381305"/>
          </a:xfrm>
          <a:prstGeom prst="rect">
            <a:avLst/>
          </a:prstGeom>
          <a:noFill/>
          <a:ln/>
        </p:spPr>
        <p:txBody>
          <a:bodyPr wrap="square" lIns="0" tIns="0" rIns="0" bIns="0" rtlCol="0" anchor="ctr"/>
          <a:lstStyle/>
          <a:p>
            <a:pPr algn="l" indent="0" marL="0">
              <a:buNone/>
            </a:pPr>
            <a:r>
              <a:rPr lang="en-US" sz="2700" b="1" spc="-67" kern="0" dirty="0">
                <a:solidFill>
                  <a:srgbClr val="FFFFFF"/>
                </a:solidFill>
                <a:latin typeface="Noto Sans JP" pitchFamily="34" charset="0"/>
                <a:ea typeface="Noto Sans JP" pitchFamily="34" charset="-122"/>
                <a:cs typeface="Noto Sans JP" pitchFamily="34" charset="-120"/>
              </a:rPr>
              <a:t> AIエージェントの</a:t>
            </a:r>
            <a:pPr algn="l" indent="0" marL="0">
              <a:buNone/>
            </a:pPr>
            <a:r>
              <a:rPr lang="en-US" sz="2700" b="1" spc="-67" kern="0" dirty="0">
                <a:solidFill>
                  <a:srgbClr val="60A5FA"/>
                </a:solidFill>
                <a:latin typeface="Noto Sans JP" pitchFamily="34" charset="0"/>
                <a:ea typeface="Noto Sans JP" pitchFamily="34" charset="-122"/>
                <a:cs typeface="Noto Sans JP" pitchFamily="34" charset="-120"/>
              </a:rPr>
              <a:t>適材適所</a:t>
            </a:r>
            <a:endParaRPr lang="en-US" sz="2700" dirty="0"/>
          </a:p>
        </p:txBody>
      </p:sp>
      <p:sp>
        <p:nvSpPr>
          <p:cNvPr id="10" name="Text 5"/>
          <p:cNvSpPr txBox="1"/>
          <p:nvPr/>
        </p:nvSpPr>
        <p:spPr>
          <a:xfrm>
            <a:off x="8552383" y="705002"/>
            <a:ext cx="3076956" cy="191110"/>
          </a:xfrm>
          <a:prstGeom prst="rect">
            <a:avLst/>
          </a:prstGeom>
          <a:noFill/>
          <a:ln/>
        </p:spPr>
        <p:txBody>
          <a:bodyPr wrap="square" lIns="0" tIns="0" rIns="0" bIns="0" rtlCol="0" anchor="ctr"/>
          <a:lstStyle/>
          <a:p>
            <a:pPr algn="r" indent="0" marL="0">
              <a:buNone/>
            </a:pPr>
            <a:r>
              <a:rPr lang="en-US" sz="1000" dirty="0">
                <a:solidFill>
                  <a:srgbClr val="94A3B8"/>
                </a:solidFill>
                <a:latin typeface="Noto Sans JP" pitchFamily="34" charset="0"/>
                <a:ea typeface="Noto Sans JP" pitchFamily="34" charset="-122"/>
                <a:cs typeface="Noto Sans JP" pitchFamily="34" charset="-120"/>
              </a:rPr>
              <a:t>現場で使い分ける「三種の神器＋α」の役割分担</a:t>
            </a:r>
            <a:endParaRPr lang="en-US" sz="1000" dirty="0"/>
          </a:p>
        </p:txBody>
      </p:sp>
      <p:sp>
        <p:nvSpPr>
          <p:cNvPr id="11" name="Text 6"/>
          <p:cNvSpPr txBox="1"/>
          <p:nvPr/>
        </p:nvSpPr>
        <p:spPr>
          <a:xfrm>
            <a:off x="10088575" y="933602"/>
            <a:ext cx="695858" cy="152705"/>
          </a:xfrm>
          <a:prstGeom prst="rect">
            <a:avLst/>
          </a:prstGeom>
          <a:noFill/>
          <a:ln/>
        </p:spPr>
        <p:txBody>
          <a:bodyPr wrap="square" lIns="0" tIns="0" rIns="0" bIns="0" rtlCol="0" anchor="ctr"/>
          <a:lstStyle/>
          <a:p>
            <a:pPr algn="l" indent="0" marL="0">
              <a:buNone/>
            </a:pPr>
            <a:r>
              <a:rPr lang="en-US" sz="900" dirty="0">
                <a:solidFill>
                  <a:srgbClr val="64748B"/>
                </a:solidFill>
                <a:latin typeface="JetBrains Mono" pitchFamily="34" charset="0"/>
                <a:ea typeface="JetBrains Mono" pitchFamily="34" charset="-122"/>
                <a:cs typeface="JetBrains Mono" pitchFamily="34" charset="-120"/>
              </a:rPr>
              <a:t>OPTIMIZED</a:t>
            </a:r>
            <a:endParaRPr lang="en-US" sz="900" dirty="0"/>
          </a:p>
        </p:txBody>
      </p:sp>
      <p:sp>
        <p:nvSpPr>
          <p:cNvPr id="12" name="Text 7"/>
          <p:cNvSpPr txBox="1"/>
          <p:nvPr/>
        </p:nvSpPr>
        <p:spPr>
          <a:xfrm>
            <a:off x="10935310" y="933602"/>
            <a:ext cx="771754" cy="152705"/>
          </a:xfrm>
          <a:prstGeom prst="rect">
            <a:avLst/>
          </a:prstGeom>
          <a:noFill/>
          <a:ln/>
        </p:spPr>
        <p:txBody>
          <a:bodyPr wrap="square" lIns="0" tIns="0" rIns="0" bIns="0" rtlCol="0" anchor="ctr"/>
          <a:lstStyle/>
          <a:p>
            <a:pPr algn="l" indent="0" marL="0">
              <a:buNone/>
            </a:pPr>
            <a:r>
              <a:rPr lang="en-US" sz="900" dirty="0">
                <a:solidFill>
                  <a:srgbClr val="64748B"/>
                </a:solidFill>
                <a:latin typeface="JetBrains Mono" pitchFamily="34" charset="0"/>
                <a:ea typeface="JetBrains Mono" pitchFamily="34" charset="-122"/>
                <a:cs typeface="JetBrains Mono" pitchFamily="34" charset="-120"/>
              </a:rPr>
              <a:t>COST-AWARE</a:t>
            </a:r>
            <a:endParaRPr lang="en-US" sz="900" dirty="0"/>
          </a:p>
        </p:txBody>
      </p:sp>
      <p:pic>
        <p:nvPicPr>
          <p:cNvPr id="13" name="Image 3" descr="preencoded.png">    </p:cNvPr>
          <p:cNvPicPr>
            <a:picLocks noChangeAspect="1"/>
          </p:cNvPicPr>
          <p:nvPr/>
        </p:nvPicPr>
        <p:blipFill>
          <a:blip r:embed="rId4"/>
          <a:srcRect l="-1911" r="-1911" t="0" b="0"/>
          <a:stretch/>
        </p:blipFill>
        <p:spPr>
          <a:xfrm>
            <a:off x="694944" y="452628"/>
            <a:ext cx="133502" cy="114300"/>
          </a:xfrm>
          <a:prstGeom prst="rect">
            <a:avLst/>
          </a:prstGeom>
        </p:spPr>
      </p:pic>
      <p:pic>
        <p:nvPicPr>
          <p:cNvPr id="14" name="Image 4" descr="preencoded.png">    </p:cNvPr>
          <p:cNvPicPr>
            <a:picLocks noChangeAspect="1"/>
          </p:cNvPicPr>
          <p:nvPr/>
        </p:nvPicPr>
        <p:blipFill>
          <a:blip r:embed="rId5"/>
          <a:srcRect l="0" r="0" t="0" b="0"/>
          <a:stretch/>
        </p:blipFill>
        <p:spPr>
          <a:xfrm>
            <a:off x="9935870" y="947318"/>
            <a:ext cx="114300" cy="114300"/>
          </a:xfrm>
          <a:prstGeom prst="rect">
            <a:avLst/>
          </a:prstGeom>
        </p:spPr>
      </p:pic>
      <p:pic>
        <p:nvPicPr>
          <p:cNvPr id="15" name="Image 5" descr="preencoded.png">    </p:cNvPr>
          <p:cNvPicPr>
            <a:picLocks noChangeAspect="1"/>
          </p:cNvPicPr>
          <p:nvPr/>
        </p:nvPicPr>
        <p:blipFill>
          <a:blip r:embed="rId6"/>
          <a:srcRect l="0" r="0" t="0" b="0"/>
          <a:stretch/>
        </p:blipFill>
        <p:spPr>
          <a:xfrm>
            <a:off x="10782605" y="947318"/>
            <a:ext cx="114300" cy="114300"/>
          </a:xfrm>
          <a:prstGeom prst="rect">
            <a:avLst/>
          </a:prstGeom>
        </p:spPr>
      </p:pic>
      <p:sp>
        <p:nvSpPr>
          <p:cNvPr id="16" name="Shape 8"/>
          <p:cNvSpPr/>
          <p:nvPr/>
        </p:nvSpPr>
        <p:spPr>
          <a:xfrm>
            <a:off x="571500" y="1314907"/>
            <a:ext cx="5429707" cy="2704795"/>
          </a:xfrm>
          <a:prstGeom prst="roundRect">
            <a:avLst>
              <a:gd name="adj" fmla="val 1905"/>
            </a:avLst>
          </a:prstGeom>
          <a:solidFill>
            <a:srgbClr val="1E293B">
              <a:alpha val="60000"/>
            </a:srgbClr>
          </a:solidFill>
          <a:ln w="12700">
            <a:solidFill>
              <a:srgbClr val="94A3B8">
                <a:alpha val="10000"/>
              </a:srgbClr>
            </a:solidFill>
            <a:prstDash val="solid"/>
          </a:ln>
        </p:spPr>
      </p:sp>
      <p:sp>
        <p:nvSpPr>
          <p:cNvPr id="17" name="Shape 9"/>
          <p:cNvSpPr/>
          <p:nvPr/>
        </p:nvSpPr>
        <p:spPr>
          <a:xfrm>
            <a:off x="571500" y="1314907"/>
            <a:ext cx="38405" cy="2704795"/>
          </a:xfrm>
          <a:prstGeom prst="roundRect">
            <a:avLst>
              <a:gd name="adj" fmla="val 134137"/>
            </a:avLst>
          </a:prstGeom>
          <a:solidFill>
            <a:srgbClr val="3B82F6"/>
          </a:solidFill>
          <a:ln w="12700">
            <a:solidFill>
              <a:srgbClr val="3B82F6">
                <a:alpha val="0"/>
              </a:srgbClr>
            </a:solidFill>
            <a:prstDash val="solid"/>
          </a:ln>
        </p:spPr>
      </p:sp>
      <p:sp>
        <p:nvSpPr>
          <p:cNvPr id="18" name="Shape 10"/>
          <p:cNvSpPr/>
          <p:nvPr/>
        </p:nvSpPr>
        <p:spPr>
          <a:xfrm>
            <a:off x="838505" y="2162556"/>
            <a:ext cx="4924044" cy="9144"/>
          </a:xfrm>
          <a:prstGeom prst="rect">
            <a:avLst/>
          </a:prstGeom>
          <a:solidFill>
            <a:srgbClr val="FFFFFF">
              <a:alpha val="5000"/>
            </a:srgbClr>
          </a:solidFill>
          <a:ln w="12700">
            <a:solidFill>
              <a:srgbClr val="FFFFFF">
                <a:alpha val="0"/>
              </a:srgbClr>
            </a:solidFill>
            <a:prstDash val="solid"/>
          </a:ln>
        </p:spPr>
      </p:sp>
      <p:sp>
        <p:nvSpPr>
          <p:cNvPr id="19" name="Shape 11"/>
          <p:cNvSpPr/>
          <p:nvPr/>
        </p:nvSpPr>
        <p:spPr>
          <a:xfrm>
            <a:off x="838505" y="1561795"/>
            <a:ext cx="457200" cy="457200"/>
          </a:xfrm>
          <a:prstGeom prst="roundRect">
            <a:avLst>
              <a:gd name="adj" fmla="val 50000"/>
            </a:avLst>
          </a:prstGeom>
          <a:solidFill>
            <a:srgbClr val="3B82F6">
              <a:alpha val="20000"/>
            </a:srgbClr>
          </a:solidFill>
          <a:ln w="12700">
            <a:solidFill>
              <a:srgbClr val="3B82F6">
                <a:alpha val="30000"/>
              </a:srgbClr>
            </a:solidFill>
            <a:prstDash val="solid"/>
          </a:ln>
        </p:spPr>
      </p:sp>
      <p:pic>
        <p:nvPicPr>
          <p:cNvPr id="20" name="Image 6" descr="preencoded.png">    </p:cNvPr>
          <p:cNvPicPr>
            <a:picLocks noChangeAspect="1"/>
          </p:cNvPicPr>
          <p:nvPr/>
        </p:nvPicPr>
        <p:blipFill>
          <a:blip r:embed="rId7"/>
          <a:srcRect l="-80" r="-80" t="0" b="0"/>
          <a:stretch/>
        </p:blipFill>
        <p:spPr>
          <a:xfrm>
            <a:off x="923544" y="1676095"/>
            <a:ext cx="286207" cy="228600"/>
          </a:xfrm>
          <a:prstGeom prst="rect">
            <a:avLst/>
          </a:prstGeom>
        </p:spPr>
      </p:pic>
      <p:sp>
        <p:nvSpPr>
          <p:cNvPr id="21" name="Text 12"/>
          <p:cNvSpPr txBox="1"/>
          <p:nvPr/>
        </p:nvSpPr>
        <p:spPr>
          <a:xfrm>
            <a:off x="1429207" y="1514246"/>
            <a:ext cx="1153058" cy="305410"/>
          </a:xfrm>
          <a:prstGeom prst="rect">
            <a:avLst/>
          </a:prstGeom>
          <a:no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Cursor</a:t>
            </a:r>
            <a:endParaRPr lang="en-US" sz="1800" dirty="0"/>
          </a:p>
        </p:txBody>
      </p:sp>
      <p:pic>
        <p:nvPicPr>
          <p:cNvPr id="22" name="Image 7" descr="preencoded.png">    </p:cNvPr>
          <p:cNvPicPr>
            <a:picLocks noChangeAspect="1"/>
          </p:cNvPicPr>
          <p:nvPr/>
        </p:nvPicPr>
        <p:blipFill>
          <a:blip r:embed="rId8"/>
          <a:stretch>
            <a:fillRect/>
          </a:stretch>
        </p:blipFill>
        <p:spPr>
          <a:xfrm>
            <a:off x="1429207" y="1886407"/>
            <a:ext cx="1076249" cy="200254"/>
          </a:xfrm>
          <a:prstGeom prst="rect">
            <a:avLst/>
          </a:prstGeom>
        </p:spPr>
      </p:pic>
      <p:sp>
        <p:nvSpPr>
          <p:cNvPr id="23" name="Text 13"/>
          <p:cNvSpPr/>
          <p:nvPr/>
        </p:nvSpPr>
        <p:spPr>
          <a:xfrm>
            <a:off x="1429207" y="1886407"/>
            <a:ext cx="1077163" cy="200254"/>
          </a:xfrm>
          <a:prstGeom prst="rect">
            <a:avLst/>
          </a:prstGeom>
          <a:solidFill>
            <a:srgbClr val="FFFFFF">
              <a:alpha val="0"/>
            </a:srgbClr>
          </a:solidFill>
          <a:ln w="12700">
            <a:solidFill>
              <a:srgbClr val="3B82F6">
                <a:alpha val="20000"/>
              </a:srgbClr>
            </a:solidFill>
          </a:ln>
        </p:spPr>
        <p:txBody>
          <a:bodyPr wrap="square" lIns="0" tIns="0" rIns="0" bIns="0" rtlCol="0" anchor="ctr"/>
          <a:lstStyle/>
          <a:p>
            <a:pPr algn="ctr" indent="0" marL="0">
              <a:buNone/>
            </a:pPr>
            <a:r>
              <a:rPr lang="en-US" sz="800" b="1" spc="38" kern="0" dirty="0">
                <a:solidFill>
                  <a:srgbClr val="60A5FA"/>
                </a:solidFill>
                <a:latin typeface="JetBrains Mono" pitchFamily="34" charset="0"/>
                <a:ea typeface="JetBrains Mono" pitchFamily="34" charset="-122"/>
                <a:cs typeface="JetBrains Mono" pitchFamily="34" charset="-120"/>
              </a:rPr>
              <a:t>IDE型エージェント</a:t>
            </a:r>
            <a:endParaRPr lang="en-US" sz="800" dirty="0"/>
          </a:p>
        </p:txBody>
      </p:sp>
      <p:sp>
        <p:nvSpPr>
          <p:cNvPr id="24" name="Text 14"/>
          <p:cNvSpPr txBox="1"/>
          <p:nvPr/>
        </p:nvSpPr>
        <p:spPr>
          <a:xfrm>
            <a:off x="1019556" y="2286000"/>
            <a:ext cx="4858207"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USE CASE</a:t>
            </a:r>
            <a:endParaRPr lang="en-US" sz="800" dirty="0"/>
          </a:p>
        </p:txBody>
      </p:sp>
      <p:pic>
        <p:nvPicPr>
          <p:cNvPr id="25" name="Image 8" descr="preencoded.png">    </p:cNvPr>
          <p:cNvPicPr>
            <a:picLocks noChangeAspect="1"/>
          </p:cNvPicPr>
          <p:nvPr/>
        </p:nvPicPr>
        <p:blipFill>
          <a:blip r:embed="rId9"/>
          <a:srcRect l="-5288" r="-5288" t="0" b="0"/>
          <a:stretch/>
        </p:blipFill>
        <p:spPr>
          <a:xfrm>
            <a:off x="838505" y="2309774"/>
            <a:ext cx="105156" cy="95098"/>
          </a:xfrm>
          <a:prstGeom prst="rect">
            <a:avLst/>
          </a:prstGeom>
        </p:spPr>
      </p:pic>
      <p:sp>
        <p:nvSpPr>
          <p:cNvPr id="26" name="Text 15"/>
          <p:cNvSpPr txBox="1"/>
          <p:nvPr/>
        </p:nvSpPr>
        <p:spPr>
          <a:xfrm>
            <a:off x="838505" y="2447849"/>
            <a:ext cx="5115154" cy="191110"/>
          </a:xfrm>
          <a:prstGeom prst="rect">
            <a:avLst/>
          </a:prstGeom>
          <a:noFill/>
          <a:ln/>
        </p:spPr>
        <p:txBody>
          <a:bodyPr wrap="square" lIns="0" tIns="0" rIns="0" bIns="0" rtlCol="0" anchor="ctr"/>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プロジェクト全体の文脈把握、複数ファイルリファクタリング。</a:t>
            </a:r>
            <a:endParaRPr lang="en-US" sz="900" dirty="0"/>
          </a:p>
        </p:txBody>
      </p:sp>
      <p:sp>
        <p:nvSpPr>
          <p:cNvPr id="27" name="Text 16"/>
          <p:cNvSpPr txBox="1"/>
          <p:nvPr/>
        </p:nvSpPr>
        <p:spPr>
          <a:xfrm>
            <a:off x="1028700" y="2710282"/>
            <a:ext cx="4849063"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KEY FEATURE</a:t>
            </a:r>
            <a:endParaRPr lang="en-US" sz="800" dirty="0"/>
          </a:p>
        </p:txBody>
      </p:sp>
      <p:pic>
        <p:nvPicPr>
          <p:cNvPr id="28" name="Image 9" descr="preencoded.png">    </p:cNvPr>
          <p:cNvPicPr>
            <a:picLocks noChangeAspect="1"/>
          </p:cNvPicPr>
          <p:nvPr/>
        </p:nvPicPr>
        <p:blipFill>
          <a:blip r:embed="rId10"/>
          <a:srcRect l="-3419" r="-3419" t="0" b="0"/>
          <a:stretch/>
        </p:blipFill>
        <p:spPr>
          <a:xfrm>
            <a:off x="838505" y="2734056"/>
            <a:ext cx="114300" cy="95098"/>
          </a:xfrm>
          <a:prstGeom prst="rect">
            <a:avLst/>
          </a:prstGeom>
        </p:spPr>
      </p:pic>
      <p:sp>
        <p:nvSpPr>
          <p:cNvPr id="29" name="Text 17"/>
          <p:cNvSpPr txBox="1"/>
          <p:nvPr/>
        </p:nvSpPr>
        <p:spPr>
          <a:xfrm>
            <a:off x="838505" y="2872130"/>
            <a:ext cx="5000854" cy="372161"/>
          </a:xfrm>
          <a:prstGeom prst="rect">
            <a:avLst/>
          </a:prstGeom>
          <a:noFill/>
          <a:ln/>
        </p:spPr>
        <p:txBody>
          <a:bodyPr wrap="square" lIns="0" tIns="0" rIns="0" bIns="0" rtlCol="0" anchor="t"/>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 ローカルクロール・依存関係解釈。</a:t>
            </a:r>
            <a:pPr algn="l" indent="0" marL="0">
              <a:buNone/>
            </a:pPr>
            <a:endParaRPr lang="en-US" sz="900" dirty="0"/>
          </a:p>
          <a:p>
            <a:pPr algn="l" indent="0" marL="0">
              <a:buNone/>
            </a:pPr>
            <a:r>
              <a:rPr lang="en-US" sz="900" b="1" dirty="0">
                <a:solidFill>
                  <a:srgbClr val="60A5FA"/>
                </a:solidFill>
                <a:latin typeface="Noto Sans JP" pitchFamily="34" charset="0"/>
                <a:ea typeface="Noto Sans JP" pitchFamily="34" charset="-122"/>
                <a:cs typeface="Noto Sans JP" pitchFamily="34" charset="-120"/>
              </a:rPr>
              <a:t>初心者からシニアまで必須の基盤。</a:t>
            </a:r>
            <a:endParaRPr lang="en-US" sz="900" dirty="0"/>
          </a:p>
        </p:txBody>
      </p:sp>
      <p:sp>
        <p:nvSpPr>
          <p:cNvPr id="30" name="Text 18"/>
          <p:cNvSpPr txBox="1"/>
          <p:nvPr/>
        </p:nvSpPr>
        <p:spPr>
          <a:xfrm>
            <a:off x="1019556" y="3319272"/>
            <a:ext cx="4858207"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COST / ROI</a:t>
            </a:r>
            <a:endParaRPr lang="en-US" sz="800" dirty="0"/>
          </a:p>
        </p:txBody>
      </p:sp>
      <p:pic>
        <p:nvPicPr>
          <p:cNvPr id="31" name="Image 10" descr="preencoded.png">    </p:cNvPr>
          <p:cNvPicPr>
            <a:picLocks noChangeAspect="1"/>
          </p:cNvPicPr>
          <p:nvPr/>
        </p:nvPicPr>
        <p:blipFill>
          <a:blip r:embed="rId11"/>
          <a:srcRect l="-5288" r="-5288" t="0" b="0"/>
          <a:stretch/>
        </p:blipFill>
        <p:spPr>
          <a:xfrm>
            <a:off x="838505" y="3343046"/>
            <a:ext cx="105156" cy="95098"/>
          </a:xfrm>
          <a:prstGeom prst="rect">
            <a:avLst/>
          </a:prstGeom>
        </p:spPr>
      </p:pic>
      <p:sp>
        <p:nvSpPr>
          <p:cNvPr id="32" name="Shape 19"/>
          <p:cNvSpPr/>
          <p:nvPr/>
        </p:nvSpPr>
        <p:spPr>
          <a:xfrm>
            <a:off x="838505" y="3500323"/>
            <a:ext cx="4924044" cy="9144"/>
          </a:xfrm>
          <a:prstGeom prst="rect">
            <a:avLst/>
          </a:prstGeom>
          <a:solidFill>
            <a:srgbClr val="334155">
              <a:alpha val="50000"/>
            </a:srgbClr>
          </a:solidFill>
          <a:ln w="12700">
            <a:solidFill>
              <a:srgbClr val="334155">
                <a:alpha val="0"/>
              </a:srgbClr>
            </a:solidFill>
            <a:prstDash val="solid"/>
          </a:ln>
        </p:spPr>
      </p:sp>
      <p:sp>
        <p:nvSpPr>
          <p:cNvPr id="33" name="Text 20"/>
          <p:cNvSpPr txBox="1"/>
          <p:nvPr/>
        </p:nvSpPr>
        <p:spPr>
          <a:xfrm>
            <a:off x="838505" y="3547872"/>
            <a:ext cx="782726" cy="267005"/>
          </a:xfrm>
          <a:prstGeom prst="rect">
            <a:avLst/>
          </a:prstGeom>
          <a:noFill/>
          <a:ln/>
        </p:spPr>
        <p:txBody>
          <a:bodyPr wrap="square" lIns="0" tIns="0" rIns="0" bIns="0" rtlCol="0" anchor="ctr"/>
          <a:lstStyle/>
          <a:p>
            <a:pPr algn="l" indent="0" marL="0">
              <a:buNone/>
            </a:pPr>
            <a:r>
              <a:rPr lang="en-US" sz="1300" b="1" dirty="0">
                <a:solidFill>
                  <a:srgbClr val="FFFFFF"/>
                </a:solidFill>
                <a:latin typeface="JetBrains Mono" pitchFamily="34" charset="0"/>
                <a:ea typeface="JetBrains Mono" pitchFamily="34" charset="-122"/>
                <a:cs typeface="JetBrains Mono" pitchFamily="34" charset="-120"/>
              </a:rPr>
              <a:t>$20</a:t>
            </a:r>
            <a:pPr algn="l" indent="0" marL="0">
              <a:buNone/>
            </a:pPr>
            <a:r>
              <a:rPr lang="en-US" sz="900" b="1" dirty="0">
                <a:solidFill>
                  <a:srgbClr val="94A3B8"/>
                </a:solidFill>
                <a:latin typeface="JetBrains Mono" pitchFamily="34" charset="0"/>
                <a:ea typeface="JetBrains Mono" pitchFamily="34" charset="-122"/>
                <a:cs typeface="JetBrains Mono" pitchFamily="34" charset="-120"/>
              </a:rPr>
              <a:t> / mo</a:t>
            </a:r>
            <a:endParaRPr lang="en-US" sz="1300" dirty="0"/>
          </a:p>
        </p:txBody>
      </p:sp>
      <p:sp>
        <p:nvSpPr>
          <p:cNvPr id="34" name="Text 21"/>
          <p:cNvSpPr txBox="1"/>
          <p:nvPr/>
        </p:nvSpPr>
        <p:spPr>
          <a:xfrm>
            <a:off x="1146658" y="3624682"/>
            <a:ext cx="428854" cy="152705"/>
          </a:xfrm>
          <a:prstGeom prst="rect">
            <a:avLst/>
          </a:prstGeom>
          <a:noFill/>
          <a:ln/>
        </p:spPr>
        <p:txBody>
          <a:bodyPr wrap="square" lIns="0" tIns="0" rIns="0" bIns="0" rtlCol="0" anchor="ctr"/>
          <a:lstStyle/>
          <a:p>
            <a:pPr algn="l" indent="0" marL="0">
              <a:buNone/>
            </a:pPr>
            <a:r>
              <a:rPr lang="en-US" sz="900" dirty="0">
                <a:solidFill>
                  <a:srgbClr val="94A3B8"/>
                </a:solidFill>
                <a:latin typeface="JetBrains Mono" pitchFamily="34" charset="0"/>
                <a:ea typeface="JetBrains Mono" pitchFamily="34" charset="-122"/>
                <a:cs typeface="JetBrains Mono" pitchFamily="34" charset="-120"/>
              </a:rPr>
              <a:t>/ mo</a:t>
            </a:r>
            <a:endParaRPr lang="en-US" sz="900" dirty="0"/>
          </a:p>
        </p:txBody>
      </p:sp>
      <p:sp>
        <p:nvSpPr>
          <p:cNvPr id="35" name="Text 22"/>
          <p:cNvSpPr txBox="1"/>
          <p:nvPr/>
        </p:nvSpPr>
        <p:spPr>
          <a:xfrm>
            <a:off x="4281221" y="3624682"/>
            <a:ext cx="1604772" cy="143561"/>
          </a:xfrm>
          <a:prstGeom prst="rect">
            <a:avLst/>
          </a:prstGeom>
          <a:noFill/>
          <a:ln/>
        </p:spPr>
        <p:txBody>
          <a:bodyPr wrap="square" lIns="0" tIns="0" rIns="0" bIns="0" rtlCol="0" anchor="ctr"/>
          <a:lstStyle/>
          <a:p>
            <a:pPr algn="l" indent="0" marL="0">
              <a:buNone/>
            </a:pPr>
            <a:r>
              <a:rPr lang="en-US" sz="800" dirty="0">
                <a:solidFill>
                  <a:srgbClr val="94A3B8"/>
                </a:solidFill>
                <a:latin typeface="Noto Sans JP" pitchFamily="34" charset="0"/>
                <a:ea typeface="Noto Sans JP" pitchFamily="34" charset="-122"/>
                <a:cs typeface="Noto Sans JP" pitchFamily="34" charset="-120"/>
              </a:rPr>
              <a:t>エンジニア1時間の短縮で回収可能</a:t>
            </a:r>
            <a:endParaRPr lang="en-US" sz="800" dirty="0"/>
          </a:p>
        </p:txBody>
      </p:sp>
      <p:sp>
        <p:nvSpPr>
          <p:cNvPr id="36" name="Shape 23"/>
          <p:cNvSpPr/>
          <p:nvPr/>
        </p:nvSpPr>
        <p:spPr>
          <a:xfrm>
            <a:off x="6191402" y="1314907"/>
            <a:ext cx="5429707" cy="2704795"/>
          </a:xfrm>
          <a:prstGeom prst="roundRect">
            <a:avLst>
              <a:gd name="adj" fmla="val 1905"/>
            </a:avLst>
          </a:prstGeom>
          <a:solidFill>
            <a:srgbClr val="1E293B">
              <a:alpha val="60000"/>
            </a:srgbClr>
          </a:solidFill>
          <a:ln w="12700">
            <a:solidFill>
              <a:srgbClr val="94A3B8">
                <a:alpha val="10000"/>
              </a:srgbClr>
            </a:solidFill>
            <a:prstDash val="solid"/>
          </a:ln>
        </p:spPr>
      </p:sp>
      <p:sp>
        <p:nvSpPr>
          <p:cNvPr id="37" name="Shape 24"/>
          <p:cNvSpPr/>
          <p:nvPr/>
        </p:nvSpPr>
        <p:spPr>
          <a:xfrm>
            <a:off x="6191402" y="1314907"/>
            <a:ext cx="38405" cy="2704795"/>
          </a:xfrm>
          <a:prstGeom prst="roundRect">
            <a:avLst>
              <a:gd name="adj" fmla="val 134137"/>
            </a:avLst>
          </a:prstGeom>
          <a:solidFill>
            <a:srgbClr val="A855F7"/>
          </a:solidFill>
          <a:ln w="12700">
            <a:solidFill>
              <a:srgbClr val="A855F7">
                <a:alpha val="0"/>
              </a:srgbClr>
            </a:solidFill>
            <a:prstDash val="solid"/>
          </a:ln>
        </p:spPr>
      </p:sp>
      <p:sp>
        <p:nvSpPr>
          <p:cNvPr id="38" name="Shape 25"/>
          <p:cNvSpPr/>
          <p:nvPr/>
        </p:nvSpPr>
        <p:spPr>
          <a:xfrm>
            <a:off x="6458407" y="2162556"/>
            <a:ext cx="4924044" cy="9144"/>
          </a:xfrm>
          <a:prstGeom prst="rect">
            <a:avLst/>
          </a:prstGeom>
          <a:solidFill>
            <a:srgbClr val="FFFFFF">
              <a:alpha val="5000"/>
            </a:srgbClr>
          </a:solidFill>
          <a:ln w="12700">
            <a:solidFill>
              <a:srgbClr val="FFFFFF">
                <a:alpha val="0"/>
              </a:srgbClr>
            </a:solidFill>
            <a:prstDash val="solid"/>
          </a:ln>
        </p:spPr>
      </p:sp>
      <p:sp>
        <p:nvSpPr>
          <p:cNvPr id="39" name="Shape 26"/>
          <p:cNvSpPr/>
          <p:nvPr/>
        </p:nvSpPr>
        <p:spPr>
          <a:xfrm>
            <a:off x="6458407" y="1561795"/>
            <a:ext cx="457200" cy="457200"/>
          </a:xfrm>
          <a:prstGeom prst="roundRect">
            <a:avLst>
              <a:gd name="adj" fmla="val 50000"/>
            </a:avLst>
          </a:prstGeom>
          <a:solidFill>
            <a:srgbClr val="A855F7">
              <a:alpha val="20000"/>
            </a:srgbClr>
          </a:solidFill>
          <a:ln w="12700">
            <a:solidFill>
              <a:srgbClr val="A855F7">
                <a:alpha val="30000"/>
              </a:srgbClr>
            </a:solidFill>
            <a:prstDash val="solid"/>
          </a:ln>
        </p:spPr>
      </p:sp>
      <p:pic>
        <p:nvPicPr>
          <p:cNvPr id="40" name="Image 11" descr="preencoded.png">    </p:cNvPr>
          <p:cNvPicPr>
            <a:picLocks noChangeAspect="1"/>
          </p:cNvPicPr>
          <p:nvPr/>
        </p:nvPicPr>
        <p:blipFill>
          <a:blip r:embed="rId12"/>
          <a:srcRect l="0" r="0" t="-45" b="-45"/>
          <a:stretch/>
        </p:blipFill>
        <p:spPr>
          <a:xfrm>
            <a:off x="6558077" y="1676095"/>
            <a:ext cx="256946" cy="228600"/>
          </a:xfrm>
          <a:prstGeom prst="rect">
            <a:avLst/>
          </a:prstGeom>
        </p:spPr>
      </p:pic>
      <p:sp>
        <p:nvSpPr>
          <p:cNvPr id="41" name="Text 27"/>
          <p:cNvSpPr txBox="1"/>
          <p:nvPr/>
        </p:nvSpPr>
        <p:spPr>
          <a:xfrm>
            <a:off x="7048195" y="1514246"/>
            <a:ext cx="1615745" cy="305410"/>
          </a:xfrm>
          <a:prstGeom prst="rect">
            <a:avLst/>
          </a:prstGeom>
          <a:no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Claude Code</a:t>
            </a:r>
            <a:endParaRPr lang="en-US" sz="1800" dirty="0"/>
          </a:p>
        </p:txBody>
      </p:sp>
      <p:pic>
        <p:nvPicPr>
          <p:cNvPr id="42" name="Image 12" descr="preencoded.png">    </p:cNvPr>
          <p:cNvPicPr>
            <a:picLocks noChangeAspect="1"/>
          </p:cNvPicPr>
          <p:nvPr/>
        </p:nvPicPr>
        <p:blipFill>
          <a:blip r:embed="rId13"/>
          <a:stretch>
            <a:fillRect/>
          </a:stretch>
        </p:blipFill>
        <p:spPr>
          <a:xfrm>
            <a:off x="7048195" y="1886407"/>
            <a:ext cx="875995" cy="200254"/>
          </a:xfrm>
          <a:prstGeom prst="rect">
            <a:avLst/>
          </a:prstGeom>
        </p:spPr>
      </p:pic>
      <p:sp>
        <p:nvSpPr>
          <p:cNvPr id="43" name="Text 28"/>
          <p:cNvSpPr/>
          <p:nvPr/>
        </p:nvSpPr>
        <p:spPr>
          <a:xfrm>
            <a:off x="7048195" y="1886407"/>
            <a:ext cx="876910" cy="200254"/>
          </a:xfrm>
          <a:prstGeom prst="rect">
            <a:avLst/>
          </a:prstGeom>
          <a:solidFill>
            <a:srgbClr val="FFFFFF">
              <a:alpha val="0"/>
            </a:srgbClr>
          </a:solidFill>
          <a:ln w="12700">
            <a:solidFill>
              <a:srgbClr val="A855F7">
                <a:alpha val="20000"/>
              </a:srgbClr>
            </a:solidFill>
          </a:ln>
        </p:spPr>
        <p:txBody>
          <a:bodyPr wrap="square" lIns="0" tIns="0" rIns="0" bIns="0" rtlCol="0" anchor="ctr"/>
          <a:lstStyle/>
          <a:p>
            <a:pPr algn="ctr" indent="0" marL="0">
              <a:buNone/>
            </a:pPr>
            <a:r>
              <a:rPr lang="en-US" sz="800" b="1" spc="38" kern="0" dirty="0">
                <a:solidFill>
                  <a:srgbClr val="C084FC"/>
                </a:solidFill>
                <a:latin typeface="JetBrains Mono" pitchFamily="34" charset="0"/>
                <a:ea typeface="JetBrains Mono" pitchFamily="34" charset="-122"/>
                <a:cs typeface="JetBrains Mono" pitchFamily="34" charset="-120"/>
              </a:rPr>
              <a:t>CLIネイティブ</a:t>
            </a:r>
            <a:endParaRPr lang="en-US" sz="800" dirty="0"/>
          </a:p>
        </p:txBody>
      </p:sp>
      <p:sp>
        <p:nvSpPr>
          <p:cNvPr id="44" name="Text 29"/>
          <p:cNvSpPr txBox="1"/>
          <p:nvPr/>
        </p:nvSpPr>
        <p:spPr>
          <a:xfrm>
            <a:off x="6639458" y="2286000"/>
            <a:ext cx="4858207"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USE CASE</a:t>
            </a:r>
            <a:endParaRPr lang="en-US" sz="800" dirty="0"/>
          </a:p>
        </p:txBody>
      </p:sp>
      <p:pic>
        <p:nvPicPr>
          <p:cNvPr id="45" name="Image 13" descr="preencoded.png">    </p:cNvPr>
          <p:cNvPicPr>
            <a:picLocks noChangeAspect="1"/>
          </p:cNvPicPr>
          <p:nvPr/>
        </p:nvPicPr>
        <p:blipFill>
          <a:blip r:embed="rId14"/>
          <a:srcRect l="-5288" r="-5288" t="0" b="0"/>
          <a:stretch/>
        </p:blipFill>
        <p:spPr>
          <a:xfrm>
            <a:off x="6458407" y="2309774"/>
            <a:ext cx="105156" cy="95098"/>
          </a:xfrm>
          <a:prstGeom prst="rect">
            <a:avLst/>
          </a:prstGeom>
        </p:spPr>
      </p:pic>
      <p:sp>
        <p:nvSpPr>
          <p:cNvPr id="46" name="Text 30"/>
          <p:cNvSpPr txBox="1"/>
          <p:nvPr/>
        </p:nvSpPr>
        <p:spPr>
          <a:xfrm>
            <a:off x="6458407" y="2447849"/>
            <a:ext cx="5115154" cy="191110"/>
          </a:xfrm>
          <a:prstGeom prst="rect">
            <a:avLst/>
          </a:prstGeom>
          <a:noFill/>
          <a:ln/>
        </p:spPr>
        <p:txBody>
          <a:bodyPr wrap="square" lIns="0" tIns="0" rIns="0" bIns="0" rtlCol="0" anchor="ctr"/>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ターミナルでの高速実装、SSH先での直接作業。</a:t>
            </a:r>
            <a:endParaRPr lang="en-US" sz="900" dirty="0"/>
          </a:p>
        </p:txBody>
      </p:sp>
      <p:sp>
        <p:nvSpPr>
          <p:cNvPr id="47" name="Text 31"/>
          <p:cNvSpPr txBox="1"/>
          <p:nvPr/>
        </p:nvSpPr>
        <p:spPr>
          <a:xfrm>
            <a:off x="6648602" y="2747772"/>
            <a:ext cx="4849063"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KEY FEATURE</a:t>
            </a:r>
            <a:endParaRPr lang="en-US" sz="800" dirty="0"/>
          </a:p>
        </p:txBody>
      </p:sp>
      <p:pic>
        <p:nvPicPr>
          <p:cNvPr id="48" name="Image 14" descr="preencoded.png">    </p:cNvPr>
          <p:cNvPicPr>
            <a:picLocks noChangeAspect="1"/>
          </p:cNvPicPr>
          <p:nvPr/>
        </p:nvPicPr>
        <p:blipFill>
          <a:blip r:embed="rId15"/>
          <a:srcRect l="-3419" r="-3419" t="0" b="0"/>
          <a:stretch/>
        </p:blipFill>
        <p:spPr>
          <a:xfrm>
            <a:off x="6458407" y="2771546"/>
            <a:ext cx="114300" cy="95098"/>
          </a:xfrm>
          <a:prstGeom prst="rect">
            <a:avLst/>
          </a:prstGeom>
        </p:spPr>
      </p:pic>
      <p:sp>
        <p:nvSpPr>
          <p:cNvPr id="49" name="Text 32"/>
          <p:cNvSpPr txBox="1"/>
          <p:nvPr/>
        </p:nvSpPr>
        <p:spPr>
          <a:xfrm>
            <a:off x="6458407" y="2909621"/>
            <a:ext cx="5000854" cy="372161"/>
          </a:xfrm>
          <a:prstGeom prst="rect">
            <a:avLst/>
          </a:prstGeom>
          <a:noFill/>
          <a:ln/>
        </p:spPr>
        <p:txBody>
          <a:bodyPr wrap="square" lIns="0" tIns="0" rIns="0" bIns="0" rtlCol="0" anchor="t"/>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 GUIレスで機敏。シニアの「手足」として最速。</a:t>
            </a:r>
            <a:pPr algn="l" indent="0" marL="0">
              <a:buNone/>
            </a:pPr>
            <a:endParaRPr lang="en-US" sz="900" dirty="0"/>
          </a:p>
          <a:p>
            <a:pPr algn="l" indent="0" marL="0">
              <a:buNone/>
            </a:pPr>
            <a:r>
              <a:rPr lang="en-US" sz="900" b="1" dirty="0">
                <a:solidFill>
                  <a:srgbClr val="C084FC"/>
                </a:solidFill>
                <a:latin typeface="Noto Sans JP" pitchFamily="34" charset="0"/>
                <a:ea typeface="Noto Sans JP" pitchFamily="34" charset="-122"/>
                <a:cs typeface="Noto Sans JP" pitchFamily="34" charset="-120"/>
              </a:rPr>
              <a:t>プログラマティックな操作に特化。</a:t>
            </a:r>
            <a:endParaRPr lang="en-US" sz="900" dirty="0"/>
          </a:p>
        </p:txBody>
      </p:sp>
      <p:sp>
        <p:nvSpPr>
          <p:cNvPr id="50" name="Text 33"/>
          <p:cNvSpPr txBox="1"/>
          <p:nvPr/>
        </p:nvSpPr>
        <p:spPr>
          <a:xfrm>
            <a:off x="6639458" y="3396082"/>
            <a:ext cx="4858207"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COST / ROI</a:t>
            </a:r>
            <a:endParaRPr lang="en-US" sz="800" dirty="0"/>
          </a:p>
        </p:txBody>
      </p:sp>
      <p:pic>
        <p:nvPicPr>
          <p:cNvPr id="51" name="Image 15" descr="preencoded.png">    </p:cNvPr>
          <p:cNvPicPr>
            <a:picLocks noChangeAspect="1"/>
          </p:cNvPicPr>
          <p:nvPr/>
        </p:nvPicPr>
        <p:blipFill>
          <a:blip r:embed="rId16"/>
          <a:srcRect l="-5288" r="-5288" t="0" b="0"/>
          <a:stretch/>
        </p:blipFill>
        <p:spPr>
          <a:xfrm>
            <a:off x="6458407" y="3419856"/>
            <a:ext cx="105156" cy="95098"/>
          </a:xfrm>
          <a:prstGeom prst="rect">
            <a:avLst/>
          </a:prstGeom>
        </p:spPr>
      </p:pic>
      <p:sp>
        <p:nvSpPr>
          <p:cNvPr id="52" name="Shape 34"/>
          <p:cNvSpPr/>
          <p:nvPr/>
        </p:nvSpPr>
        <p:spPr>
          <a:xfrm>
            <a:off x="6458407" y="3576218"/>
            <a:ext cx="4924044" cy="9144"/>
          </a:xfrm>
          <a:prstGeom prst="rect">
            <a:avLst/>
          </a:prstGeom>
          <a:solidFill>
            <a:srgbClr val="334155">
              <a:alpha val="50000"/>
            </a:srgbClr>
          </a:solidFill>
          <a:ln w="12700">
            <a:solidFill>
              <a:srgbClr val="334155">
                <a:alpha val="0"/>
              </a:srgbClr>
            </a:solidFill>
            <a:prstDash val="solid"/>
          </a:ln>
        </p:spPr>
      </p:sp>
      <p:sp>
        <p:nvSpPr>
          <p:cNvPr id="53" name="Text 35"/>
          <p:cNvSpPr txBox="1"/>
          <p:nvPr/>
        </p:nvSpPr>
        <p:spPr>
          <a:xfrm>
            <a:off x="6458407" y="3624682"/>
            <a:ext cx="2073859"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JetBrains Mono" pitchFamily="34" charset="0"/>
                <a:ea typeface="JetBrains Mono" pitchFamily="34" charset="-122"/>
                <a:cs typeface="JetBrains Mono" pitchFamily="34" charset="-120"/>
              </a:rPr>
              <a:t>API Usage</a:t>
            </a:r>
            <a:pPr algn="l" indent="0" marL="0">
              <a:buNone/>
            </a:pPr>
            <a:r>
              <a:rPr lang="en-US" sz="900" b="1" dirty="0">
                <a:solidFill>
                  <a:srgbClr val="94A3B8"/>
                </a:solidFill>
                <a:latin typeface="JetBrains Mono" pitchFamily="34" charset="0"/>
                <a:ea typeface="JetBrains Mono" pitchFamily="34" charset="-122"/>
                <a:cs typeface="JetBrains Mono" pitchFamily="34" charset="-120"/>
              </a:rPr>
              <a:t> (Pay-as-you-go)</a:t>
            </a:r>
            <a:endParaRPr lang="en-US" sz="1000" dirty="0"/>
          </a:p>
        </p:txBody>
      </p:sp>
      <p:sp>
        <p:nvSpPr>
          <p:cNvPr id="54" name="Text 36"/>
          <p:cNvSpPr txBox="1"/>
          <p:nvPr/>
        </p:nvSpPr>
        <p:spPr>
          <a:xfrm>
            <a:off x="7178040" y="3653028"/>
            <a:ext cx="1181405" cy="152705"/>
          </a:xfrm>
          <a:prstGeom prst="rect">
            <a:avLst/>
          </a:prstGeom>
          <a:noFill/>
          <a:ln/>
        </p:spPr>
        <p:txBody>
          <a:bodyPr wrap="square" lIns="0" tIns="0" rIns="0" bIns="0" rtlCol="0" anchor="ctr"/>
          <a:lstStyle/>
          <a:p>
            <a:pPr algn="l" indent="0" marL="0">
              <a:buNone/>
            </a:pPr>
            <a:r>
              <a:rPr lang="en-US" sz="900" dirty="0">
                <a:solidFill>
                  <a:srgbClr val="94A3B8"/>
                </a:solidFill>
                <a:latin typeface="JetBrains Mono" pitchFamily="34" charset="0"/>
                <a:ea typeface="JetBrains Mono" pitchFamily="34" charset="-122"/>
                <a:cs typeface="JetBrains Mono" pitchFamily="34" charset="-120"/>
              </a:rPr>
              <a:t>(Pay-as-you-go)</a:t>
            </a:r>
            <a:endParaRPr lang="en-US" sz="900" dirty="0"/>
          </a:p>
        </p:txBody>
      </p:sp>
      <p:sp>
        <p:nvSpPr>
          <p:cNvPr id="55" name="Text 37"/>
          <p:cNvSpPr txBox="1"/>
          <p:nvPr/>
        </p:nvSpPr>
        <p:spPr>
          <a:xfrm>
            <a:off x="10144354" y="3653028"/>
            <a:ext cx="1337767" cy="143561"/>
          </a:xfrm>
          <a:prstGeom prst="rect">
            <a:avLst/>
          </a:prstGeom>
          <a:noFill/>
          <a:ln/>
        </p:spPr>
        <p:txBody>
          <a:bodyPr wrap="square" lIns="0" tIns="0" rIns="0" bIns="0" rtlCol="0" anchor="ctr"/>
          <a:lstStyle/>
          <a:p>
            <a:pPr algn="l" indent="0" marL="0">
              <a:buNone/>
            </a:pPr>
            <a:r>
              <a:rPr lang="en-US" sz="800" dirty="0">
                <a:solidFill>
                  <a:srgbClr val="94A3B8"/>
                </a:solidFill>
                <a:latin typeface="Noto Sans JP" pitchFamily="34" charset="0"/>
                <a:ea typeface="Noto Sans JP" pitchFamily="34" charset="-122"/>
                <a:cs typeface="Noto Sans JP" pitchFamily="34" charset="-120"/>
              </a:rPr>
              <a:t>必要な分だけ課金・高コスパ</a:t>
            </a:r>
            <a:endParaRPr lang="en-US" sz="800" dirty="0"/>
          </a:p>
        </p:txBody>
      </p:sp>
      <p:sp>
        <p:nvSpPr>
          <p:cNvPr id="56" name="Shape 38"/>
          <p:cNvSpPr/>
          <p:nvPr/>
        </p:nvSpPr>
        <p:spPr>
          <a:xfrm>
            <a:off x="571500" y="4205326"/>
            <a:ext cx="5429707" cy="2704795"/>
          </a:xfrm>
          <a:prstGeom prst="roundRect">
            <a:avLst>
              <a:gd name="adj" fmla="val 1905"/>
            </a:avLst>
          </a:prstGeom>
          <a:solidFill>
            <a:srgbClr val="1E293B">
              <a:alpha val="60000"/>
            </a:srgbClr>
          </a:solidFill>
          <a:ln w="12700">
            <a:solidFill>
              <a:srgbClr val="94A3B8">
                <a:alpha val="10000"/>
              </a:srgbClr>
            </a:solidFill>
            <a:prstDash val="solid"/>
          </a:ln>
        </p:spPr>
      </p:sp>
      <p:sp>
        <p:nvSpPr>
          <p:cNvPr id="57" name="Shape 39"/>
          <p:cNvSpPr/>
          <p:nvPr/>
        </p:nvSpPr>
        <p:spPr>
          <a:xfrm>
            <a:off x="571500" y="4205326"/>
            <a:ext cx="38405" cy="2704795"/>
          </a:xfrm>
          <a:prstGeom prst="roundRect">
            <a:avLst>
              <a:gd name="adj" fmla="val 134137"/>
            </a:avLst>
          </a:prstGeom>
          <a:solidFill>
            <a:srgbClr val="F43F5E"/>
          </a:solidFill>
          <a:ln w="12700">
            <a:solidFill>
              <a:srgbClr val="F43F5E">
                <a:alpha val="0"/>
              </a:srgbClr>
            </a:solidFill>
            <a:prstDash val="solid"/>
          </a:ln>
        </p:spPr>
      </p:sp>
      <p:sp>
        <p:nvSpPr>
          <p:cNvPr id="58" name="Shape 40"/>
          <p:cNvSpPr/>
          <p:nvPr/>
        </p:nvSpPr>
        <p:spPr>
          <a:xfrm>
            <a:off x="838505" y="5053889"/>
            <a:ext cx="4924044" cy="9144"/>
          </a:xfrm>
          <a:prstGeom prst="rect">
            <a:avLst/>
          </a:prstGeom>
          <a:solidFill>
            <a:srgbClr val="FFFFFF">
              <a:alpha val="5000"/>
            </a:srgbClr>
          </a:solidFill>
          <a:ln w="12700">
            <a:solidFill>
              <a:srgbClr val="FFFFFF">
                <a:alpha val="0"/>
              </a:srgbClr>
            </a:solidFill>
            <a:prstDash val="solid"/>
          </a:ln>
        </p:spPr>
      </p:sp>
      <p:sp>
        <p:nvSpPr>
          <p:cNvPr id="59" name="Shape 41"/>
          <p:cNvSpPr/>
          <p:nvPr/>
        </p:nvSpPr>
        <p:spPr>
          <a:xfrm>
            <a:off x="838505" y="4453128"/>
            <a:ext cx="457200" cy="457200"/>
          </a:xfrm>
          <a:prstGeom prst="roundRect">
            <a:avLst>
              <a:gd name="adj" fmla="val 50000"/>
            </a:avLst>
          </a:prstGeom>
          <a:solidFill>
            <a:srgbClr val="F43F5E">
              <a:alpha val="20000"/>
            </a:srgbClr>
          </a:solidFill>
          <a:ln w="12700">
            <a:solidFill>
              <a:srgbClr val="F43F5E">
                <a:alpha val="30000"/>
              </a:srgbClr>
            </a:solidFill>
            <a:prstDash val="solid"/>
          </a:ln>
        </p:spPr>
      </p:sp>
      <p:pic>
        <p:nvPicPr>
          <p:cNvPr id="60" name="Image 16" descr="preencoded.png">    </p:cNvPr>
          <p:cNvPicPr>
            <a:picLocks noChangeAspect="1"/>
          </p:cNvPicPr>
          <p:nvPr/>
        </p:nvPicPr>
        <p:blipFill>
          <a:blip r:embed="rId17"/>
          <a:srcRect l="0" r="0" t="0" b="0"/>
          <a:stretch/>
        </p:blipFill>
        <p:spPr>
          <a:xfrm>
            <a:off x="952805" y="4567428"/>
            <a:ext cx="228600" cy="228600"/>
          </a:xfrm>
          <a:prstGeom prst="rect">
            <a:avLst/>
          </a:prstGeom>
        </p:spPr>
      </p:pic>
      <p:sp>
        <p:nvSpPr>
          <p:cNvPr id="61" name="Text 42"/>
          <p:cNvSpPr txBox="1"/>
          <p:nvPr/>
        </p:nvSpPr>
        <p:spPr>
          <a:xfrm>
            <a:off x="1429207" y="4405579"/>
            <a:ext cx="2018081" cy="305410"/>
          </a:xfrm>
          <a:prstGeom prst="rect">
            <a:avLst/>
          </a:prstGeom>
          <a:no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Codex / Gemini</a:t>
            </a:r>
            <a:endParaRPr lang="en-US" sz="1800" dirty="0"/>
          </a:p>
        </p:txBody>
      </p:sp>
      <p:pic>
        <p:nvPicPr>
          <p:cNvPr id="62" name="Image 17" descr="preencoded.png">    </p:cNvPr>
          <p:cNvPicPr>
            <a:picLocks noChangeAspect="1"/>
          </p:cNvPicPr>
          <p:nvPr/>
        </p:nvPicPr>
        <p:blipFill>
          <a:blip r:embed="rId18"/>
          <a:stretch>
            <a:fillRect/>
          </a:stretch>
        </p:blipFill>
        <p:spPr>
          <a:xfrm>
            <a:off x="1429207" y="4776826"/>
            <a:ext cx="1086307" cy="200254"/>
          </a:xfrm>
          <a:prstGeom prst="rect">
            <a:avLst/>
          </a:prstGeom>
        </p:spPr>
      </p:pic>
      <p:sp>
        <p:nvSpPr>
          <p:cNvPr id="63" name="Text 43"/>
          <p:cNvSpPr/>
          <p:nvPr/>
        </p:nvSpPr>
        <p:spPr>
          <a:xfrm>
            <a:off x="1429207" y="4776826"/>
            <a:ext cx="1086307" cy="200254"/>
          </a:xfrm>
          <a:prstGeom prst="rect">
            <a:avLst/>
          </a:prstGeom>
          <a:solidFill>
            <a:srgbClr val="FFFFFF">
              <a:alpha val="0"/>
            </a:srgbClr>
          </a:solidFill>
          <a:ln w="12700">
            <a:solidFill>
              <a:srgbClr val="F43F5E">
                <a:alpha val="20000"/>
              </a:srgbClr>
            </a:solidFill>
          </a:ln>
        </p:spPr>
        <p:txBody>
          <a:bodyPr wrap="square" lIns="0" tIns="0" rIns="0" bIns="0" rtlCol="0" anchor="ctr"/>
          <a:lstStyle/>
          <a:p>
            <a:pPr algn="ctr" indent="0" marL="0">
              <a:buNone/>
            </a:pPr>
            <a:r>
              <a:rPr lang="en-US" sz="800" b="1" spc="38" kern="0" dirty="0">
                <a:solidFill>
                  <a:srgbClr val="FB7185"/>
                </a:solidFill>
                <a:latin typeface="JetBrains Mono" pitchFamily="34" charset="0"/>
                <a:ea typeface="JetBrains Mono" pitchFamily="34" charset="-122"/>
                <a:cs typeface="JetBrains Mono" pitchFamily="34" charset="-120"/>
              </a:rPr>
              <a:t>推論・レビュー特化</a:t>
            </a:r>
            <a:endParaRPr lang="en-US" sz="800" dirty="0"/>
          </a:p>
        </p:txBody>
      </p:sp>
      <p:sp>
        <p:nvSpPr>
          <p:cNvPr id="64" name="Text 44"/>
          <p:cNvSpPr txBox="1"/>
          <p:nvPr/>
        </p:nvSpPr>
        <p:spPr>
          <a:xfrm>
            <a:off x="1019556" y="5176418"/>
            <a:ext cx="4858207"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USE CASE</a:t>
            </a:r>
            <a:endParaRPr lang="en-US" sz="800" dirty="0"/>
          </a:p>
        </p:txBody>
      </p:sp>
      <p:pic>
        <p:nvPicPr>
          <p:cNvPr id="65" name="Image 18" descr="preencoded.png">    </p:cNvPr>
          <p:cNvPicPr>
            <a:picLocks noChangeAspect="1"/>
          </p:cNvPicPr>
          <p:nvPr/>
        </p:nvPicPr>
        <p:blipFill>
          <a:blip r:embed="rId19"/>
          <a:srcRect l="-5288" r="-5288" t="0" b="0"/>
          <a:stretch/>
        </p:blipFill>
        <p:spPr>
          <a:xfrm>
            <a:off x="838505" y="5201107"/>
            <a:ext cx="105156" cy="95098"/>
          </a:xfrm>
          <a:prstGeom prst="rect">
            <a:avLst/>
          </a:prstGeom>
        </p:spPr>
      </p:pic>
      <p:sp>
        <p:nvSpPr>
          <p:cNvPr id="66" name="Text 45"/>
          <p:cNvSpPr txBox="1"/>
          <p:nvPr/>
        </p:nvSpPr>
        <p:spPr>
          <a:xfrm>
            <a:off x="838505" y="5339182"/>
            <a:ext cx="5115154" cy="191110"/>
          </a:xfrm>
          <a:prstGeom prst="rect">
            <a:avLst/>
          </a:prstGeom>
          <a:noFill/>
          <a:ln/>
        </p:spPr>
        <p:txBody>
          <a:bodyPr wrap="square" lIns="0" tIns="0" rIns="0" bIns="0" rtlCol="0" anchor="ctr"/>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コードのセカンドオピニオン、エッジケース洗い出し。</a:t>
            </a:r>
            <a:endParaRPr lang="en-US" sz="900" dirty="0"/>
          </a:p>
        </p:txBody>
      </p:sp>
      <p:sp>
        <p:nvSpPr>
          <p:cNvPr id="67" name="Text 46"/>
          <p:cNvSpPr txBox="1"/>
          <p:nvPr/>
        </p:nvSpPr>
        <p:spPr>
          <a:xfrm>
            <a:off x="1028700" y="5639105"/>
            <a:ext cx="4849063"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KEY FEATURE</a:t>
            </a:r>
            <a:endParaRPr lang="en-US" sz="800" dirty="0"/>
          </a:p>
        </p:txBody>
      </p:sp>
      <p:pic>
        <p:nvPicPr>
          <p:cNvPr id="68" name="Image 19" descr="preencoded.png">    </p:cNvPr>
          <p:cNvPicPr>
            <a:picLocks noChangeAspect="1"/>
          </p:cNvPicPr>
          <p:nvPr/>
        </p:nvPicPr>
        <p:blipFill>
          <a:blip r:embed="rId20"/>
          <a:srcRect l="-3419" r="-3419" t="0" b="0"/>
          <a:stretch/>
        </p:blipFill>
        <p:spPr>
          <a:xfrm>
            <a:off x="838505" y="5662879"/>
            <a:ext cx="114300" cy="95098"/>
          </a:xfrm>
          <a:prstGeom prst="rect">
            <a:avLst/>
          </a:prstGeom>
        </p:spPr>
      </p:pic>
      <p:sp>
        <p:nvSpPr>
          <p:cNvPr id="69" name="Text 47"/>
          <p:cNvSpPr txBox="1"/>
          <p:nvPr/>
        </p:nvSpPr>
        <p:spPr>
          <a:xfrm>
            <a:off x="838505" y="5800954"/>
            <a:ext cx="5000854" cy="372161"/>
          </a:xfrm>
          <a:prstGeom prst="rect">
            <a:avLst/>
          </a:prstGeom>
          <a:noFill/>
          <a:ln/>
        </p:spPr>
        <p:txBody>
          <a:bodyPr wrap="square" lIns="0" tIns="0" rIns="0" bIns="0" rtlCol="0" anchor="t"/>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 バルクで深い思考を要求するタスクに最適。</a:t>
            </a:r>
            <a:pPr algn="l" indent="0" marL="0">
              <a:buNone/>
            </a:pPr>
            <a:endParaRPr lang="en-US" sz="900" dirty="0"/>
          </a:p>
          <a:p>
            <a:pPr algn="l" indent="0" marL="0">
              <a:buNone/>
            </a:pPr>
            <a:r>
              <a:rPr lang="en-US" sz="900" b="1" dirty="0">
                <a:solidFill>
                  <a:srgbClr val="FB7185"/>
                </a:solidFill>
                <a:latin typeface="Noto Sans JP" pitchFamily="34" charset="0"/>
                <a:ea typeface="Noto Sans JP" pitchFamily="34" charset="-122"/>
                <a:cs typeface="Noto Sans JP" pitchFamily="34" charset="-120"/>
              </a:rPr>
              <a:t>網羅性チェック等の思考時間を代替。</a:t>
            </a:r>
            <a:endParaRPr lang="en-US" sz="900" dirty="0"/>
          </a:p>
        </p:txBody>
      </p:sp>
      <p:sp>
        <p:nvSpPr>
          <p:cNvPr id="70" name="Text 48"/>
          <p:cNvSpPr txBox="1"/>
          <p:nvPr/>
        </p:nvSpPr>
        <p:spPr>
          <a:xfrm>
            <a:off x="1019556" y="6286500"/>
            <a:ext cx="4858207"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COST / ROI</a:t>
            </a:r>
            <a:endParaRPr lang="en-US" sz="800" dirty="0"/>
          </a:p>
        </p:txBody>
      </p:sp>
      <p:pic>
        <p:nvPicPr>
          <p:cNvPr id="71" name="Image 20" descr="preencoded.png">    </p:cNvPr>
          <p:cNvPicPr>
            <a:picLocks noChangeAspect="1"/>
          </p:cNvPicPr>
          <p:nvPr/>
        </p:nvPicPr>
        <p:blipFill>
          <a:blip r:embed="rId21"/>
          <a:srcRect l="-5288" r="-5288" t="0" b="0"/>
          <a:stretch/>
        </p:blipFill>
        <p:spPr>
          <a:xfrm>
            <a:off x="838505" y="6310274"/>
            <a:ext cx="105156" cy="95098"/>
          </a:xfrm>
          <a:prstGeom prst="rect">
            <a:avLst/>
          </a:prstGeom>
        </p:spPr>
      </p:pic>
      <p:sp>
        <p:nvSpPr>
          <p:cNvPr id="72" name="Shape 49"/>
          <p:cNvSpPr/>
          <p:nvPr/>
        </p:nvSpPr>
        <p:spPr>
          <a:xfrm>
            <a:off x="838505" y="6467551"/>
            <a:ext cx="4924044" cy="9144"/>
          </a:xfrm>
          <a:prstGeom prst="rect">
            <a:avLst/>
          </a:prstGeom>
          <a:solidFill>
            <a:srgbClr val="334155">
              <a:alpha val="50000"/>
            </a:srgbClr>
          </a:solidFill>
          <a:ln w="12700">
            <a:solidFill>
              <a:srgbClr val="334155">
                <a:alpha val="0"/>
              </a:srgbClr>
            </a:solidFill>
            <a:prstDash val="solid"/>
          </a:ln>
        </p:spPr>
      </p:sp>
      <p:sp>
        <p:nvSpPr>
          <p:cNvPr id="73" name="Text 50"/>
          <p:cNvSpPr txBox="1"/>
          <p:nvPr/>
        </p:nvSpPr>
        <p:spPr>
          <a:xfrm>
            <a:off x="838505" y="6515100"/>
            <a:ext cx="1826057"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JetBrains Mono" pitchFamily="34" charset="0"/>
                <a:ea typeface="JetBrains Mono" pitchFamily="34" charset="-122"/>
                <a:cs typeface="JetBrains Mono" pitchFamily="34" charset="-120"/>
              </a:rPr>
              <a:t>API / Model</a:t>
            </a:r>
            <a:pPr algn="l" indent="0" marL="0">
              <a:buNone/>
            </a:pPr>
            <a:r>
              <a:rPr lang="en-US" sz="900" b="1" dirty="0">
                <a:solidFill>
                  <a:srgbClr val="94A3B8"/>
                </a:solidFill>
                <a:latin typeface="JetBrains Mono" pitchFamily="34" charset="0"/>
                <a:ea typeface="JetBrains Mono" pitchFamily="34" charset="-122"/>
                <a:cs typeface="JetBrains Mono" pitchFamily="34" charset="-120"/>
              </a:rPr>
              <a:t> (Variable)</a:t>
            </a:r>
            <a:endParaRPr lang="en-US" sz="1000" dirty="0"/>
          </a:p>
        </p:txBody>
      </p:sp>
      <p:sp>
        <p:nvSpPr>
          <p:cNvPr id="74" name="Text 51"/>
          <p:cNvSpPr txBox="1"/>
          <p:nvPr/>
        </p:nvSpPr>
        <p:spPr>
          <a:xfrm>
            <a:off x="1718158" y="6543446"/>
            <a:ext cx="838505" cy="152705"/>
          </a:xfrm>
          <a:prstGeom prst="rect">
            <a:avLst/>
          </a:prstGeom>
          <a:noFill/>
          <a:ln/>
        </p:spPr>
        <p:txBody>
          <a:bodyPr wrap="square" lIns="0" tIns="0" rIns="0" bIns="0" rtlCol="0" anchor="ctr"/>
          <a:lstStyle/>
          <a:p>
            <a:pPr algn="l" indent="0" marL="0">
              <a:buNone/>
            </a:pPr>
            <a:r>
              <a:rPr lang="en-US" sz="900" dirty="0">
                <a:solidFill>
                  <a:srgbClr val="94A3B8"/>
                </a:solidFill>
                <a:latin typeface="JetBrains Mono" pitchFamily="34" charset="0"/>
                <a:ea typeface="JetBrains Mono" pitchFamily="34" charset="-122"/>
                <a:cs typeface="JetBrains Mono" pitchFamily="34" charset="-120"/>
              </a:rPr>
              <a:t>(Variable)</a:t>
            </a:r>
            <a:endParaRPr lang="en-US" sz="900" dirty="0"/>
          </a:p>
        </p:txBody>
      </p:sp>
      <p:sp>
        <p:nvSpPr>
          <p:cNvPr id="75" name="Text 52"/>
          <p:cNvSpPr txBox="1"/>
          <p:nvPr/>
        </p:nvSpPr>
        <p:spPr>
          <a:xfrm>
            <a:off x="4432097" y="6543446"/>
            <a:ext cx="1440180" cy="143561"/>
          </a:xfrm>
          <a:prstGeom prst="rect">
            <a:avLst/>
          </a:prstGeom>
          <a:noFill/>
          <a:ln/>
        </p:spPr>
        <p:txBody>
          <a:bodyPr wrap="square" lIns="0" tIns="0" rIns="0" bIns="0" rtlCol="0" anchor="ctr"/>
          <a:lstStyle/>
          <a:p>
            <a:pPr algn="l" indent="0" marL="0">
              <a:buNone/>
            </a:pPr>
            <a:r>
              <a:rPr lang="en-US" sz="800" dirty="0">
                <a:solidFill>
                  <a:srgbClr val="94A3B8"/>
                </a:solidFill>
                <a:latin typeface="Noto Sans JP" pitchFamily="34" charset="0"/>
                <a:ea typeface="Noto Sans JP" pitchFamily="34" charset="-122"/>
                <a:cs typeface="Noto Sans JP" pitchFamily="34" charset="-120"/>
              </a:rPr>
              <a:t>モデル切り替えでコスト最適化</a:t>
            </a:r>
            <a:endParaRPr lang="en-US" sz="800" dirty="0"/>
          </a:p>
        </p:txBody>
      </p:sp>
      <p:sp>
        <p:nvSpPr>
          <p:cNvPr id="76" name="Shape 53"/>
          <p:cNvSpPr/>
          <p:nvPr/>
        </p:nvSpPr>
        <p:spPr>
          <a:xfrm>
            <a:off x="6191402" y="4205326"/>
            <a:ext cx="5429707" cy="2704795"/>
          </a:xfrm>
          <a:prstGeom prst="roundRect">
            <a:avLst>
              <a:gd name="adj" fmla="val 1905"/>
            </a:avLst>
          </a:prstGeom>
          <a:solidFill>
            <a:srgbClr val="1E293B">
              <a:alpha val="60000"/>
            </a:srgbClr>
          </a:solidFill>
          <a:ln w="12700">
            <a:solidFill>
              <a:srgbClr val="94A3B8">
                <a:alpha val="10000"/>
              </a:srgbClr>
            </a:solidFill>
            <a:prstDash val="solid"/>
          </a:ln>
        </p:spPr>
      </p:sp>
      <p:sp>
        <p:nvSpPr>
          <p:cNvPr id="77" name="Shape 54"/>
          <p:cNvSpPr/>
          <p:nvPr/>
        </p:nvSpPr>
        <p:spPr>
          <a:xfrm>
            <a:off x="6191402" y="4205326"/>
            <a:ext cx="38405" cy="2704795"/>
          </a:xfrm>
          <a:prstGeom prst="roundRect">
            <a:avLst>
              <a:gd name="adj" fmla="val 134137"/>
            </a:avLst>
          </a:prstGeom>
          <a:solidFill>
            <a:srgbClr val="F59E0B"/>
          </a:solidFill>
          <a:ln w="12700">
            <a:solidFill>
              <a:srgbClr val="F59E0B">
                <a:alpha val="0"/>
              </a:srgbClr>
            </a:solidFill>
            <a:prstDash val="solid"/>
          </a:ln>
        </p:spPr>
      </p:sp>
      <p:sp>
        <p:nvSpPr>
          <p:cNvPr id="78" name="Shape 55"/>
          <p:cNvSpPr/>
          <p:nvPr/>
        </p:nvSpPr>
        <p:spPr>
          <a:xfrm>
            <a:off x="6458407" y="5053889"/>
            <a:ext cx="4924044" cy="9144"/>
          </a:xfrm>
          <a:prstGeom prst="rect">
            <a:avLst/>
          </a:prstGeom>
          <a:solidFill>
            <a:srgbClr val="FFFFFF">
              <a:alpha val="5000"/>
            </a:srgbClr>
          </a:solidFill>
          <a:ln w="12700">
            <a:solidFill>
              <a:srgbClr val="FFFFFF">
                <a:alpha val="0"/>
              </a:srgbClr>
            </a:solidFill>
            <a:prstDash val="solid"/>
          </a:ln>
        </p:spPr>
      </p:sp>
      <p:sp>
        <p:nvSpPr>
          <p:cNvPr id="79" name="Shape 56"/>
          <p:cNvSpPr/>
          <p:nvPr/>
        </p:nvSpPr>
        <p:spPr>
          <a:xfrm>
            <a:off x="6458407" y="4453128"/>
            <a:ext cx="457200" cy="457200"/>
          </a:xfrm>
          <a:prstGeom prst="roundRect">
            <a:avLst>
              <a:gd name="adj" fmla="val 50000"/>
            </a:avLst>
          </a:prstGeom>
          <a:solidFill>
            <a:srgbClr val="F59E0B">
              <a:alpha val="20000"/>
            </a:srgbClr>
          </a:solidFill>
          <a:ln w="12700">
            <a:solidFill>
              <a:srgbClr val="F59E0B">
                <a:alpha val="30000"/>
              </a:srgbClr>
            </a:solidFill>
            <a:prstDash val="solid"/>
          </a:ln>
        </p:spPr>
      </p:sp>
      <p:pic>
        <p:nvPicPr>
          <p:cNvPr id="80" name="Image 21" descr="preencoded.png">    </p:cNvPr>
          <p:cNvPicPr>
            <a:picLocks noChangeAspect="1"/>
          </p:cNvPicPr>
          <p:nvPr/>
        </p:nvPicPr>
        <p:blipFill>
          <a:blip r:embed="rId22"/>
          <a:srcRect l="-80" r="-80" t="0" b="0"/>
          <a:stretch/>
        </p:blipFill>
        <p:spPr>
          <a:xfrm>
            <a:off x="6543446" y="4567428"/>
            <a:ext cx="286207" cy="228600"/>
          </a:xfrm>
          <a:prstGeom prst="rect">
            <a:avLst/>
          </a:prstGeom>
        </p:spPr>
      </p:pic>
      <p:sp>
        <p:nvSpPr>
          <p:cNvPr id="81" name="Text 57"/>
          <p:cNvSpPr txBox="1"/>
          <p:nvPr/>
        </p:nvSpPr>
        <p:spPr>
          <a:xfrm>
            <a:off x="7048195" y="4405579"/>
            <a:ext cx="752551" cy="305410"/>
          </a:xfrm>
          <a:prstGeom prst="rect">
            <a:avLst/>
          </a:prstGeom>
          <a:no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Devin</a:t>
            </a:r>
            <a:endParaRPr lang="en-US" sz="1800" dirty="0"/>
          </a:p>
        </p:txBody>
      </p:sp>
      <p:pic>
        <p:nvPicPr>
          <p:cNvPr id="82" name="Image 22" descr="preencoded.png">    </p:cNvPr>
          <p:cNvPicPr>
            <a:picLocks noChangeAspect="1"/>
          </p:cNvPicPr>
          <p:nvPr/>
        </p:nvPicPr>
        <p:blipFill>
          <a:blip r:embed="rId23"/>
          <a:stretch>
            <a:fillRect/>
          </a:stretch>
        </p:blipFill>
        <p:spPr>
          <a:xfrm>
            <a:off x="7048195" y="4776826"/>
            <a:ext cx="676656" cy="200254"/>
          </a:xfrm>
          <a:prstGeom prst="rect">
            <a:avLst/>
          </a:prstGeom>
        </p:spPr>
      </p:pic>
      <p:sp>
        <p:nvSpPr>
          <p:cNvPr id="83" name="Text 58"/>
          <p:cNvSpPr/>
          <p:nvPr/>
        </p:nvSpPr>
        <p:spPr>
          <a:xfrm>
            <a:off x="7048195" y="4776826"/>
            <a:ext cx="676656" cy="200254"/>
          </a:xfrm>
          <a:prstGeom prst="rect">
            <a:avLst/>
          </a:prstGeom>
          <a:solidFill>
            <a:srgbClr val="FFFFFF">
              <a:alpha val="0"/>
            </a:srgbClr>
          </a:solidFill>
          <a:ln w="12700">
            <a:solidFill>
              <a:srgbClr val="F59E0B">
                <a:alpha val="20000"/>
              </a:srgbClr>
            </a:solidFill>
          </a:ln>
        </p:spPr>
        <p:txBody>
          <a:bodyPr wrap="square" lIns="0" tIns="0" rIns="0" bIns="0" rtlCol="0" anchor="ctr"/>
          <a:lstStyle/>
          <a:p>
            <a:pPr algn="ctr" indent="0" marL="0">
              <a:buNone/>
            </a:pPr>
            <a:r>
              <a:rPr lang="en-US" sz="800" b="1" spc="38" kern="0" dirty="0">
                <a:solidFill>
                  <a:srgbClr val="FBBF24"/>
                </a:solidFill>
                <a:latin typeface="JetBrains Mono" pitchFamily="34" charset="0"/>
                <a:ea typeface="JetBrains Mono" pitchFamily="34" charset="-122"/>
                <a:cs typeface="JetBrains Mono" pitchFamily="34" charset="-120"/>
              </a:rPr>
              <a:t>完全自律型</a:t>
            </a:r>
            <a:endParaRPr lang="en-US" sz="800" dirty="0"/>
          </a:p>
        </p:txBody>
      </p:sp>
      <p:sp>
        <p:nvSpPr>
          <p:cNvPr id="84" name="Text 59"/>
          <p:cNvSpPr txBox="1"/>
          <p:nvPr/>
        </p:nvSpPr>
        <p:spPr>
          <a:xfrm>
            <a:off x="6639458" y="5176418"/>
            <a:ext cx="4858207"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USE CASE</a:t>
            </a:r>
            <a:endParaRPr lang="en-US" sz="800" dirty="0"/>
          </a:p>
        </p:txBody>
      </p:sp>
      <p:pic>
        <p:nvPicPr>
          <p:cNvPr id="85" name="Image 23" descr="preencoded.png">    </p:cNvPr>
          <p:cNvPicPr>
            <a:picLocks noChangeAspect="1"/>
          </p:cNvPicPr>
          <p:nvPr/>
        </p:nvPicPr>
        <p:blipFill>
          <a:blip r:embed="rId24"/>
          <a:srcRect l="-5288" r="-5288" t="0" b="0"/>
          <a:stretch/>
        </p:blipFill>
        <p:spPr>
          <a:xfrm>
            <a:off x="6458407" y="5201107"/>
            <a:ext cx="105156" cy="95098"/>
          </a:xfrm>
          <a:prstGeom prst="rect">
            <a:avLst/>
          </a:prstGeom>
        </p:spPr>
      </p:pic>
      <p:sp>
        <p:nvSpPr>
          <p:cNvPr id="86" name="Text 60"/>
          <p:cNvSpPr txBox="1"/>
          <p:nvPr/>
        </p:nvSpPr>
        <p:spPr>
          <a:xfrm>
            <a:off x="6458407" y="5339182"/>
            <a:ext cx="5039258" cy="191110"/>
          </a:xfrm>
          <a:prstGeom prst="rect">
            <a:avLst/>
          </a:prstGeom>
          <a:noFill/>
          <a:ln/>
        </p:spPr>
        <p:txBody>
          <a:bodyPr wrap="square" lIns="0" tIns="0" rIns="0" bIns="0" rtlCol="0" anchor="ctr"/>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Issue消化、環境構築、E2Eテスト、PR作成。</a:t>
            </a:r>
            <a:endParaRPr lang="en-US" sz="900" dirty="0"/>
          </a:p>
        </p:txBody>
      </p:sp>
      <p:sp>
        <p:nvSpPr>
          <p:cNvPr id="87" name="Text 61"/>
          <p:cNvSpPr txBox="1"/>
          <p:nvPr/>
        </p:nvSpPr>
        <p:spPr>
          <a:xfrm>
            <a:off x="6648602" y="5600700"/>
            <a:ext cx="4849063"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KEY FEATURE</a:t>
            </a:r>
            <a:endParaRPr lang="en-US" sz="800" dirty="0"/>
          </a:p>
        </p:txBody>
      </p:sp>
      <p:pic>
        <p:nvPicPr>
          <p:cNvPr id="88" name="Image 24" descr="preencoded.png">    </p:cNvPr>
          <p:cNvPicPr>
            <a:picLocks noChangeAspect="1"/>
          </p:cNvPicPr>
          <p:nvPr/>
        </p:nvPicPr>
        <p:blipFill>
          <a:blip r:embed="rId25"/>
          <a:srcRect l="-3419" r="-3419" t="0" b="0"/>
          <a:stretch/>
        </p:blipFill>
        <p:spPr>
          <a:xfrm>
            <a:off x="6458407" y="5624474"/>
            <a:ext cx="114300" cy="95098"/>
          </a:xfrm>
          <a:prstGeom prst="rect">
            <a:avLst/>
          </a:prstGeom>
        </p:spPr>
      </p:pic>
      <p:sp>
        <p:nvSpPr>
          <p:cNvPr id="89" name="Text 62"/>
          <p:cNvSpPr txBox="1"/>
          <p:nvPr/>
        </p:nvSpPr>
        <p:spPr>
          <a:xfrm>
            <a:off x="6458407" y="5762549"/>
            <a:ext cx="5000854" cy="372161"/>
          </a:xfrm>
          <a:prstGeom prst="rect">
            <a:avLst/>
          </a:prstGeom>
          <a:noFill/>
          <a:ln/>
        </p:spPr>
        <p:txBody>
          <a:bodyPr wrap="square" lIns="0" tIns="0" rIns="0" bIns="0" rtlCol="0" anchor="t"/>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 環境操作を含め完結。「1人のジュニア」として振る舞う。</a:t>
            </a:r>
            <a:pPr algn="l" indent="0" marL="0">
              <a:buNone/>
            </a:pPr>
            <a:endParaRPr lang="en-US" sz="900" dirty="0"/>
          </a:p>
          <a:p>
            <a:pPr algn="l" indent="0" marL="0">
              <a:buNone/>
            </a:pPr>
            <a:r>
              <a:rPr lang="en-US" sz="900" b="1" dirty="0">
                <a:solidFill>
                  <a:srgbClr val="FBBF24"/>
                </a:solidFill>
                <a:latin typeface="Noto Sans JP" pitchFamily="34" charset="0"/>
                <a:ea typeface="Noto Sans JP" pitchFamily="34" charset="-122"/>
                <a:cs typeface="Noto Sans JP" pitchFamily="34" charset="-120"/>
              </a:rPr>
              <a:t>採用コスト不要の労働力。</a:t>
            </a:r>
            <a:endParaRPr lang="en-US" sz="900" dirty="0"/>
          </a:p>
        </p:txBody>
      </p:sp>
      <p:sp>
        <p:nvSpPr>
          <p:cNvPr id="90" name="Text 63"/>
          <p:cNvSpPr txBox="1"/>
          <p:nvPr/>
        </p:nvSpPr>
        <p:spPr>
          <a:xfrm>
            <a:off x="6639458" y="6210605"/>
            <a:ext cx="4858207" cy="143561"/>
          </a:xfrm>
          <a:prstGeom prst="rect">
            <a:avLst/>
          </a:prstGeom>
          <a:noFill/>
          <a:ln/>
        </p:spPr>
        <p:txBody>
          <a:bodyPr wrap="square" lIns="0" tIns="0" rIns="0" bIns="0" rtlCol="0" anchor="ctr"/>
          <a:lstStyle/>
          <a:p>
            <a:pPr algn="l" indent="0" marL="0">
              <a:buNone/>
            </a:pPr>
            <a:r>
              <a:rPr lang="en-US" sz="800" b="1" spc="38" kern="0" dirty="0">
                <a:solidFill>
                  <a:srgbClr val="94A3B8"/>
                </a:solidFill>
                <a:latin typeface="Noto Sans JP" pitchFamily="34" charset="0"/>
                <a:ea typeface="Noto Sans JP" pitchFamily="34" charset="-122"/>
                <a:cs typeface="Noto Sans JP" pitchFamily="34" charset="-120"/>
              </a:rPr>
              <a:t> COST / ROI</a:t>
            </a:r>
            <a:endParaRPr lang="en-US" sz="800" dirty="0"/>
          </a:p>
        </p:txBody>
      </p:sp>
      <p:pic>
        <p:nvPicPr>
          <p:cNvPr id="91" name="Image 25" descr="preencoded.png">    </p:cNvPr>
          <p:cNvPicPr>
            <a:picLocks noChangeAspect="1"/>
          </p:cNvPicPr>
          <p:nvPr/>
        </p:nvPicPr>
        <p:blipFill>
          <a:blip r:embed="rId26"/>
          <a:srcRect l="-5288" r="-5288" t="0" b="0"/>
          <a:stretch/>
        </p:blipFill>
        <p:spPr>
          <a:xfrm>
            <a:off x="6458407" y="6234379"/>
            <a:ext cx="105156" cy="95098"/>
          </a:xfrm>
          <a:prstGeom prst="rect">
            <a:avLst/>
          </a:prstGeom>
        </p:spPr>
      </p:pic>
      <p:sp>
        <p:nvSpPr>
          <p:cNvPr id="92" name="Shape 64"/>
          <p:cNvSpPr/>
          <p:nvPr/>
        </p:nvSpPr>
        <p:spPr>
          <a:xfrm>
            <a:off x="6458407" y="6391656"/>
            <a:ext cx="4924044" cy="9144"/>
          </a:xfrm>
          <a:prstGeom prst="rect">
            <a:avLst/>
          </a:prstGeom>
          <a:solidFill>
            <a:srgbClr val="334155">
              <a:alpha val="50000"/>
            </a:srgbClr>
          </a:solidFill>
          <a:ln w="12700">
            <a:solidFill>
              <a:srgbClr val="334155">
                <a:alpha val="0"/>
              </a:srgbClr>
            </a:solidFill>
            <a:prstDash val="solid"/>
          </a:ln>
        </p:spPr>
      </p:sp>
      <p:sp>
        <p:nvSpPr>
          <p:cNvPr id="93" name="Text 65"/>
          <p:cNvSpPr txBox="1"/>
          <p:nvPr/>
        </p:nvSpPr>
        <p:spPr>
          <a:xfrm>
            <a:off x="6458407" y="6439205"/>
            <a:ext cx="1032358" cy="267005"/>
          </a:xfrm>
          <a:prstGeom prst="rect">
            <a:avLst/>
          </a:prstGeom>
          <a:noFill/>
          <a:ln/>
        </p:spPr>
        <p:txBody>
          <a:bodyPr wrap="square" lIns="0" tIns="0" rIns="0" bIns="0" rtlCol="0" anchor="ctr"/>
          <a:lstStyle/>
          <a:p>
            <a:pPr algn="l" indent="0" marL="0">
              <a:buNone/>
            </a:pPr>
            <a:r>
              <a:rPr lang="en-US" sz="1300" b="1" dirty="0">
                <a:solidFill>
                  <a:srgbClr val="FFFFFF"/>
                </a:solidFill>
                <a:latin typeface="JetBrains Mono" pitchFamily="34" charset="0"/>
                <a:ea typeface="JetBrains Mono" pitchFamily="34" charset="-122"/>
                <a:cs typeface="JetBrains Mono" pitchFamily="34" charset="-120"/>
              </a:rPr>
              <a:t>~$500</a:t>
            </a:r>
            <a:pPr algn="l" indent="0" marL="0">
              <a:buNone/>
            </a:pPr>
            <a:r>
              <a:rPr lang="en-US" sz="900" b="1" dirty="0">
                <a:solidFill>
                  <a:srgbClr val="94A3B8"/>
                </a:solidFill>
                <a:latin typeface="JetBrains Mono" pitchFamily="34" charset="0"/>
                <a:ea typeface="JetBrains Mono" pitchFamily="34" charset="-122"/>
                <a:cs typeface="JetBrains Mono" pitchFamily="34" charset="-120"/>
              </a:rPr>
              <a:t> / mo</a:t>
            </a:r>
            <a:endParaRPr lang="en-US" sz="1300" dirty="0"/>
          </a:p>
        </p:txBody>
      </p:sp>
      <p:sp>
        <p:nvSpPr>
          <p:cNvPr id="94" name="Text 66"/>
          <p:cNvSpPr txBox="1"/>
          <p:nvPr/>
        </p:nvSpPr>
        <p:spPr>
          <a:xfrm>
            <a:off x="6972300" y="6515100"/>
            <a:ext cx="428854" cy="152705"/>
          </a:xfrm>
          <a:prstGeom prst="rect">
            <a:avLst/>
          </a:prstGeom>
          <a:noFill/>
          <a:ln/>
        </p:spPr>
        <p:txBody>
          <a:bodyPr wrap="square" lIns="0" tIns="0" rIns="0" bIns="0" rtlCol="0" anchor="ctr"/>
          <a:lstStyle/>
          <a:p>
            <a:pPr algn="l" indent="0" marL="0">
              <a:buNone/>
            </a:pPr>
            <a:r>
              <a:rPr lang="en-US" sz="900" dirty="0">
                <a:solidFill>
                  <a:srgbClr val="94A3B8"/>
                </a:solidFill>
                <a:latin typeface="JetBrains Mono" pitchFamily="34" charset="0"/>
                <a:ea typeface="JetBrains Mono" pitchFamily="34" charset="-122"/>
                <a:cs typeface="JetBrains Mono" pitchFamily="34" charset="-120"/>
              </a:rPr>
              <a:t>/ mo</a:t>
            </a:r>
            <a:endParaRPr lang="en-US" sz="900" dirty="0"/>
          </a:p>
        </p:txBody>
      </p:sp>
      <p:sp>
        <p:nvSpPr>
          <p:cNvPr id="95" name="Text 67"/>
          <p:cNvSpPr txBox="1"/>
          <p:nvPr/>
        </p:nvSpPr>
        <p:spPr>
          <a:xfrm>
            <a:off x="10042855" y="6515100"/>
            <a:ext cx="1514246" cy="143561"/>
          </a:xfrm>
          <a:prstGeom prst="rect">
            <a:avLst/>
          </a:prstGeom>
          <a:noFill/>
          <a:ln/>
        </p:spPr>
        <p:txBody>
          <a:bodyPr wrap="square" lIns="0" tIns="0" rIns="0" bIns="0" rtlCol="0" anchor="ctr"/>
          <a:lstStyle/>
          <a:p>
            <a:pPr algn="l" indent="0" marL="0">
              <a:buNone/>
            </a:pPr>
            <a:r>
              <a:rPr lang="en-US" sz="800" dirty="0">
                <a:solidFill>
                  <a:srgbClr val="94A3B8"/>
                </a:solidFill>
                <a:latin typeface="Noto Sans JP" pitchFamily="34" charset="0"/>
                <a:ea typeface="Noto Sans JP" pitchFamily="34" charset="-122"/>
                <a:cs typeface="Noto Sans JP" pitchFamily="34" charset="-120"/>
              </a:rPr>
              <a:t>人月単価比 1/100 の圧倒的安さ</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0F172A"/>
          </a:solidFill>
          <a:ln w="12700">
            <a:solidFill>
              <a:srgbClr val="FFFFFF">
                <a:alpha val="0"/>
              </a:srgbClr>
            </a:solidFill>
            <a:prstDash val="solid"/>
          </a:ln>
        </p:spPr>
      </p:sp>
      <p:pic>
        <p:nvPicPr>
          <p:cNvPr id="4" name="Image 0" descr="preencoded.png">    </p:cNvPr>
          <p:cNvPicPr>
            <a:picLocks noChangeAspect="1"/>
          </p:cNvPicPr>
          <p:nvPr/>
        </p:nvPicPr>
        <p:blipFill>
          <a:blip r:embed="rId1">
            <a:alphaModFix amt="10000"/>
          </a:blip>
          <a:srcRect l="0" r="0" t="-1" b="-1"/>
          <a:stretch/>
        </p:blipFill>
        <p:spPr>
          <a:xfrm>
            <a:off x="0" y="0"/>
            <a:ext cx="12191695" cy="6858000"/>
          </a:xfrm>
          <a:prstGeom prst="rect">
            <a:avLst/>
          </a:prstGeom>
        </p:spPr>
      </p:pic>
      <p:pic>
        <p:nvPicPr>
          <p:cNvPr id="5" name="Image 1" descr="preencoded.png">    </p:cNvPr>
          <p:cNvPicPr>
            <a:picLocks noChangeAspect="1"/>
          </p:cNvPicPr>
          <p:nvPr/>
        </p:nvPicPr>
        <p:blipFill>
          <a:blip r:embed="rId2"/>
          <a:stretch>
            <a:fillRect/>
          </a:stretch>
        </p:blipFill>
        <p:spPr>
          <a:xfrm>
            <a:off x="571500" y="381305"/>
            <a:ext cx="2162556" cy="247802"/>
          </a:xfrm>
          <a:prstGeom prst="rect">
            <a:avLst/>
          </a:prstGeom>
        </p:spPr>
      </p:pic>
      <p:sp>
        <p:nvSpPr>
          <p:cNvPr id="6" name="Text 2"/>
          <p:cNvSpPr/>
          <p:nvPr/>
        </p:nvSpPr>
        <p:spPr>
          <a:xfrm>
            <a:off x="923544" y="381305"/>
            <a:ext cx="1810512" cy="247802"/>
          </a:xfrm>
          <a:prstGeom prst="rect">
            <a:avLst/>
          </a:prstGeom>
          <a:solidFill>
            <a:srgbClr val="FFFFFF">
              <a:alpha val="0"/>
            </a:srgbClr>
          </a:solidFill>
          <a:ln w="12700">
            <a:solidFill>
              <a:srgbClr val="581C87">
                <a:alpha val="50000"/>
              </a:srgbClr>
            </a:solidFill>
          </a:ln>
        </p:spPr>
        <p:txBody>
          <a:bodyPr wrap="square" lIns="0" tIns="0" rIns="0" bIns="0" rtlCol="0" anchor="ctr"/>
          <a:lstStyle/>
          <a:p>
            <a:pPr algn="ctr" indent="0" marL="0">
              <a:buNone/>
            </a:pPr>
            <a:r>
              <a:rPr lang="en-US" sz="900" b="1" spc="45" kern="0" dirty="0">
                <a:solidFill>
                  <a:srgbClr val="C084FC"/>
                </a:solidFill>
                <a:latin typeface="Noto Sans JP" pitchFamily="34" charset="0"/>
                <a:ea typeface="Noto Sans JP" pitchFamily="34" charset="-122"/>
                <a:cs typeface="Noto Sans JP" pitchFamily="34" charset="-120"/>
              </a:rPr>
              <a:t>WORKFLOW ARCHITECTURE</a:t>
            </a:r>
            <a:endParaRPr lang="en-US" sz="900" dirty="0"/>
          </a:p>
        </p:txBody>
      </p:sp>
      <p:sp>
        <p:nvSpPr>
          <p:cNvPr id="7" name="Text 3"/>
          <p:cNvSpPr txBox="1"/>
          <p:nvPr/>
        </p:nvSpPr>
        <p:spPr>
          <a:xfrm>
            <a:off x="571500" y="705002"/>
            <a:ext cx="7239305" cy="381305"/>
          </a:xfrm>
          <a:prstGeom prst="rect">
            <a:avLst/>
          </a:prstGeom>
          <a:noFill/>
          <a:ln/>
        </p:spPr>
        <p:txBody>
          <a:bodyPr wrap="square" lIns="0" tIns="0" rIns="0" bIns="0" rtlCol="0" anchor="ctr"/>
          <a:lstStyle/>
          <a:p>
            <a:pPr algn="l" indent="0" marL="0">
              <a:buNone/>
            </a:pPr>
            <a:r>
              <a:rPr lang="en-US" sz="2700" b="1" spc="-67" kern="0" dirty="0">
                <a:solidFill>
                  <a:srgbClr val="FFFFFF"/>
                </a:solidFill>
                <a:latin typeface="Noto Sans JP" pitchFamily="34" charset="0"/>
                <a:ea typeface="Noto Sans JP" pitchFamily="34" charset="-122"/>
                <a:cs typeface="Noto Sans JP" pitchFamily="34" charset="-120"/>
              </a:rPr>
              <a:t> 多層フィルタリング・</a:t>
            </a:r>
            <a:pPr algn="l" indent="0" marL="0">
              <a:buNone/>
            </a:pPr>
            <a:r>
              <a:rPr lang="en-US" sz="2700" b="1" spc="-67" kern="0" dirty="0">
                <a:solidFill>
                  <a:srgbClr val="C084FC"/>
                </a:solidFill>
                <a:latin typeface="Noto Sans JP" pitchFamily="34" charset="0"/>
                <a:ea typeface="Noto Sans JP" pitchFamily="34" charset="-122"/>
                <a:cs typeface="Noto Sans JP" pitchFamily="34" charset="-120"/>
              </a:rPr>
              <a:t>アーキテクチャ</a:t>
            </a:r>
            <a:endParaRPr lang="en-US" sz="2700" dirty="0"/>
          </a:p>
        </p:txBody>
      </p:sp>
      <p:sp>
        <p:nvSpPr>
          <p:cNvPr id="8" name="Text 4"/>
          <p:cNvSpPr txBox="1"/>
          <p:nvPr/>
        </p:nvSpPr>
        <p:spPr>
          <a:xfrm>
            <a:off x="8113471" y="705002"/>
            <a:ext cx="3514954" cy="191110"/>
          </a:xfrm>
          <a:prstGeom prst="rect">
            <a:avLst/>
          </a:prstGeom>
          <a:noFill/>
          <a:ln/>
        </p:spPr>
        <p:txBody>
          <a:bodyPr wrap="square" lIns="0" tIns="0" rIns="0" bIns="0" rtlCol="0" anchor="ctr"/>
          <a:lstStyle/>
          <a:p>
            <a:pPr algn="r" indent="0" marL="0">
              <a:buNone/>
            </a:pPr>
            <a:r>
              <a:rPr lang="en-US" sz="1000" dirty="0">
                <a:solidFill>
                  <a:srgbClr val="94A3B8"/>
                </a:solidFill>
                <a:latin typeface="Noto Sans JP" pitchFamily="34" charset="0"/>
                <a:ea typeface="Noto Sans JP" pitchFamily="34" charset="-122"/>
                <a:cs typeface="Noto Sans JP" pitchFamily="34" charset="-120"/>
              </a:rPr>
              <a:t>人間とAIの協働による「品質の多層防御」パイプライン</a:t>
            </a:r>
            <a:endParaRPr lang="en-US" sz="1000" dirty="0"/>
          </a:p>
        </p:txBody>
      </p:sp>
      <p:sp>
        <p:nvSpPr>
          <p:cNvPr id="9" name="Text 5"/>
          <p:cNvSpPr txBox="1"/>
          <p:nvPr/>
        </p:nvSpPr>
        <p:spPr>
          <a:xfrm>
            <a:off x="10004450" y="933602"/>
            <a:ext cx="771754" cy="152705"/>
          </a:xfrm>
          <a:prstGeom prst="rect">
            <a:avLst/>
          </a:prstGeom>
          <a:noFill/>
          <a:ln/>
        </p:spPr>
        <p:txBody>
          <a:bodyPr wrap="square" lIns="0" tIns="0" rIns="0" bIns="0" rtlCol="0" anchor="ctr"/>
          <a:lstStyle/>
          <a:p>
            <a:pPr algn="r" indent="0" marL="0">
              <a:buNone/>
            </a:pPr>
            <a:r>
              <a:rPr lang="en-US" sz="900" dirty="0">
                <a:solidFill>
                  <a:srgbClr val="64748B"/>
                </a:solidFill>
                <a:latin typeface="JetBrains Mono" pitchFamily="34" charset="0"/>
                <a:ea typeface="JetBrains Mono" pitchFamily="34" charset="-122"/>
                <a:cs typeface="JetBrains Mono" pitchFamily="34" charset="-120"/>
              </a:rPr>
              <a:t>HUMAN &amp; AI</a:t>
            </a:r>
            <a:endParaRPr lang="en-US" sz="900" dirty="0"/>
          </a:p>
        </p:txBody>
      </p:sp>
      <p:sp>
        <p:nvSpPr>
          <p:cNvPr id="10" name="Shape 6"/>
          <p:cNvSpPr/>
          <p:nvPr/>
        </p:nvSpPr>
        <p:spPr>
          <a:xfrm>
            <a:off x="9928555" y="972007"/>
            <a:ext cx="75895" cy="75895"/>
          </a:xfrm>
          <a:prstGeom prst="ellipse">
            <a:avLst/>
          </a:prstGeom>
          <a:solidFill>
            <a:srgbClr val="3B82F6"/>
          </a:solidFill>
          <a:ln w="12700">
            <a:solidFill>
              <a:srgbClr val="FFFFFF">
                <a:alpha val="0"/>
              </a:srgbClr>
            </a:solidFill>
            <a:prstDash val="solid"/>
          </a:ln>
        </p:spPr>
      </p:sp>
      <p:sp>
        <p:nvSpPr>
          <p:cNvPr id="11" name="Text 7"/>
          <p:cNvSpPr txBox="1"/>
          <p:nvPr/>
        </p:nvSpPr>
        <p:spPr>
          <a:xfrm>
            <a:off x="10995660" y="933602"/>
            <a:ext cx="629107" cy="152705"/>
          </a:xfrm>
          <a:prstGeom prst="rect">
            <a:avLst/>
          </a:prstGeom>
          <a:noFill/>
          <a:ln/>
        </p:spPr>
        <p:txBody>
          <a:bodyPr wrap="square" lIns="0" tIns="0" rIns="0" bIns="0" rtlCol="0" anchor="ctr"/>
          <a:lstStyle/>
          <a:p>
            <a:pPr algn="r" indent="0" marL="0">
              <a:buNone/>
            </a:pPr>
            <a:r>
              <a:rPr lang="en-US" sz="900" dirty="0">
                <a:solidFill>
                  <a:srgbClr val="64748B"/>
                </a:solidFill>
                <a:latin typeface="JetBrains Mono" pitchFamily="34" charset="0"/>
                <a:ea typeface="JetBrains Mono" pitchFamily="34" charset="-122"/>
                <a:cs typeface="JetBrains Mono" pitchFamily="34" charset="-120"/>
              </a:rPr>
              <a:t>AI AGENT</a:t>
            </a:r>
            <a:endParaRPr lang="en-US" sz="900" dirty="0"/>
          </a:p>
        </p:txBody>
      </p:sp>
      <p:sp>
        <p:nvSpPr>
          <p:cNvPr id="12" name="Shape 8"/>
          <p:cNvSpPr/>
          <p:nvPr/>
        </p:nvSpPr>
        <p:spPr>
          <a:xfrm>
            <a:off x="10919765" y="972007"/>
            <a:ext cx="75895" cy="75895"/>
          </a:xfrm>
          <a:prstGeom prst="ellipse">
            <a:avLst/>
          </a:prstGeom>
          <a:solidFill>
            <a:srgbClr val="A855F7"/>
          </a:solidFill>
          <a:ln w="12700">
            <a:solidFill>
              <a:srgbClr val="FFFFFF">
                <a:alpha val="0"/>
              </a:srgbClr>
            </a:solidFill>
            <a:prstDash val="solid"/>
          </a:ln>
        </p:spPr>
      </p:sp>
      <p:pic>
        <p:nvPicPr>
          <p:cNvPr id="13" name="Image 2" descr="preencoded.png">    </p:cNvPr>
          <p:cNvPicPr>
            <a:picLocks noChangeAspect="1"/>
          </p:cNvPicPr>
          <p:nvPr/>
        </p:nvPicPr>
        <p:blipFill>
          <a:blip r:embed="rId3"/>
          <a:srcRect l="-3440" r="-3440" t="0" b="0"/>
          <a:stretch/>
        </p:blipFill>
        <p:spPr>
          <a:xfrm>
            <a:off x="694944" y="452628"/>
            <a:ext cx="152705" cy="114300"/>
          </a:xfrm>
          <a:prstGeom prst="rect">
            <a:avLst/>
          </a:prstGeom>
        </p:spPr>
      </p:pic>
      <p:pic>
        <p:nvPicPr>
          <p:cNvPr id="14" name="Image 3" descr="preencoded.png">    </p:cNvPr>
          <p:cNvPicPr>
            <a:picLocks noChangeAspect="1"/>
          </p:cNvPicPr>
          <p:nvPr/>
        </p:nvPicPr>
        <p:blipFill>
          <a:blip r:embed="rId4"/>
          <a:srcRect l="-1923" r="-1923" t="0" b="0"/>
          <a:stretch/>
        </p:blipFill>
        <p:spPr>
          <a:xfrm>
            <a:off x="3176626" y="3409798"/>
            <a:ext cx="123444" cy="190195"/>
          </a:xfrm>
          <a:prstGeom prst="rect">
            <a:avLst/>
          </a:prstGeom>
        </p:spPr>
      </p:pic>
      <p:pic>
        <p:nvPicPr>
          <p:cNvPr id="15" name="Image 4" descr="preencoded.png">    </p:cNvPr>
          <p:cNvPicPr>
            <a:picLocks noChangeAspect="1"/>
          </p:cNvPicPr>
          <p:nvPr/>
        </p:nvPicPr>
        <p:blipFill>
          <a:blip r:embed="rId5"/>
          <a:srcRect l="-1923" r="-1923" t="0" b="0"/>
          <a:stretch/>
        </p:blipFill>
        <p:spPr>
          <a:xfrm>
            <a:off x="6034126" y="3409798"/>
            <a:ext cx="123444" cy="190195"/>
          </a:xfrm>
          <a:prstGeom prst="rect">
            <a:avLst/>
          </a:prstGeom>
        </p:spPr>
      </p:pic>
      <p:pic>
        <p:nvPicPr>
          <p:cNvPr id="16" name="Image 5" descr="preencoded.png">    </p:cNvPr>
          <p:cNvPicPr>
            <a:picLocks noChangeAspect="1"/>
          </p:cNvPicPr>
          <p:nvPr/>
        </p:nvPicPr>
        <p:blipFill>
          <a:blip r:embed="rId6"/>
          <a:srcRect l="-1923" r="-1923" t="0" b="0"/>
          <a:stretch/>
        </p:blipFill>
        <p:spPr>
          <a:xfrm>
            <a:off x="8891626" y="3409798"/>
            <a:ext cx="123444" cy="190195"/>
          </a:xfrm>
          <a:prstGeom prst="rect">
            <a:avLst/>
          </a:prstGeom>
        </p:spPr>
      </p:pic>
      <p:sp>
        <p:nvSpPr>
          <p:cNvPr id="17" name="Shape 9"/>
          <p:cNvSpPr/>
          <p:nvPr/>
        </p:nvSpPr>
        <p:spPr>
          <a:xfrm>
            <a:off x="571500" y="1543507"/>
            <a:ext cx="2476195" cy="3924605"/>
          </a:xfrm>
          <a:prstGeom prst="roundRect">
            <a:avLst>
              <a:gd name="adj" fmla="val 1704"/>
            </a:avLst>
          </a:prstGeom>
          <a:solidFill>
            <a:srgbClr val="1E293B">
              <a:alpha val="70000"/>
            </a:srgbClr>
          </a:solidFill>
          <a:ln w="12700">
            <a:solidFill>
              <a:srgbClr val="94A3B8">
                <a:alpha val="10000"/>
              </a:srgbClr>
            </a:solidFill>
            <a:prstDash val="solid"/>
          </a:ln>
        </p:spPr>
      </p:sp>
      <p:sp>
        <p:nvSpPr>
          <p:cNvPr id="18" name="Shape 10"/>
          <p:cNvSpPr/>
          <p:nvPr/>
        </p:nvSpPr>
        <p:spPr>
          <a:xfrm>
            <a:off x="571500" y="1543507"/>
            <a:ext cx="2476195" cy="38405"/>
          </a:xfrm>
          <a:prstGeom prst="roundRect">
            <a:avLst>
              <a:gd name="adj" fmla="val 109890"/>
            </a:avLst>
          </a:prstGeom>
          <a:solidFill>
            <a:srgbClr val="3B82F6"/>
          </a:solidFill>
          <a:ln w="12700">
            <a:solidFill>
              <a:srgbClr val="3B82F6">
                <a:alpha val="0"/>
              </a:srgbClr>
            </a:solidFill>
            <a:prstDash val="solid"/>
          </a:ln>
        </p:spPr>
      </p:sp>
      <p:sp>
        <p:nvSpPr>
          <p:cNvPr id="19" name="Shape 11"/>
          <p:cNvSpPr/>
          <p:nvPr/>
        </p:nvSpPr>
        <p:spPr>
          <a:xfrm>
            <a:off x="580644" y="3076956"/>
            <a:ext cx="2457907" cy="9144"/>
          </a:xfrm>
          <a:prstGeom prst="rect">
            <a:avLst/>
          </a:prstGeom>
          <a:solidFill>
            <a:srgbClr val="FFFFFF">
              <a:alpha val="5000"/>
            </a:srgbClr>
          </a:solidFill>
          <a:ln w="12700">
            <a:solidFill>
              <a:srgbClr val="FFFFFF">
                <a:alpha val="0"/>
              </a:srgbClr>
            </a:solidFill>
            <a:prstDash val="solid"/>
          </a:ln>
        </p:spPr>
      </p:sp>
      <p:pic>
        <p:nvPicPr>
          <p:cNvPr id="20" name="Image 6" descr="preencoded.png">    </p:cNvPr>
          <p:cNvPicPr>
            <a:picLocks noChangeAspect="1"/>
          </p:cNvPicPr>
          <p:nvPr/>
        </p:nvPicPr>
        <p:blipFill>
          <a:blip r:embed="rId7"/>
          <a:stretch>
            <a:fillRect/>
          </a:stretch>
        </p:blipFill>
        <p:spPr>
          <a:xfrm>
            <a:off x="1233526" y="1733702"/>
            <a:ext cx="1152144" cy="237744"/>
          </a:xfrm>
          <a:prstGeom prst="rect">
            <a:avLst/>
          </a:prstGeom>
        </p:spPr>
      </p:pic>
      <p:sp>
        <p:nvSpPr>
          <p:cNvPr id="21" name="Text 12"/>
          <p:cNvSpPr/>
          <p:nvPr/>
        </p:nvSpPr>
        <p:spPr>
          <a:xfrm>
            <a:off x="1595628" y="1733702"/>
            <a:ext cx="790956" cy="238658"/>
          </a:xfrm>
          <a:prstGeom prst="rect">
            <a:avLst/>
          </a:prstGeom>
          <a:solidFill>
            <a:srgbClr val="FFFFFF">
              <a:alpha val="0"/>
            </a:srgbClr>
          </a:solidFill>
          <a:ln w="12700">
            <a:solidFill>
              <a:srgbClr val="3B82F6">
                <a:alpha val="30000"/>
              </a:srgbClr>
            </a:solidFill>
          </a:ln>
        </p:spPr>
        <p:txBody>
          <a:bodyPr wrap="square" lIns="0" tIns="0" rIns="0" bIns="0" rtlCol="0" anchor="ctr"/>
          <a:lstStyle/>
          <a:p>
            <a:pPr algn="ctr" indent="0" marL="0">
              <a:buNone/>
            </a:pPr>
            <a:r>
              <a:rPr lang="en-US" sz="800" b="1" spc="75" kern="0" dirty="0">
                <a:solidFill>
                  <a:srgbClr val="60A5FA"/>
                </a:solidFill>
                <a:latin typeface="JetBrains Mono" pitchFamily="34" charset="0"/>
                <a:ea typeface="JetBrains Mono" pitchFamily="34" charset="-122"/>
                <a:cs typeface="JetBrains Mono" pitchFamily="34" charset="-120"/>
              </a:rPr>
              <a:t>Human + AI</a:t>
            </a:r>
            <a:endParaRPr lang="en-US" sz="800" dirty="0"/>
          </a:p>
        </p:txBody>
      </p:sp>
      <p:pic>
        <p:nvPicPr>
          <p:cNvPr id="22" name="Image 7" descr="preencoded.png">    </p:cNvPr>
          <p:cNvPicPr>
            <a:picLocks noChangeAspect="1"/>
          </p:cNvPicPr>
          <p:nvPr/>
        </p:nvPicPr>
        <p:blipFill>
          <a:blip r:embed="rId8"/>
          <a:srcRect l="-6154" r="-6154" t="0" b="0"/>
          <a:stretch/>
        </p:blipFill>
        <p:spPr>
          <a:xfrm>
            <a:off x="1356970" y="1802282"/>
            <a:ext cx="133502" cy="95098"/>
          </a:xfrm>
          <a:prstGeom prst="rect">
            <a:avLst/>
          </a:prstGeom>
        </p:spPr>
      </p:pic>
      <p:sp>
        <p:nvSpPr>
          <p:cNvPr id="23" name="Shape 13"/>
          <p:cNvSpPr/>
          <p:nvPr/>
        </p:nvSpPr>
        <p:spPr>
          <a:xfrm>
            <a:off x="1580998" y="2085746"/>
            <a:ext cx="457200" cy="457200"/>
          </a:xfrm>
          <a:prstGeom prst="roundRect">
            <a:avLst>
              <a:gd name="adj" fmla="val 41667"/>
            </a:avLst>
          </a:prstGeom>
          <a:solidFill>
            <a:srgbClr val="0F172A">
              <a:alpha val="50000"/>
            </a:srgbClr>
          </a:solidFill>
          <a:ln w="12700">
            <a:solidFill>
              <a:srgbClr val="3B82F6">
                <a:alpha val="30000"/>
              </a:srgbClr>
            </a:solidFill>
            <a:prstDash val="solid"/>
          </a:ln>
        </p:spPr>
      </p:sp>
      <p:pic>
        <p:nvPicPr>
          <p:cNvPr id="24" name="Image 8" descr="preencoded.png">    </p:cNvPr>
          <p:cNvPicPr>
            <a:picLocks noChangeAspect="1"/>
          </p:cNvPicPr>
          <p:nvPr/>
        </p:nvPicPr>
        <p:blipFill>
          <a:blip r:embed="rId9"/>
          <a:srcRect l="-80" r="-80" t="0" b="0"/>
          <a:stretch/>
        </p:blipFill>
        <p:spPr>
          <a:xfrm>
            <a:off x="1666951" y="2200046"/>
            <a:ext cx="286207" cy="228600"/>
          </a:xfrm>
          <a:prstGeom prst="rect">
            <a:avLst/>
          </a:prstGeom>
        </p:spPr>
      </p:pic>
      <p:sp>
        <p:nvSpPr>
          <p:cNvPr id="25" name="Text 14"/>
          <p:cNvSpPr txBox="1"/>
          <p:nvPr/>
        </p:nvSpPr>
        <p:spPr>
          <a:xfrm>
            <a:off x="1001268" y="2657246"/>
            <a:ext cx="1623060" cy="267005"/>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仕様定義 &amp; 壁打ち</a:t>
            </a:r>
            <a:endParaRPr lang="en-US" sz="1300" dirty="0"/>
          </a:p>
        </p:txBody>
      </p:sp>
      <p:sp>
        <p:nvSpPr>
          <p:cNvPr id="26" name="Text 15"/>
          <p:cNvSpPr txBox="1"/>
          <p:nvPr/>
        </p:nvSpPr>
        <p:spPr>
          <a:xfrm>
            <a:off x="771754" y="3276295"/>
            <a:ext cx="2159813" cy="152705"/>
          </a:xfrm>
          <a:prstGeom prst="rect">
            <a:avLst/>
          </a:prstGeom>
          <a:noFill/>
          <a:ln/>
        </p:spPr>
        <p:txBody>
          <a:bodyPr wrap="square" lIns="0" tIns="0" rIns="0" bIns="0" rtlCol="0" anchor="ctr"/>
          <a:lstStyle/>
          <a:p>
            <a:pPr algn="l" indent="0" marL="0">
              <a:buNone/>
            </a:pPr>
            <a:r>
              <a:rPr lang="en-US" sz="900" b="1" spc="22" kern="0" dirty="0">
                <a:solidFill>
                  <a:srgbClr val="94A3B8"/>
                </a:solidFill>
                <a:latin typeface="Noto Sans JP" pitchFamily="34" charset="0"/>
                <a:ea typeface="Noto Sans JP" pitchFamily="34" charset="-122"/>
                <a:cs typeface="Noto Sans JP" pitchFamily="34" charset="-120"/>
              </a:rPr>
              <a:t>ACTION</a:t>
            </a:r>
            <a:endParaRPr lang="en-US" sz="900" dirty="0"/>
          </a:p>
        </p:txBody>
      </p:sp>
      <p:sp>
        <p:nvSpPr>
          <p:cNvPr id="27" name="Text 16"/>
          <p:cNvSpPr txBox="1"/>
          <p:nvPr/>
        </p:nvSpPr>
        <p:spPr>
          <a:xfrm>
            <a:off x="771754" y="3504895"/>
            <a:ext cx="2153412" cy="657454"/>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 AI専門家と対話し要件を深掘り。詰め切った仕様を </a:t>
            </a:r>
            <a:pPr algn="l" indent="0" marL="0">
              <a:buNone/>
            </a:pPr>
            <a:r>
              <a:rPr lang="en-US" sz="1000" dirty="0">
                <a:solidFill>
                  <a:srgbClr val="CBD5E1"/>
                </a:solidFill>
                <a:latin typeface="Noto Sans JP" pitchFamily="34" charset="0"/>
                <a:ea typeface="Noto Sans JP" pitchFamily="34" charset="-122"/>
                <a:cs typeface="Noto Sans JP" pitchFamily="34" charset="-120"/>
              </a:rPr>
              <a:t> に定義。 </a:t>
            </a:r>
            <a:endParaRPr lang="en-US" sz="1000" dirty="0"/>
          </a:p>
        </p:txBody>
      </p:sp>
      <p:pic>
        <p:nvPicPr>
          <p:cNvPr id="28" name="Image 9" descr="preencoded.png">    </p:cNvPr>
          <p:cNvPicPr>
            <a:picLocks noChangeAspect="1"/>
          </p:cNvPicPr>
          <p:nvPr/>
        </p:nvPicPr>
        <p:blipFill>
          <a:blip r:embed="rId10"/>
          <a:stretch>
            <a:fillRect/>
          </a:stretch>
        </p:blipFill>
        <p:spPr>
          <a:xfrm>
            <a:off x="1868119" y="3769157"/>
            <a:ext cx="428854" cy="171907"/>
          </a:xfrm>
          <a:prstGeom prst="rect">
            <a:avLst/>
          </a:prstGeom>
        </p:spPr>
      </p:pic>
      <p:sp>
        <p:nvSpPr>
          <p:cNvPr id="29" name="Text 17"/>
          <p:cNvSpPr/>
          <p:nvPr/>
        </p:nvSpPr>
        <p:spPr>
          <a:xfrm>
            <a:off x="1868119" y="3769157"/>
            <a:ext cx="428854" cy="171907"/>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dirty="0">
                <a:solidFill>
                  <a:srgbClr val="93C5FD"/>
                </a:solidFill>
                <a:latin typeface="ui-monospace" pitchFamily="34" charset="0"/>
                <a:ea typeface="ui-monospace" pitchFamily="34" charset="-122"/>
                <a:cs typeface="ui-monospace" pitchFamily="34" charset="-120"/>
              </a:rPr>
              <a:t>docs/</a:t>
            </a:r>
            <a:endParaRPr lang="en-US" sz="900" dirty="0"/>
          </a:p>
        </p:txBody>
      </p:sp>
      <p:sp>
        <p:nvSpPr>
          <p:cNvPr id="30" name="Shape 18"/>
          <p:cNvSpPr/>
          <p:nvPr/>
        </p:nvSpPr>
        <p:spPr>
          <a:xfrm>
            <a:off x="771754" y="4686300"/>
            <a:ext cx="2076602" cy="580644"/>
          </a:xfrm>
          <a:prstGeom prst="roundRect">
            <a:avLst>
              <a:gd name="adj" fmla="val 10327"/>
            </a:avLst>
          </a:prstGeom>
          <a:solidFill>
            <a:srgbClr val="1E293B">
              <a:alpha val="50000"/>
            </a:srgbClr>
          </a:solidFill>
          <a:ln w="12700">
            <a:solidFill>
              <a:srgbClr val="334155">
                <a:alpha val="50000"/>
              </a:srgbClr>
            </a:solidFill>
            <a:prstDash val="solid"/>
          </a:ln>
        </p:spPr>
      </p:sp>
      <p:sp>
        <p:nvSpPr>
          <p:cNvPr id="31" name="Text 19"/>
          <p:cNvSpPr txBox="1"/>
          <p:nvPr/>
        </p:nvSpPr>
        <p:spPr>
          <a:xfrm>
            <a:off x="895198" y="4809744"/>
            <a:ext cx="1905610" cy="143561"/>
          </a:xfrm>
          <a:prstGeom prst="rect">
            <a:avLst/>
          </a:prstGeom>
          <a:noFill/>
          <a:ln/>
        </p:spPr>
        <p:txBody>
          <a:bodyPr wrap="square" lIns="0" tIns="0" rIns="0" bIns="0" rtlCol="0" anchor="ctr"/>
          <a:lstStyle/>
          <a:p>
            <a:pPr algn="l" indent="0" marL="0">
              <a:buNone/>
            </a:pPr>
            <a:r>
              <a:rPr lang="en-US" sz="800" dirty="0">
                <a:solidFill>
                  <a:srgbClr val="64748B"/>
                </a:solidFill>
                <a:latin typeface="Noto Sans JP" pitchFamily="34" charset="0"/>
                <a:ea typeface="Noto Sans JP" pitchFamily="34" charset="-122"/>
                <a:cs typeface="Noto Sans JP" pitchFamily="34" charset="-120"/>
              </a:rPr>
              <a:t>STRATEGY</a:t>
            </a:r>
            <a:endParaRPr lang="en-US" sz="800" dirty="0"/>
          </a:p>
        </p:txBody>
      </p:sp>
      <p:sp>
        <p:nvSpPr>
          <p:cNvPr id="32" name="Text 20"/>
          <p:cNvSpPr txBox="1"/>
          <p:nvPr/>
        </p:nvSpPr>
        <p:spPr>
          <a:xfrm>
            <a:off x="1018642" y="4990795"/>
            <a:ext cx="1782166" cy="152705"/>
          </a:xfrm>
          <a:prstGeom prst="rect">
            <a:avLst/>
          </a:prstGeom>
          <a:noFill/>
          <a:ln/>
        </p:spPr>
        <p:txBody>
          <a:bodyPr wrap="square" lIns="0" tIns="0" rIns="0" bIns="0" rtlCol="0" anchor="ctr"/>
          <a:lstStyle/>
          <a:p>
            <a:pPr algn="l" indent="0" marL="0">
              <a:buNone/>
            </a:pPr>
            <a:r>
              <a:rPr lang="en-US" sz="900" dirty="0">
                <a:solidFill>
                  <a:srgbClr val="FFFFFF"/>
                </a:solidFill>
                <a:latin typeface="JetBrains Mono" pitchFamily="34" charset="0"/>
                <a:ea typeface="JetBrains Mono" pitchFamily="34" charset="-122"/>
                <a:cs typeface="JetBrains Mono" pitchFamily="34" charset="-120"/>
              </a:rPr>
              <a:t>Co-Creation</a:t>
            </a:r>
            <a:endParaRPr lang="en-US" sz="900" dirty="0"/>
          </a:p>
        </p:txBody>
      </p:sp>
      <p:pic>
        <p:nvPicPr>
          <p:cNvPr id="33" name="Image 10" descr="preencoded.png">    </p:cNvPr>
          <p:cNvPicPr>
            <a:picLocks noChangeAspect="1"/>
          </p:cNvPicPr>
          <p:nvPr/>
        </p:nvPicPr>
        <p:blipFill>
          <a:blip r:embed="rId11"/>
          <a:srcRect l="-133" r="-133" t="0" b="0"/>
          <a:stretch/>
        </p:blipFill>
        <p:spPr>
          <a:xfrm>
            <a:off x="895198" y="5005426"/>
            <a:ext cx="85954" cy="114300"/>
          </a:xfrm>
          <a:prstGeom prst="rect">
            <a:avLst/>
          </a:prstGeom>
        </p:spPr>
      </p:pic>
      <p:sp>
        <p:nvSpPr>
          <p:cNvPr id="34" name="Shape 21"/>
          <p:cNvSpPr/>
          <p:nvPr/>
        </p:nvSpPr>
        <p:spPr>
          <a:xfrm>
            <a:off x="3429000" y="1543507"/>
            <a:ext cx="2476195" cy="3924605"/>
          </a:xfrm>
          <a:prstGeom prst="roundRect">
            <a:avLst>
              <a:gd name="adj" fmla="val 1704"/>
            </a:avLst>
          </a:prstGeom>
          <a:solidFill>
            <a:srgbClr val="1E293B">
              <a:alpha val="70000"/>
            </a:srgbClr>
          </a:solidFill>
          <a:ln w="12700">
            <a:solidFill>
              <a:srgbClr val="94A3B8">
                <a:alpha val="10000"/>
              </a:srgbClr>
            </a:solidFill>
            <a:prstDash val="solid"/>
          </a:ln>
        </p:spPr>
      </p:sp>
      <p:sp>
        <p:nvSpPr>
          <p:cNvPr id="35" name="Shape 22"/>
          <p:cNvSpPr/>
          <p:nvPr/>
        </p:nvSpPr>
        <p:spPr>
          <a:xfrm>
            <a:off x="3429000" y="1543507"/>
            <a:ext cx="2476195" cy="38405"/>
          </a:xfrm>
          <a:prstGeom prst="roundRect">
            <a:avLst>
              <a:gd name="adj" fmla="val 109890"/>
            </a:avLst>
          </a:prstGeom>
          <a:solidFill>
            <a:srgbClr val="A855F7"/>
          </a:solidFill>
          <a:ln w="12700">
            <a:solidFill>
              <a:srgbClr val="A855F7">
                <a:alpha val="0"/>
              </a:srgbClr>
            </a:solidFill>
            <a:prstDash val="solid"/>
          </a:ln>
        </p:spPr>
      </p:sp>
      <p:sp>
        <p:nvSpPr>
          <p:cNvPr id="36" name="Shape 23"/>
          <p:cNvSpPr/>
          <p:nvPr/>
        </p:nvSpPr>
        <p:spPr>
          <a:xfrm>
            <a:off x="3438144" y="3076956"/>
            <a:ext cx="2457907" cy="9144"/>
          </a:xfrm>
          <a:prstGeom prst="rect">
            <a:avLst/>
          </a:prstGeom>
          <a:solidFill>
            <a:srgbClr val="FFFFFF">
              <a:alpha val="5000"/>
            </a:srgbClr>
          </a:solidFill>
          <a:ln w="12700">
            <a:solidFill>
              <a:srgbClr val="FFFFFF">
                <a:alpha val="0"/>
              </a:srgbClr>
            </a:solidFill>
            <a:prstDash val="solid"/>
          </a:ln>
        </p:spPr>
      </p:sp>
      <p:pic>
        <p:nvPicPr>
          <p:cNvPr id="37" name="Image 11" descr="preencoded.png">    </p:cNvPr>
          <p:cNvPicPr>
            <a:picLocks noChangeAspect="1"/>
          </p:cNvPicPr>
          <p:nvPr/>
        </p:nvPicPr>
        <p:blipFill>
          <a:blip r:embed="rId12"/>
          <a:stretch>
            <a:fillRect/>
          </a:stretch>
        </p:blipFill>
        <p:spPr>
          <a:xfrm>
            <a:off x="4190695" y="1733702"/>
            <a:ext cx="952805" cy="237744"/>
          </a:xfrm>
          <a:prstGeom prst="rect">
            <a:avLst/>
          </a:prstGeom>
        </p:spPr>
      </p:pic>
      <p:sp>
        <p:nvSpPr>
          <p:cNvPr id="38" name="Text 24"/>
          <p:cNvSpPr/>
          <p:nvPr/>
        </p:nvSpPr>
        <p:spPr>
          <a:xfrm>
            <a:off x="4552798" y="1733702"/>
            <a:ext cx="590702" cy="238658"/>
          </a:xfrm>
          <a:prstGeom prst="rect">
            <a:avLst/>
          </a:prstGeom>
          <a:solidFill>
            <a:srgbClr val="FFFFFF">
              <a:alpha val="0"/>
            </a:srgbClr>
          </a:solidFill>
          <a:ln w="12700">
            <a:solidFill>
              <a:srgbClr val="A855F7">
                <a:alpha val="30000"/>
              </a:srgbClr>
            </a:solidFill>
          </a:ln>
        </p:spPr>
        <p:txBody>
          <a:bodyPr wrap="square" lIns="0" tIns="0" rIns="0" bIns="0" rtlCol="0" anchor="ctr"/>
          <a:lstStyle/>
          <a:p>
            <a:pPr algn="ctr" indent="0" marL="0">
              <a:buNone/>
            </a:pPr>
            <a:r>
              <a:rPr lang="en-US" sz="800" b="1" spc="75" kern="0" dirty="0">
                <a:solidFill>
                  <a:srgbClr val="C084FC"/>
                </a:solidFill>
                <a:latin typeface="JetBrains Mono" pitchFamily="34" charset="0"/>
                <a:ea typeface="JetBrains Mono" pitchFamily="34" charset="-122"/>
                <a:cs typeface="JetBrains Mono" pitchFamily="34" charset="-120"/>
              </a:rPr>
              <a:t>Agent A</a:t>
            </a:r>
            <a:endParaRPr lang="en-US" sz="800" dirty="0"/>
          </a:p>
        </p:txBody>
      </p:sp>
      <p:pic>
        <p:nvPicPr>
          <p:cNvPr id="39" name="Image 12" descr="preencoded.png">    </p:cNvPr>
          <p:cNvPicPr>
            <a:picLocks noChangeAspect="1"/>
          </p:cNvPicPr>
          <p:nvPr/>
        </p:nvPicPr>
        <p:blipFill>
          <a:blip r:embed="rId13"/>
          <a:srcRect l="-6154" r="-6154" t="0" b="0"/>
          <a:stretch/>
        </p:blipFill>
        <p:spPr>
          <a:xfrm>
            <a:off x="4315054" y="1802282"/>
            <a:ext cx="133502" cy="95098"/>
          </a:xfrm>
          <a:prstGeom prst="rect">
            <a:avLst/>
          </a:prstGeom>
        </p:spPr>
      </p:pic>
      <p:sp>
        <p:nvSpPr>
          <p:cNvPr id="40" name="Shape 25"/>
          <p:cNvSpPr/>
          <p:nvPr/>
        </p:nvSpPr>
        <p:spPr>
          <a:xfrm>
            <a:off x="4438498" y="2085746"/>
            <a:ext cx="457200" cy="457200"/>
          </a:xfrm>
          <a:prstGeom prst="roundRect">
            <a:avLst>
              <a:gd name="adj" fmla="val 41667"/>
            </a:avLst>
          </a:prstGeom>
          <a:solidFill>
            <a:srgbClr val="0F172A">
              <a:alpha val="50000"/>
            </a:srgbClr>
          </a:solidFill>
          <a:ln w="12700">
            <a:solidFill>
              <a:srgbClr val="A855F7">
                <a:alpha val="30000"/>
              </a:srgbClr>
            </a:solidFill>
            <a:prstDash val="solid"/>
          </a:ln>
        </p:spPr>
      </p:sp>
      <p:pic>
        <p:nvPicPr>
          <p:cNvPr id="41" name="Image 13" descr="preencoded.png">    </p:cNvPr>
          <p:cNvPicPr>
            <a:picLocks noChangeAspect="1"/>
          </p:cNvPicPr>
          <p:nvPr/>
        </p:nvPicPr>
        <p:blipFill>
          <a:blip r:embed="rId14"/>
          <a:srcRect l="-80" r="-80" t="0" b="0"/>
          <a:stretch/>
        </p:blipFill>
        <p:spPr>
          <a:xfrm>
            <a:off x="4524451" y="2200046"/>
            <a:ext cx="286207" cy="228600"/>
          </a:xfrm>
          <a:prstGeom prst="rect">
            <a:avLst/>
          </a:prstGeom>
        </p:spPr>
      </p:pic>
      <p:sp>
        <p:nvSpPr>
          <p:cNvPr id="42" name="Text 26"/>
          <p:cNvSpPr txBox="1"/>
          <p:nvPr/>
        </p:nvSpPr>
        <p:spPr>
          <a:xfrm>
            <a:off x="3858768" y="2657246"/>
            <a:ext cx="1623060" cy="267005"/>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実装 &amp; テスト生成</a:t>
            </a:r>
            <a:endParaRPr lang="en-US" sz="1300" dirty="0"/>
          </a:p>
        </p:txBody>
      </p:sp>
      <p:sp>
        <p:nvSpPr>
          <p:cNvPr id="43" name="Text 27"/>
          <p:cNvSpPr txBox="1"/>
          <p:nvPr/>
        </p:nvSpPr>
        <p:spPr>
          <a:xfrm>
            <a:off x="3629254" y="3276295"/>
            <a:ext cx="2159813" cy="152705"/>
          </a:xfrm>
          <a:prstGeom prst="rect">
            <a:avLst/>
          </a:prstGeom>
          <a:noFill/>
          <a:ln/>
        </p:spPr>
        <p:txBody>
          <a:bodyPr wrap="square" lIns="0" tIns="0" rIns="0" bIns="0" rtlCol="0" anchor="ctr"/>
          <a:lstStyle/>
          <a:p>
            <a:pPr algn="l" indent="0" marL="0">
              <a:buNone/>
            </a:pPr>
            <a:r>
              <a:rPr lang="en-US" sz="900" b="1" spc="22" kern="0" dirty="0">
                <a:solidFill>
                  <a:srgbClr val="94A3B8"/>
                </a:solidFill>
                <a:latin typeface="Noto Sans JP" pitchFamily="34" charset="0"/>
                <a:ea typeface="Noto Sans JP" pitchFamily="34" charset="-122"/>
                <a:cs typeface="Noto Sans JP" pitchFamily="34" charset="-120"/>
              </a:rPr>
              <a:t>ACTION</a:t>
            </a:r>
            <a:endParaRPr lang="en-US" sz="900" dirty="0"/>
          </a:p>
        </p:txBody>
      </p:sp>
      <p:sp>
        <p:nvSpPr>
          <p:cNvPr id="44" name="Text 28"/>
          <p:cNvSpPr txBox="1"/>
          <p:nvPr/>
        </p:nvSpPr>
        <p:spPr>
          <a:xfrm>
            <a:off x="3629254" y="3504895"/>
            <a:ext cx="2153412" cy="657454"/>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Cursor / Claude Code がドキュメントを読み込み、コードと単体テストを生成。</a:t>
            </a:r>
            <a:endParaRPr lang="en-US" sz="1000" dirty="0"/>
          </a:p>
        </p:txBody>
      </p:sp>
      <p:sp>
        <p:nvSpPr>
          <p:cNvPr id="45" name="Shape 29"/>
          <p:cNvSpPr/>
          <p:nvPr/>
        </p:nvSpPr>
        <p:spPr>
          <a:xfrm>
            <a:off x="3629254" y="4686300"/>
            <a:ext cx="2076602" cy="580644"/>
          </a:xfrm>
          <a:prstGeom prst="roundRect">
            <a:avLst>
              <a:gd name="adj" fmla="val 10327"/>
            </a:avLst>
          </a:prstGeom>
          <a:solidFill>
            <a:srgbClr val="1E293B">
              <a:alpha val="50000"/>
            </a:srgbClr>
          </a:solidFill>
          <a:ln w="12700">
            <a:solidFill>
              <a:srgbClr val="334155">
                <a:alpha val="50000"/>
              </a:srgbClr>
            </a:solidFill>
            <a:prstDash val="solid"/>
          </a:ln>
        </p:spPr>
      </p:sp>
      <p:sp>
        <p:nvSpPr>
          <p:cNvPr id="46" name="Text 30"/>
          <p:cNvSpPr txBox="1"/>
          <p:nvPr/>
        </p:nvSpPr>
        <p:spPr>
          <a:xfrm>
            <a:off x="3752698" y="4809744"/>
            <a:ext cx="1905610" cy="143561"/>
          </a:xfrm>
          <a:prstGeom prst="rect">
            <a:avLst/>
          </a:prstGeom>
          <a:noFill/>
          <a:ln/>
        </p:spPr>
        <p:txBody>
          <a:bodyPr wrap="square" lIns="0" tIns="0" rIns="0" bIns="0" rtlCol="0" anchor="ctr"/>
          <a:lstStyle/>
          <a:p>
            <a:pPr algn="l" indent="0" marL="0">
              <a:buNone/>
            </a:pPr>
            <a:r>
              <a:rPr lang="en-US" sz="800" dirty="0">
                <a:solidFill>
                  <a:srgbClr val="64748B"/>
                </a:solidFill>
                <a:latin typeface="Noto Sans JP" pitchFamily="34" charset="0"/>
                <a:ea typeface="Noto Sans JP" pitchFamily="34" charset="-122"/>
                <a:cs typeface="Noto Sans JP" pitchFamily="34" charset="-120"/>
              </a:rPr>
              <a:t>TOOLS</a:t>
            </a:r>
            <a:endParaRPr lang="en-US" sz="800" dirty="0"/>
          </a:p>
        </p:txBody>
      </p:sp>
      <p:sp>
        <p:nvSpPr>
          <p:cNvPr id="47" name="Text 31"/>
          <p:cNvSpPr txBox="1"/>
          <p:nvPr/>
        </p:nvSpPr>
        <p:spPr>
          <a:xfrm>
            <a:off x="3924605" y="4990795"/>
            <a:ext cx="1733702" cy="152705"/>
          </a:xfrm>
          <a:prstGeom prst="rect">
            <a:avLst/>
          </a:prstGeom>
          <a:noFill/>
          <a:ln/>
        </p:spPr>
        <p:txBody>
          <a:bodyPr wrap="square" lIns="0" tIns="0" rIns="0" bIns="0" rtlCol="0" anchor="ctr"/>
          <a:lstStyle/>
          <a:p>
            <a:pPr algn="l" indent="0" marL="0">
              <a:buNone/>
            </a:pPr>
            <a:r>
              <a:rPr lang="en-US" sz="900" dirty="0">
                <a:solidFill>
                  <a:srgbClr val="FFFFFF"/>
                </a:solidFill>
                <a:latin typeface="JetBrains Mono" pitchFamily="34" charset="0"/>
                <a:ea typeface="JetBrains Mono" pitchFamily="34" charset="-122"/>
                <a:cs typeface="JetBrains Mono" pitchFamily="34" charset="-120"/>
              </a:rPr>
              <a:t>Cursor / Claude</a:t>
            </a:r>
            <a:endParaRPr lang="en-US" sz="900" dirty="0"/>
          </a:p>
        </p:txBody>
      </p:sp>
      <p:pic>
        <p:nvPicPr>
          <p:cNvPr id="48" name="Image 14" descr="preencoded.png">    </p:cNvPr>
          <p:cNvPicPr>
            <a:picLocks noChangeAspect="1"/>
          </p:cNvPicPr>
          <p:nvPr/>
        </p:nvPicPr>
        <p:blipFill>
          <a:blip r:embed="rId15"/>
          <a:srcRect l="-1911" r="-1911" t="0" b="0"/>
          <a:stretch/>
        </p:blipFill>
        <p:spPr>
          <a:xfrm>
            <a:off x="3752698" y="5005426"/>
            <a:ext cx="133502" cy="114300"/>
          </a:xfrm>
          <a:prstGeom prst="rect">
            <a:avLst/>
          </a:prstGeom>
        </p:spPr>
      </p:pic>
      <p:sp>
        <p:nvSpPr>
          <p:cNvPr id="49" name="Shape 32"/>
          <p:cNvSpPr/>
          <p:nvPr/>
        </p:nvSpPr>
        <p:spPr>
          <a:xfrm>
            <a:off x="6286500" y="1543507"/>
            <a:ext cx="2476195" cy="3924605"/>
          </a:xfrm>
          <a:prstGeom prst="roundRect">
            <a:avLst>
              <a:gd name="adj" fmla="val 1704"/>
            </a:avLst>
          </a:prstGeom>
          <a:solidFill>
            <a:srgbClr val="1E293B">
              <a:alpha val="70000"/>
            </a:srgbClr>
          </a:solidFill>
          <a:ln w="12700">
            <a:solidFill>
              <a:srgbClr val="94A3B8">
                <a:alpha val="10000"/>
              </a:srgbClr>
            </a:solidFill>
            <a:prstDash val="solid"/>
          </a:ln>
        </p:spPr>
      </p:sp>
      <p:sp>
        <p:nvSpPr>
          <p:cNvPr id="50" name="Shape 33"/>
          <p:cNvSpPr/>
          <p:nvPr/>
        </p:nvSpPr>
        <p:spPr>
          <a:xfrm>
            <a:off x="6286500" y="1543507"/>
            <a:ext cx="2476195" cy="38405"/>
          </a:xfrm>
          <a:prstGeom prst="roundRect">
            <a:avLst>
              <a:gd name="adj" fmla="val 109890"/>
            </a:avLst>
          </a:prstGeom>
          <a:solidFill>
            <a:srgbClr val="F43F5E"/>
          </a:solidFill>
          <a:ln w="12700">
            <a:solidFill>
              <a:srgbClr val="F43F5E">
                <a:alpha val="0"/>
              </a:srgbClr>
            </a:solidFill>
            <a:prstDash val="solid"/>
          </a:ln>
        </p:spPr>
      </p:sp>
      <p:sp>
        <p:nvSpPr>
          <p:cNvPr id="51" name="Shape 34"/>
          <p:cNvSpPr/>
          <p:nvPr/>
        </p:nvSpPr>
        <p:spPr>
          <a:xfrm>
            <a:off x="6295644" y="3076956"/>
            <a:ext cx="2457907" cy="9144"/>
          </a:xfrm>
          <a:prstGeom prst="rect">
            <a:avLst/>
          </a:prstGeom>
          <a:solidFill>
            <a:srgbClr val="FFFFFF">
              <a:alpha val="5000"/>
            </a:srgbClr>
          </a:solidFill>
          <a:ln w="12700">
            <a:solidFill>
              <a:srgbClr val="FFFFFF">
                <a:alpha val="0"/>
              </a:srgbClr>
            </a:solidFill>
            <a:prstDash val="solid"/>
          </a:ln>
        </p:spPr>
      </p:sp>
      <p:pic>
        <p:nvPicPr>
          <p:cNvPr id="52" name="Image 15" descr="preencoded.png">    </p:cNvPr>
          <p:cNvPicPr>
            <a:picLocks noChangeAspect="1"/>
          </p:cNvPicPr>
          <p:nvPr/>
        </p:nvPicPr>
        <p:blipFill>
          <a:blip r:embed="rId16"/>
          <a:stretch>
            <a:fillRect/>
          </a:stretch>
        </p:blipFill>
        <p:spPr>
          <a:xfrm>
            <a:off x="7062826" y="1733702"/>
            <a:ext cx="923544" cy="237744"/>
          </a:xfrm>
          <a:prstGeom prst="rect">
            <a:avLst/>
          </a:prstGeom>
        </p:spPr>
      </p:pic>
      <p:sp>
        <p:nvSpPr>
          <p:cNvPr id="53" name="Text 35"/>
          <p:cNvSpPr/>
          <p:nvPr/>
        </p:nvSpPr>
        <p:spPr>
          <a:xfrm>
            <a:off x="7396582" y="1733702"/>
            <a:ext cx="590702" cy="238658"/>
          </a:xfrm>
          <a:prstGeom prst="rect">
            <a:avLst/>
          </a:prstGeom>
          <a:solidFill>
            <a:srgbClr val="FFFFFF">
              <a:alpha val="0"/>
            </a:srgbClr>
          </a:solidFill>
          <a:ln w="12700">
            <a:solidFill>
              <a:srgbClr val="F43F5E">
                <a:alpha val="30000"/>
              </a:srgbClr>
            </a:solidFill>
          </a:ln>
        </p:spPr>
        <p:txBody>
          <a:bodyPr wrap="square" lIns="0" tIns="0" rIns="0" bIns="0" rtlCol="0" anchor="ctr"/>
          <a:lstStyle/>
          <a:p>
            <a:pPr algn="ctr" indent="0" marL="0">
              <a:buNone/>
            </a:pPr>
            <a:r>
              <a:rPr lang="en-US" sz="800" b="1" spc="75" kern="0" dirty="0">
                <a:solidFill>
                  <a:srgbClr val="FB7185"/>
                </a:solidFill>
                <a:latin typeface="JetBrains Mono" pitchFamily="34" charset="0"/>
                <a:ea typeface="JetBrains Mono" pitchFamily="34" charset="-122"/>
                <a:cs typeface="JetBrains Mono" pitchFamily="34" charset="-120"/>
              </a:rPr>
              <a:t>Agent B</a:t>
            </a:r>
            <a:endParaRPr lang="en-US" sz="800" dirty="0"/>
          </a:p>
        </p:txBody>
      </p:sp>
      <p:pic>
        <p:nvPicPr>
          <p:cNvPr id="54" name="Image 16" descr="preencoded.png">    </p:cNvPr>
          <p:cNvPicPr>
            <a:picLocks noChangeAspect="1"/>
          </p:cNvPicPr>
          <p:nvPr/>
        </p:nvPicPr>
        <p:blipFill>
          <a:blip r:embed="rId17"/>
          <a:srcRect l="-5288" r="-5288" t="0" b="0"/>
          <a:stretch/>
        </p:blipFill>
        <p:spPr>
          <a:xfrm>
            <a:off x="7186270" y="1802282"/>
            <a:ext cx="105156" cy="95098"/>
          </a:xfrm>
          <a:prstGeom prst="rect">
            <a:avLst/>
          </a:prstGeom>
        </p:spPr>
      </p:pic>
      <p:sp>
        <p:nvSpPr>
          <p:cNvPr id="55" name="Shape 36"/>
          <p:cNvSpPr/>
          <p:nvPr/>
        </p:nvSpPr>
        <p:spPr>
          <a:xfrm>
            <a:off x="7295998" y="2085746"/>
            <a:ext cx="457200" cy="457200"/>
          </a:xfrm>
          <a:prstGeom prst="roundRect">
            <a:avLst>
              <a:gd name="adj" fmla="val 41667"/>
            </a:avLst>
          </a:prstGeom>
          <a:solidFill>
            <a:srgbClr val="0F172A">
              <a:alpha val="50000"/>
            </a:srgbClr>
          </a:solidFill>
          <a:ln w="12700">
            <a:solidFill>
              <a:srgbClr val="F43F5E">
                <a:alpha val="30000"/>
              </a:srgbClr>
            </a:solidFill>
            <a:prstDash val="solid"/>
          </a:ln>
        </p:spPr>
      </p:sp>
      <p:pic>
        <p:nvPicPr>
          <p:cNvPr id="56" name="Image 17" descr="preencoded.png">    </p:cNvPr>
          <p:cNvPicPr>
            <a:picLocks noChangeAspect="1"/>
          </p:cNvPicPr>
          <p:nvPr/>
        </p:nvPicPr>
        <p:blipFill>
          <a:blip r:embed="rId18"/>
          <a:srcRect l="0" r="0" t="0" b="0"/>
          <a:stretch/>
        </p:blipFill>
        <p:spPr>
          <a:xfrm>
            <a:off x="7410298" y="2200046"/>
            <a:ext cx="228600" cy="228600"/>
          </a:xfrm>
          <a:prstGeom prst="rect">
            <a:avLst/>
          </a:prstGeom>
        </p:spPr>
      </p:pic>
      <p:sp>
        <p:nvSpPr>
          <p:cNvPr id="57" name="Text 37"/>
          <p:cNvSpPr txBox="1"/>
          <p:nvPr/>
        </p:nvSpPr>
        <p:spPr>
          <a:xfrm>
            <a:off x="6876288" y="2657246"/>
            <a:ext cx="1296619" cy="267005"/>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クロスレビュー</a:t>
            </a:r>
            <a:endParaRPr lang="en-US" sz="1300" dirty="0"/>
          </a:p>
        </p:txBody>
      </p:sp>
      <p:sp>
        <p:nvSpPr>
          <p:cNvPr id="58" name="Text 38"/>
          <p:cNvSpPr txBox="1"/>
          <p:nvPr/>
        </p:nvSpPr>
        <p:spPr>
          <a:xfrm>
            <a:off x="6486754" y="3276295"/>
            <a:ext cx="2159813" cy="152705"/>
          </a:xfrm>
          <a:prstGeom prst="rect">
            <a:avLst/>
          </a:prstGeom>
          <a:noFill/>
          <a:ln/>
        </p:spPr>
        <p:txBody>
          <a:bodyPr wrap="square" lIns="0" tIns="0" rIns="0" bIns="0" rtlCol="0" anchor="ctr"/>
          <a:lstStyle/>
          <a:p>
            <a:pPr algn="l" indent="0" marL="0">
              <a:buNone/>
            </a:pPr>
            <a:r>
              <a:rPr lang="en-US" sz="900" b="1" spc="22" kern="0" dirty="0">
                <a:solidFill>
                  <a:srgbClr val="94A3B8"/>
                </a:solidFill>
                <a:latin typeface="Noto Sans JP" pitchFamily="34" charset="0"/>
                <a:ea typeface="Noto Sans JP" pitchFamily="34" charset="-122"/>
                <a:cs typeface="Noto Sans JP" pitchFamily="34" charset="-120"/>
              </a:rPr>
              <a:t>ACTION</a:t>
            </a:r>
            <a:endParaRPr lang="en-US" sz="900" dirty="0"/>
          </a:p>
        </p:txBody>
      </p:sp>
      <p:sp>
        <p:nvSpPr>
          <p:cNvPr id="59" name="Text 39"/>
          <p:cNvSpPr txBox="1"/>
          <p:nvPr/>
        </p:nvSpPr>
        <p:spPr>
          <a:xfrm>
            <a:off x="6486754" y="3504895"/>
            <a:ext cx="2153412" cy="657454"/>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生成されたPRに対し、別モデルで「エラーハンドリング」「セキュリティ」を指摘。</a:t>
            </a:r>
            <a:endParaRPr lang="en-US" sz="1000" dirty="0"/>
          </a:p>
        </p:txBody>
      </p:sp>
      <p:sp>
        <p:nvSpPr>
          <p:cNvPr id="60" name="Shape 40"/>
          <p:cNvSpPr/>
          <p:nvPr/>
        </p:nvSpPr>
        <p:spPr>
          <a:xfrm>
            <a:off x="6486754" y="4686300"/>
            <a:ext cx="2076602" cy="580644"/>
          </a:xfrm>
          <a:prstGeom prst="roundRect">
            <a:avLst>
              <a:gd name="adj" fmla="val 10327"/>
            </a:avLst>
          </a:prstGeom>
          <a:solidFill>
            <a:srgbClr val="1E293B">
              <a:alpha val="50000"/>
            </a:srgbClr>
          </a:solidFill>
          <a:ln w="12700">
            <a:solidFill>
              <a:srgbClr val="334155">
                <a:alpha val="50000"/>
              </a:srgbClr>
            </a:solidFill>
            <a:prstDash val="solid"/>
          </a:ln>
        </p:spPr>
      </p:sp>
      <p:sp>
        <p:nvSpPr>
          <p:cNvPr id="61" name="Text 41"/>
          <p:cNvSpPr txBox="1"/>
          <p:nvPr/>
        </p:nvSpPr>
        <p:spPr>
          <a:xfrm>
            <a:off x="6610198" y="4809744"/>
            <a:ext cx="1905610" cy="143561"/>
          </a:xfrm>
          <a:prstGeom prst="rect">
            <a:avLst/>
          </a:prstGeom>
          <a:noFill/>
          <a:ln/>
        </p:spPr>
        <p:txBody>
          <a:bodyPr wrap="square" lIns="0" tIns="0" rIns="0" bIns="0" rtlCol="0" anchor="ctr"/>
          <a:lstStyle/>
          <a:p>
            <a:pPr algn="l" indent="0" marL="0">
              <a:buNone/>
            </a:pPr>
            <a:r>
              <a:rPr lang="en-US" sz="800" dirty="0">
                <a:solidFill>
                  <a:srgbClr val="64748B"/>
                </a:solidFill>
                <a:latin typeface="Noto Sans JP" pitchFamily="34" charset="0"/>
                <a:ea typeface="Noto Sans JP" pitchFamily="34" charset="-122"/>
                <a:cs typeface="Noto Sans JP" pitchFamily="34" charset="-120"/>
              </a:rPr>
              <a:t>TOOLS</a:t>
            </a:r>
            <a:endParaRPr lang="en-US" sz="800" dirty="0"/>
          </a:p>
        </p:txBody>
      </p:sp>
      <p:sp>
        <p:nvSpPr>
          <p:cNvPr id="62" name="Text 42"/>
          <p:cNvSpPr txBox="1"/>
          <p:nvPr/>
        </p:nvSpPr>
        <p:spPr>
          <a:xfrm>
            <a:off x="6762902" y="4990795"/>
            <a:ext cx="1752905" cy="152705"/>
          </a:xfrm>
          <a:prstGeom prst="rect">
            <a:avLst/>
          </a:prstGeom>
          <a:noFill/>
          <a:ln/>
        </p:spPr>
        <p:txBody>
          <a:bodyPr wrap="square" lIns="0" tIns="0" rIns="0" bIns="0" rtlCol="0" anchor="ctr"/>
          <a:lstStyle/>
          <a:p>
            <a:pPr algn="l" indent="0" marL="0">
              <a:buNone/>
            </a:pPr>
            <a:r>
              <a:rPr lang="en-US" sz="900" dirty="0">
                <a:solidFill>
                  <a:srgbClr val="FFFFFF"/>
                </a:solidFill>
                <a:latin typeface="JetBrains Mono" pitchFamily="34" charset="0"/>
                <a:ea typeface="JetBrains Mono" pitchFamily="34" charset="-122"/>
                <a:cs typeface="JetBrains Mono" pitchFamily="34" charset="-120"/>
              </a:rPr>
              <a:t>Codex / Gemini</a:t>
            </a:r>
            <a:endParaRPr lang="en-US" sz="900" dirty="0"/>
          </a:p>
        </p:txBody>
      </p:sp>
      <p:pic>
        <p:nvPicPr>
          <p:cNvPr id="63" name="Image 18" descr="preencoded.png">    </p:cNvPr>
          <p:cNvPicPr>
            <a:picLocks noChangeAspect="1"/>
          </p:cNvPicPr>
          <p:nvPr/>
        </p:nvPicPr>
        <p:blipFill>
          <a:blip r:embed="rId19"/>
          <a:srcRect l="0" r="0" t="0" b="0"/>
          <a:stretch/>
        </p:blipFill>
        <p:spPr>
          <a:xfrm>
            <a:off x="6610198" y="5005426"/>
            <a:ext cx="114300" cy="114300"/>
          </a:xfrm>
          <a:prstGeom prst="rect">
            <a:avLst/>
          </a:prstGeom>
        </p:spPr>
      </p:pic>
      <p:sp>
        <p:nvSpPr>
          <p:cNvPr id="64" name="Shape 43"/>
          <p:cNvSpPr/>
          <p:nvPr/>
        </p:nvSpPr>
        <p:spPr>
          <a:xfrm>
            <a:off x="9144000" y="1543507"/>
            <a:ext cx="2476195" cy="3924605"/>
          </a:xfrm>
          <a:prstGeom prst="roundRect">
            <a:avLst>
              <a:gd name="adj" fmla="val 1704"/>
            </a:avLst>
          </a:prstGeom>
          <a:solidFill>
            <a:srgbClr val="1E293B">
              <a:alpha val="70000"/>
            </a:srgbClr>
          </a:solidFill>
          <a:ln w="12700">
            <a:solidFill>
              <a:srgbClr val="94A3B8">
                <a:alpha val="10000"/>
              </a:srgbClr>
            </a:solidFill>
            <a:prstDash val="solid"/>
          </a:ln>
        </p:spPr>
      </p:sp>
      <p:sp>
        <p:nvSpPr>
          <p:cNvPr id="65" name="Shape 44"/>
          <p:cNvSpPr/>
          <p:nvPr/>
        </p:nvSpPr>
        <p:spPr>
          <a:xfrm>
            <a:off x="9144000" y="1543507"/>
            <a:ext cx="2476195" cy="38405"/>
          </a:xfrm>
          <a:prstGeom prst="roundRect">
            <a:avLst>
              <a:gd name="adj" fmla="val 109890"/>
            </a:avLst>
          </a:prstGeom>
          <a:solidFill>
            <a:srgbClr val="10B981"/>
          </a:solidFill>
          <a:ln w="12700">
            <a:solidFill>
              <a:srgbClr val="10B981">
                <a:alpha val="0"/>
              </a:srgbClr>
            </a:solidFill>
            <a:prstDash val="solid"/>
          </a:ln>
        </p:spPr>
      </p:sp>
      <p:sp>
        <p:nvSpPr>
          <p:cNvPr id="66" name="Shape 45"/>
          <p:cNvSpPr/>
          <p:nvPr/>
        </p:nvSpPr>
        <p:spPr>
          <a:xfrm>
            <a:off x="9153144" y="3076956"/>
            <a:ext cx="2457907" cy="9144"/>
          </a:xfrm>
          <a:prstGeom prst="rect">
            <a:avLst/>
          </a:prstGeom>
          <a:solidFill>
            <a:srgbClr val="FFFFFF">
              <a:alpha val="5000"/>
            </a:srgbClr>
          </a:solidFill>
          <a:ln w="12700">
            <a:solidFill>
              <a:srgbClr val="FFFFFF">
                <a:alpha val="0"/>
              </a:srgbClr>
            </a:solidFill>
            <a:prstDash val="solid"/>
          </a:ln>
        </p:spPr>
      </p:sp>
      <p:pic>
        <p:nvPicPr>
          <p:cNvPr id="67" name="Image 19" descr="preencoded.png">    </p:cNvPr>
          <p:cNvPicPr>
            <a:picLocks noChangeAspect="1"/>
          </p:cNvPicPr>
          <p:nvPr/>
        </p:nvPicPr>
        <p:blipFill>
          <a:blip r:embed="rId20"/>
          <a:stretch>
            <a:fillRect/>
          </a:stretch>
        </p:blipFill>
        <p:spPr>
          <a:xfrm>
            <a:off x="9972446" y="1733702"/>
            <a:ext cx="819302" cy="237744"/>
          </a:xfrm>
          <a:prstGeom prst="rect">
            <a:avLst/>
          </a:prstGeom>
        </p:spPr>
      </p:pic>
      <p:sp>
        <p:nvSpPr>
          <p:cNvPr id="68" name="Text 46"/>
          <p:cNvSpPr/>
          <p:nvPr/>
        </p:nvSpPr>
        <p:spPr>
          <a:xfrm>
            <a:off x="10334549" y="1733702"/>
            <a:ext cx="457200" cy="238658"/>
          </a:xfrm>
          <a:prstGeom prst="rect">
            <a:avLst/>
          </a:prstGeom>
          <a:solidFill>
            <a:srgbClr val="FFFFFF">
              <a:alpha val="0"/>
            </a:srgbClr>
          </a:solidFill>
          <a:ln w="12700">
            <a:solidFill>
              <a:srgbClr val="10B981">
                <a:alpha val="30000"/>
              </a:srgbClr>
            </a:solidFill>
          </a:ln>
        </p:spPr>
        <p:txBody>
          <a:bodyPr wrap="square" lIns="0" tIns="0" rIns="0" bIns="0" rtlCol="0" anchor="ctr"/>
          <a:lstStyle/>
          <a:p>
            <a:pPr algn="ctr" indent="0" marL="0">
              <a:buNone/>
            </a:pPr>
            <a:r>
              <a:rPr lang="en-US" sz="800" b="1" spc="75" kern="0" dirty="0">
                <a:solidFill>
                  <a:srgbClr val="34D399"/>
                </a:solidFill>
                <a:latin typeface="JetBrains Mono" pitchFamily="34" charset="0"/>
                <a:ea typeface="JetBrains Mono" pitchFamily="34" charset="-122"/>
                <a:cs typeface="JetBrains Mono" pitchFamily="34" charset="-120"/>
              </a:rPr>
              <a:t>Human</a:t>
            </a:r>
            <a:endParaRPr lang="en-US" sz="800" dirty="0"/>
          </a:p>
        </p:txBody>
      </p:sp>
      <p:pic>
        <p:nvPicPr>
          <p:cNvPr id="69" name="Image 20" descr="preencoded.png">    </p:cNvPr>
          <p:cNvPicPr>
            <a:picLocks noChangeAspect="1"/>
          </p:cNvPicPr>
          <p:nvPr/>
        </p:nvPicPr>
        <p:blipFill>
          <a:blip r:embed="rId21"/>
          <a:srcRect l="-6154" r="-6154" t="0" b="0"/>
          <a:stretch/>
        </p:blipFill>
        <p:spPr>
          <a:xfrm>
            <a:off x="10096805" y="1802282"/>
            <a:ext cx="133502" cy="95098"/>
          </a:xfrm>
          <a:prstGeom prst="rect">
            <a:avLst/>
          </a:prstGeom>
        </p:spPr>
      </p:pic>
      <p:sp>
        <p:nvSpPr>
          <p:cNvPr id="70" name="Shape 47"/>
          <p:cNvSpPr/>
          <p:nvPr/>
        </p:nvSpPr>
        <p:spPr>
          <a:xfrm>
            <a:off x="10153498" y="2085746"/>
            <a:ext cx="457200" cy="457200"/>
          </a:xfrm>
          <a:prstGeom prst="roundRect">
            <a:avLst>
              <a:gd name="adj" fmla="val 41667"/>
            </a:avLst>
          </a:prstGeom>
          <a:solidFill>
            <a:srgbClr val="0F172A">
              <a:alpha val="50000"/>
            </a:srgbClr>
          </a:solidFill>
          <a:ln w="12700">
            <a:solidFill>
              <a:srgbClr val="10B981">
                <a:alpha val="30000"/>
              </a:srgbClr>
            </a:solidFill>
            <a:prstDash val="solid"/>
          </a:ln>
        </p:spPr>
      </p:sp>
      <p:pic>
        <p:nvPicPr>
          <p:cNvPr id="71" name="Image 21" descr="preencoded.png">    </p:cNvPr>
          <p:cNvPicPr>
            <a:picLocks noChangeAspect="1"/>
          </p:cNvPicPr>
          <p:nvPr/>
        </p:nvPicPr>
        <p:blipFill>
          <a:blip r:embed="rId22"/>
          <a:srcRect l="0" r="0" t="0" b="0"/>
          <a:stretch/>
        </p:blipFill>
        <p:spPr>
          <a:xfrm>
            <a:off x="10267798" y="2200046"/>
            <a:ext cx="228600" cy="228600"/>
          </a:xfrm>
          <a:prstGeom prst="rect">
            <a:avLst/>
          </a:prstGeom>
        </p:spPr>
      </p:pic>
      <p:sp>
        <p:nvSpPr>
          <p:cNvPr id="72" name="Text 48"/>
          <p:cNvSpPr txBox="1"/>
          <p:nvPr/>
        </p:nvSpPr>
        <p:spPr>
          <a:xfrm>
            <a:off x="10001707" y="2657246"/>
            <a:ext cx="762610" cy="267005"/>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最終承認</a:t>
            </a:r>
            <a:endParaRPr lang="en-US" sz="1300" dirty="0"/>
          </a:p>
        </p:txBody>
      </p:sp>
      <p:sp>
        <p:nvSpPr>
          <p:cNvPr id="73" name="Text 49"/>
          <p:cNvSpPr txBox="1"/>
          <p:nvPr/>
        </p:nvSpPr>
        <p:spPr>
          <a:xfrm>
            <a:off x="9344254" y="3276295"/>
            <a:ext cx="2159813" cy="152705"/>
          </a:xfrm>
          <a:prstGeom prst="rect">
            <a:avLst/>
          </a:prstGeom>
          <a:noFill/>
          <a:ln/>
        </p:spPr>
        <p:txBody>
          <a:bodyPr wrap="square" lIns="0" tIns="0" rIns="0" bIns="0" rtlCol="0" anchor="ctr"/>
          <a:lstStyle/>
          <a:p>
            <a:pPr algn="l" indent="0" marL="0">
              <a:buNone/>
            </a:pPr>
            <a:r>
              <a:rPr lang="en-US" sz="900" b="1" spc="22" kern="0" dirty="0">
                <a:solidFill>
                  <a:srgbClr val="94A3B8"/>
                </a:solidFill>
                <a:latin typeface="Noto Sans JP" pitchFamily="34" charset="0"/>
                <a:ea typeface="Noto Sans JP" pitchFamily="34" charset="-122"/>
                <a:cs typeface="Noto Sans JP" pitchFamily="34" charset="-120"/>
              </a:rPr>
              <a:t>ACTION</a:t>
            </a:r>
            <a:endParaRPr lang="en-US" sz="900" dirty="0"/>
          </a:p>
        </p:txBody>
      </p:sp>
      <p:sp>
        <p:nvSpPr>
          <p:cNvPr id="74" name="Text 50"/>
          <p:cNvSpPr txBox="1"/>
          <p:nvPr/>
        </p:nvSpPr>
        <p:spPr>
          <a:xfrm>
            <a:off x="9344254" y="3504895"/>
            <a:ext cx="2153412" cy="657454"/>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「ビジネス要件」と「アーキテクチャの妥当性」のみを判断しマージ。</a:t>
            </a:r>
            <a:endParaRPr lang="en-US" sz="1000" dirty="0"/>
          </a:p>
        </p:txBody>
      </p:sp>
      <p:sp>
        <p:nvSpPr>
          <p:cNvPr id="75" name="Shape 51"/>
          <p:cNvSpPr/>
          <p:nvPr/>
        </p:nvSpPr>
        <p:spPr>
          <a:xfrm>
            <a:off x="9344254" y="4686300"/>
            <a:ext cx="2076602" cy="580644"/>
          </a:xfrm>
          <a:prstGeom prst="roundRect">
            <a:avLst>
              <a:gd name="adj" fmla="val 10327"/>
            </a:avLst>
          </a:prstGeom>
          <a:solidFill>
            <a:srgbClr val="1E293B">
              <a:alpha val="50000"/>
            </a:srgbClr>
          </a:solidFill>
          <a:ln w="12700">
            <a:solidFill>
              <a:srgbClr val="334155">
                <a:alpha val="50000"/>
              </a:srgbClr>
            </a:solidFill>
            <a:prstDash val="solid"/>
          </a:ln>
        </p:spPr>
      </p:sp>
      <p:sp>
        <p:nvSpPr>
          <p:cNvPr id="76" name="Text 52"/>
          <p:cNvSpPr txBox="1"/>
          <p:nvPr/>
        </p:nvSpPr>
        <p:spPr>
          <a:xfrm>
            <a:off x="9467698" y="4809744"/>
            <a:ext cx="1905610" cy="143561"/>
          </a:xfrm>
          <a:prstGeom prst="rect">
            <a:avLst/>
          </a:prstGeom>
          <a:noFill/>
          <a:ln/>
        </p:spPr>
        <p:txBody>
          <a:bodyPr wrap="square" lIns="0" tIns="0" rIns="0" bIns="0" rtlCol="0" anchor="ctr"/>
          <a:lstStyle/>
          <a:p>
            <a:pPr algn="l" indent="0" marL="0">
              <a:buNone/>
            </a:pPr>
            <a:r>
              <a:rPr lang="en-US" sz="800" dirty="0">
                <a:solidFill>
                  <a:srgbClr val="64748B"/>
                </a:solidFill>
                <a:latin typeface="Noto Sans JP" pitchFamily="34" charset="0"/>
                <a:ea typeface="Noto Sans JP" pitchFamily="34" charset="-122"/>
                <a:cs typeface="Noto Sans JP" pitchFamily="34" charset="-120"/>
              </a:rPr>
              <a:t>OUTCOME</a:t>
            </a:r>
            <a:endParaRPr lang="en-US" sz="800" dirty="0"/>
          </a:p>
        </p:txBody>
      </p:sp>
      <p:sp>
        <p:nvSpPr>
          <p:cNvPr id="77" name="Text 53"/>
          <p:cNvSpPr txBox="1"/>
          <p:nvPr/>
        </p:nvSpPr>
        <p:spPr>
          <a:xfrm>
            <a:off x="9620402" y="4990795"/>
            <a:ext cx="1752905" cy="152705"/>
          </a:xfrm>
          <a:prstGeom prst="rect">
            <a:avLst/>
          </a:prstGeom>
          <a:noFill/>
          <a:ln/>
        </p:spPr>
        <p:txBody>
          <a:bodyPr wrap="square" lIns="0" tIns="0" rIns="0" bIns="0" rtlCol="0" anchor="ctr"/>
          <a:lstStyle/>
          <a:p>
            <a:pPr algn="l" indent="0" marL="0">
              <a:buNone/>
            </a:pPr>
            <a:r>
              <a:rPr lang="en-US" sz="900" dirty="0">
                <a:solidFill>
                  <a:srgbClr val="FFFFFF"/>
                </a:solidFill>
                <a:latin typeface="JetBrains Mono" pitchFamily="34" charset="0"/>
                <a:ea typeface="JetBrains Mono" pitchFamily="34" charset="-122"/>
                <a:cs typeface="JetBrains Mono" pitchFamily="34" charset="-120"/>
              </a:rPr>
              <a:t>Production Ready</a:t>
            </a:r>
            <a:endParaRPr lang="en-US" sz="900" dirty="0"/>
          </a:p>
        </p:txBody>
      </p:sp>
      <p:pic>
        <p:nvPicPr>
          <p:cNvPr id="78" name="Image 22" descr="preencoded.png">    </p:cNvPr>
          <p:cNvPicPr>
            <a:picLocks noChangeAspect="1"/>
          </p:cNvPicPr>
          <p:nvPr/>
        </p:nvPicPr>
        <p:blipFill>
          <a:blip r:embed="rId23"/>
          <a:srcRect l="0" r="0" t="0" b="0"/>
          <a:stretch/>
        </p:blipFill>
        <p:spPr>
          <a:xfrm>
            <a:off x="9467698" y="5005426"/>
            <a:ext cx="114300" cy="114300"/>
          </a:xfrm>
          <a:prstGeom prst="rect">
            <a:avLst/>
          </a:prstGeom>
        </p:spPr>
      </p:pic>
      <p:pic>
        <p:nvPicPr>
          <p:cNvPr id="79" name="Image 23" descr="preencoded.png">    </p:cNvPr>
          <p:cNvPicPr>
            <a:picLocks noChangeAspect="1"/>
          </p:cNvPicPr>
          <p:nvPr/>
        </p:nvPicPr>
        <p:blipFill>
          <a:blip r:embed="rId24"/>
          <a:stretch>
            <a:fillRect/>
          </a:stretch>
        </p:blipFill>
        <p:spPr>
          <a:xfrm>
            <a:off x="1676095" y="1447495"/>
            <a:ext cx="267005" cy="267005"/>
          </a:xfrm>
          <a:prstGeom prst="rect">
            <a:avLst/>
          </a:prstGeom>
        </p:spPr>
      </p:pic>
      <p:sp>
        <p:nvSpPr>
          <p:cNvPr id="80" name="Text 54"/>
          <p:cNvSpPr/>
          <p:nvPr/>
        </p:nvSpPr>
        <p:spPr>
          <a:xfrm>
            <a:off x="1676095" y="1447495"/>
            <a:ext cx="267005" cy="267005"/>
          </a:xfrm>
          <a:prstGeom prst="rect">
            <a:avLst/>
          </a:prstGeom>
          <a:solidFill>
            <a:srgbClr val="FFFFFF">
              <a:alpha val="0"/>
            </a:srgbClr>
          </a:solidFill>
          <a:ln w="25400">
            <a:solidFill>
              <a:srgbClr val="3B82F6"/>
            </a:solidFill>
          </a:ln>
        </p:spPr>
        <p:txBody>
          <a:bodyPr wrap="square" lIns="0" tIns="0" rIns="0" bIns="0" rtlCol="0" anchor="ctr"/>
          <a:lstStyle/>
          <a:p>
            <a:pPr algn="ctr" indent="0" marL="0">
              <a:buNone/>
            </a:pPr>
            <a:r>
              <a:rPr lang="en-US" sz="1000" b="1" dirty="0">
                <a:solidFill>
                  <a:srgbClr val="3B82F6"/>
                </a:solidFill>
                <a:latin typeface="Noto Sans JP" pitchFamily="34" charset="0"/>
                <a:ea typeface="Noto Sans JP" pitchFamily="34" charset="-122"/>
                <a:cs typeface="Noto Sans JP" pitchFamily="34" charset="-120"/>
              </a:rPr>
              <a:t>1</a:t>
            </a:r>
            <a:endParaRPr lang="en-US" sz="1000" dirty="0"/>
          </a:p>
        </p:txBody>
      </p:sp>
      <p:pic>
        <p:nvPicPr>
          <p:cNvPr id="81" name="Image 24" descr="preencoded.png">    </p:cNvPr>
          <p:cNvPicPr>
            <a:picLocks noChangeAspect="1"/>
          </p:cNvPicPr>
          <p:nvPr/>
        </p:nvPicPr>
        <p:blipFill>
          <a:blip r:embed="rId25"/>
          <a:stretch>
            <a:fillRect/>
          </a:stretch>
        </p:blipFill>
        <p:spPr>
          <a:xfrm>
            <a:off x="4533595" y="1447495"/>
            <a:ext cx="267005" cy="267005"/>
          </a:xfrm>
          <a:prstGeom prst="rect">
            <a:avLst/>
          </a:prstGeom>
        </p:spPr>
      </p:pic>
      <p:sp>
        <p:nvSpPr>
          <p:cNvPr id="82" name="Text 55"/>
          <p:cNvSpPr/>
          <p:nvPr/>
        </p:nvSpPr>
        <p:spPr>
          <a:xfrm>
            <a:off x="4533595" y="1447495"/>
            <a:ext cx="267005" cy="267005"/>
          </a:xfrm>
          <a:prstGeom prst="rect">
            <a:avLst/>
          </a:prstGeom>
          <a:solidFill>
            <a:srgbClr val="FFFFFF">
              <a:alpha val="0"/>
            </a:srgbClr>
          </a:solidFill>
          <a:ln w="25400">
            <a:solidFill>
              <a:srgbClr val="A855F7"/>
            </a:solidFill>
          </a:ln>
        </p:spPr>
        <p:txBody>
          <a:bodyPr wrap="square" lIns="0" tIns="0" rIns="0" bIns="0" rtlCol="0" anchor="ctr"/>
          <a:lstStyle/>
          <a:p>
            <a:pPr algn="ctr" indent="0" marL="0">
              <a:buNone/>
            </a:pPr>
            <a:r>
              <a:rPr lang="en-US" sz="1000" b="1" dirty="0">
                <a:solidFill>
                  <a:srgbClr val="A855F7"/>
                </a:solidFill>
                <a:latin typeface="Noto Sans JP" pitchFamily="34" charset="0"/>
                <a:ea typeface="Noto Sans JP" pitchFamily="34" charset="-122"/>
                <a:cs typeface="Noto Sans JP" pitchFamily="34" charset="-120"/>
              </a:rPr>
              <a:t>2</a:t>
            </a:r>
            <a:endParaRPr lang="en-US" sz="1000" dirty="0"/>
          </a:p>
        </p:txBody>
      </p:sp>
      <p:pic>
        <p:nvPicPr>
          <p:cNvPr id="83" name="Image 25" descr="preencoded.png">    </p:cNvPr>
          <p:cNvPicPr>
            <a:picLocks noChangeAspect="1"/>
          </p:cNvPicPr>
          <p:nvPr/>
        </p:nvPicPr>
        <p:blipFill>
          <a:blip r:embed="rId26"/>
          <a:stretch>
            <a:fillRect/>
          </a:stretch>
        </p:blipFill>
        <p:spPr>
          <a:xfrm>
            <a:off x="7391095" y="1447495"/>
            <a:ext cx="267005" cy="267005"/>
          </a:xfrm>
          <a:prstGeom prst="rect">
            <a:avLst/>
          </a:prstGeom>
        </p:spPr>
      </p:pic>
      <p:sp>
        <p:nvSpPr>
          <p:cNvPr id="84" name="Text 56"/>
          <p:cNvSpPr/>
          <p:nvPr/>
        </p:nvSpPr>
        <p:spPr>
          <a:xfrm>
            <a:off x="7391095" y="1447495"/>
            <a:ext cx="267005" cy="267005"/>
          </a:xfrm>
          <a:prstGeom prst="rect">
            <a:avLst/>
          </a:prstGeom>
          <a:solidFill>
            <a:srgbClr val="FFFFFF">
              <a:alpha val="0"/>
            </a:srgbClr>
          </a:solidFill>
          <a:ln w="25400">
            <a:solidFill>
              <a:srgbClr val="F43F5E"/>
            </a:solidFill>
          </a:ln>
        </p:spPr>
        <p:txBody>
          <a:bodyPr wrap="square" lIns="0" tIns="0" rIns="0" bIns="0" rtlCol="0" anchor="ctr"/>
          <a:lstStyle/>
          <a:p>
            <a:pPr algn="ctr" indent="0" marL="0">
              <a:buNone/>
            </a:pPr>
            <a:r>
              <a:rPr lang="en-US" sz="1000" b="1" dirty="0">
                <a:solidFill>
                  <a:srgbClr val="F43F5E"/>
                </a:solidFill>
                <a:latin typeface="Noto Sans JP" pitchFamily="34" charset="0"/>
                <a:ea typeface="Noto Sans JP" pitchFamily="34" charset="-122"/>
                <a:cs typeface="Noto Sans JP" pitchFamily="34" charset="-120"/>
              </a:rPr>
              <a:t>3</a:t>
            </a:r>
            <a:endParaRPr lang="en-US" sz="1000" dirty="0"/>
          </a:p>
        </p:txBody>
      </p:sp>
      <p:pic>
        <p:nvPicPr>
          <p:cNvPr id="85" name="Image 26" descr="preencoded.png">    </p:cNvPr>
          <p:cNvPicPr>
            <a:picLocks noChangeAspect="1"/>
          </p:cNvPicPr>
          <p:nvPr/>
        </p:nvPicPr>
        <p:blipFill>
          <a:blip r:embed="rId27"/>
          <a:stretch>
            <a:fillRect/>
          </a:stretch>
        </p:blipFill>
        <p:spPr>
          <a:xfrm>
            <a:off x="10248595" y="1447495"/>
            <a:ext cx="267005" cy="267005"/>
          </a:xfrm>
          <a:prstGeom prst="rect">
            <a:avLst/>
          </a:prstGeom>
        </p:spPr>
      </p:pic>
      <p:sp>
        <p:nvSpPr>
          <p:cNvPr id="86" name="Text 57"/>
          <p:cNvSpPr/>
          <p:nvPr/>
        </p:nvSpPr>
        <p:spPr>
          <a:xfrm>
            <a:off x="10248595" y="1447495"/>
            <a:ext cx="267005" cy="267005"/>
          </a:xfrm>
          <a:prstGeom prst="rect">
            <a:avLst/>
          </a:prstGeom>
          <a:solidFill>
            <a:srgbClr val="FFFFFF">
              <a:alpha val="0"/>
            </a:srgbClr>
          </a:solidFill>
          <a:ln w="25400">
            <a:solidFill>
              <a:srgbClr val="10B981"/>
            </a:solidFill>
          </a:ln>
        </p:spPr>
        <p:txBody>
          <a:bodyPr wrap="square" lIns="0" tIns="0" rIns="0" bIns="0" rtlCol="0" anchor="ctr"/>
          <a:lstStyle/>
          <a:p>
            <a:pPr algn="ctr" indent="0" marL="0">
              <a:buNone/>
            </a:pPr>
            <a:r>
              <a:rPr lang="en-US" sz="1000" b="1" dirty="0">
                <a:solidFill>
                  <a:srgbClr val="10B981"/>
                </a:solidFill>
                <a:latin typeface="Noto Sans JP" pitchFamily="34" charset="0"/>
                <a:ea typeface="Noto Sans JP" pitchFamily="34" charset="-122"/>
                <a:cs typeface="Noto Sans JP" pitchFamily="34" charset="-120"/>
              </a:rPr>
              <a:t>4</a:t>
            </a:r>
            <a:endParaRPr lang="en-US" sz="1000" dirty="0"/>
          </a:p>
        </p:txBody>
      </p:sp>
      <p:sp>
        <p:nvSpPr>
          <p:cNvPr id="87" name="Shape 58"/>
          <p:cNvSpPr/>
          <p:nvPr/>
        </p:nvSpPr>
        <p:spPr>
          <a:xfrm>
            <a:off x="571500" y="5772607"/>
            <a:ext cx="11048695" cy="629107"/>
          </a:xfrm>
          <a:prstGeom prst="roundRect">
            <a:avLst>
              <a:gd name="adj" fmla="val 17618"/>
            </a:avLst>
          </a:prstGeom>
          <a:solidFill>
            <a:srgbClr val="1E293B">
              <a:alpha val="40000"/>
            </a:srgbClr>
          </a:solidFill>
          <a:ln w="12700">
            <a:solidFill>
              <a:srgbClr val="334155"/>
            </a:solidFill>
            <a:prstDash val="solid"/>
          </a:ln>
        </p:spPr>
      </p:sp>
      <p:sp>
        <p:nvSpPr>
          <p:cNvPr id="88" name="Shape 59"/>
          <p:cNvSpPr/>
          <p:nvPr/>
        </p:nvSpPr>
        <p:spPr>
          <a:xfrm>
            <a:off x="733349" y="5934456"/>
            <a:ext cx="304495" cy="304495"/>
          </a:xfrm>
          <a:prstGeom prst="ellipse">
            <a:avLst/>
          </a:prstGeom>
          <a:solidFill>
            <a:srgbClr val="3B82F6">
              <a:alpha val="20000"/>
            </a:srgbClr>
          </a:solidFill>
          <a:ln w="12700">
            <a:solidFill>
              <a:srgbClr val="FFFFFF">
                <a:alpha val="0"/>
              </a:srgbClr>
            </a:solidFill>
            <a:prstDash val="solid"/>
          </a:ln>
        </p:spPr>
      </p:sp>
      <p:pic>
        <p:nvPicPr>
          <p:cNvPr id="89" name="Image 27" descr="preencoded.png">    </p:cNvPr>
          <p:cNvPicPr>
            <a:picLocks noChangeAspect="1"/>
          </p:cNvPicPr>
          <p:nvPr/>
        </p:nvPicPr>
        <p:blipFill>
          <a:blip r:embed="rId28"/>
          <a:srcRect l="-299" r="-299" t="0" b="0"/>
          <a:stretch/>
        </p:blipFill>
        <p:spPr>
          <a:xfrm>
            <a:off x="857707" y="6010351"/>
            <a:ext cx="57607" cy="152705"/>
          </a:xfrm>
          <a:prstGeom prst="rect">
            <a:avLst/>
          </a:prstGeom>
        </p:spPr>
      </p:pic>
      <p:sp>
        <p:nvSpPr>
          <p:cNvPr id="90" name="Text 60"/>
          <p:cNvSpPr txBox="1"/>
          <p:nvPr/>
        </p:nvSpPr>
        <p:spPr>
          <a:xfrm>
            <a:off x="1152144" y="5991149"/>
            <a:ext cx="6877202"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Objective:</a:t>
            </a:r>
            <a:pPr algn="l" indent="0" marL="0">
              <a:buNone/>
            </a:pPr>
            <a:r>
              <a:rPr lang="en-US" sz="1000" dirty="0">
                <a:solidFill>
                  <a:srgbClr val="CBD5E1"/>
                </a:solidFill>
                <a:latin typeface="Noto Sans JP" pitchFamily="34" charset="0"/>
                <a:ea typeface="Noto Sans JP" pitchFamily="34" charset="-122"/>
                <a:cs typeface="Noto Sans JP" pitchFamily="34" charset="-120"/>
              </a:rPr>
              <a:t> 人間が直接コードをレビューする工数を極限まで減らし、AIによる多重チェックで品質を担保する。 </a:t>
            </a:r>
            <a:endParaRPr lang="en-US" sz="1000" dirty="0"/>
          </a:p>
        </p:txBody>
      </p:sp>
      <p:sp>
        <p:nvSpPr>
          <p:cNvPr id="91" name="Text 61"/>
          <p:cNvSpPr txBox="1"/>
          <p:nvPr/>
        </p:nvSpPr>
        <p:spPr>
          <a:xfrm>
            <a:off x="9186977" y="6010351"/>
            <a:ext cx="1010412" cy="152705"/>
          </a:xfrm>
          <a:prstGeom prst="rect">
            <a:avLst/>
          </a:prstGeom>
          <a:noFill/>
          <a:ln/>
        </p:spPr>
        <p:txBody>
          <a:bodyPr wrap="square" lIns="0" tIns="0" rIns="0" bIns="0" rtlCol="0" anchor="ctr"/>
          <a:lstStyle/>
          <a:p>
            <a:pPr algn="l" indent="0" marL="0">
              <a:buNone/>
            </a:pPr>
            <a:r>
              <a:rPr lang="en-US" sz="900" dirty="0">
                <a:solidFill>
                  <a:srgbClr val="94A3B8"/>
                </a:solidFill>
                <a:latin typeface="JetBrains Mono" pitchFamily="34" charset="0"/>
                <a:ea typeface="JetBrains Mono" pitchFamily="34" charset="-122"/>
                <a:cs typeface="JetBrains Mono" pitchFamily="34" charset="-120"/>
              </a:rPr>
              <a:t>Speed: </a:t>
            </a:r>
            <a:pPr algn="l" indent="0" marL="0">
              <a:buNone/>
            </a:pPr>
            <a:r>
              <a:rPr lang="en-US" sz="900" dirty="0">
                <a:solidFill>
                  <a:srgbClr val="34D399"/>
                </a:solidFill>
                <a:latin typeface="JetBrains Mono" pitchFamily="34" charset="0"/>
                <a:ea typeface="JetBrains Mono" pitchFamily="34" charset="-122"/>
                <a:cs typeface="JetBrains Mono" pitchFamily="34" charset="-120"/>
              </a:rPr>
              <a:t>300% UP</a:t>
            </a:r>
            <a:endParaRPr lang="en-US" sz="900" dirty="0"/>
          </a:p>
        </p:txBody>
      </p:sp>
      <p:pic>
        <p:nvPicPr>
          <p:cNvPr id="92" name="Image 28" descr="preencoded.png">    </p:cNvPr>
          <p:cNvPicPr>
            <a:picLocks noChangeAspect="1"/>
          </p:cNvPicPr>
          <p:nvPr/>
        </p:nvPicPr>
        <p:blipFill>
          <a:blip r:embed="rId29"/>
          <a:srcRect l="0" r="0" t="0" b="0"/>
          <a:stretch/>
        </p:blipFill>
        <p:spPr>
          <a:xfrm>
            <a:off x="8996782" y="6029554"/>
            <a:ext cx="114300" cy="114300"/>
          </a:xfrm>
          <a:prstGeom prst="rect">
            <a:avLst/>
          </a:prstGeom>
        </p:spPr>
      </p:pic>
      <p:sp>
        <p:nvSpPr>
          <p:cNvPr id="93" name="Text 62"/>
          <p:cNvSpPr txBox="1"/>
          <p:nvPr/>
        </p:nvSpPr>
        <p:spPr>
          <a:xfrm>
            <a:off x="9636862" y="6010351"/>
            <a:ext cx="562356" cy="152705"/>
          </a:xfrm>
          <a:prstGeom prst="rect">
            <a:avLst/>
          </a:prstGeom>
          <a:noFill/>
          <a:ln/>
        </p:spPr>
        <p:txBody>
          <a:bodyPr wrap="square" lIns="0" tIns="0" rIns="0" bIns="0" rtlCol="0" anchor="ctr"/>
          <a:lstStyle/>
          <a:p>
            <a:pPr algn="l" indent="0" marL="0">
              <a:buNone/>
            </a:pPr>
            <a:r>
              <a:rPr lang="en-US" sz="900" dirty="0">
                <a:solidFill>
                  <a:srgbClr val="34D399"/>
                </a:solidFill>
                <a:latin typeface="JetBrains Mono" pitchFamily="34" charset="0"/>
                <a:ea typeface="JetBrains Mono" pitchFamily="34" charset="-122"/>
                <a:cs typeface="JetBrains Mono" pitchFamily="34" charset="-120"/>
              </a:rPr>
              <a:t>300% UP</a:t>
            </a:r>
            <a:endParaRPr lang="en-US" sz="900" dirty="0"/>
          </a:p>
        </p:txBody>
      </p:sp>
      <p:sp>
        <p:nvSpPr>
          <p:cNvPr id="94" name="Text 63"/>
          <p:cNvSpPr txBox="1"/>
          <p:nvPr/>
        </p:nvSpPr>
        <p:spPr>
          <a:xfrm>
            <a:off x="10459822" y="6010351"/>
            <a:ext cx="1077163" cy="152705"/>
          </a:xfrm>
          <a:prstGeom prst="rect">
            <a:avLst/>
          </a:prstGeom>
          <a:noFill/>
          <a:ln/>
        </p:spPr>
        <p:txBody>
          <a:bodyPr wrap="square" lIns="0" tIns="0" rIns="0" bIns="0" rtlCol="0" anchor="ctr"/>
          <a:lstStyle/>
          <a:p>
            <a:pPr algn="l" indent="0" marL="0">
              <a:buNone/>
            </a:pPr>
            <a:r>
              <a:rPr lang="en-US" sz="900" dirty="0">
                <a:solidFill>
                  <a:srgbClr val="94A3B8"/>
                </a:solidFill>
                <a:latin typeface="JetBrains Mono" pitchFamily="34" charset="0"/>
                <a:ea typeface="JetBrains Mono" pitchFamily="34" charset="-122"/>
                <a:cs typeface="JetBrains Mono" pitchFamily="34" charset="-120"/>
              </a:rPr>
              <a:t>Bugs: </a:t>
            </a:r>
            <a:pPr algn="l" indent="0" marL="0">
              <a:buNone/>
            </a:pPr>
            <a:r>
              <a:rPr lang="en-US" sz="900" dirty="0">
                <a:solidFill>
                  <a:srgbClr val="34D399"/>
                </a:solidFill>
                <a:latin typeface="JetBrains Mono" pitchFamily="34" charset="0"/>
                <a:ea typeface="JetBrains Mono" pitchFamily="34" charset="-122"/>
                <a:cs typeface="JetBrains Mono" pitchFamily="34" charset="-120"/>
              </a:rPr>
              <a:t>MINIMIZED</a:t>
            </a:r>
            <a:endParaRPr lang="en-US" sz="900" dirty="0"/>
          </a:p>
        </p:txBody>
      </p:sp>
      <p:pic>
        <p:nvPicPr>
          <p:cNvPr id="95" name="Image 29" descr="preencoded.png">    </p:cNvPr>
          <p:cNvPicPr>
            <a:picLocks noChangeAspect="1"/>
          </p:cNvPicPr>
          <p:nvPr/>
        </p:nvPicPr>
        <p:blipFill>
          <a:blip r:embed="rId30"/>
          <a:srcRect l="0" r="0" t="0" b="0"/>
          <a:stretch/>
        </p:blipFill>
        <p:spPr>
          <a:xfrm>
            <a:off x="10269626" y="6029554"/>
            <a:ext cx="114300" cy="114300"/>
          </a:xfrm>
          <a:prstGeom prst="rect">
            <a:avLst/>
          </a:prstGeom>
        </p:spPr>
      </p:pic>
      <p:sp>
        <p:nvSpPr>
          <p:cNvPr id="96" name="Text 64"/>
          <p:cNvSpPr txBox="1"/>
          <p:nvPr/>
        </p:nvSpPr>
        <p:spPr>
          <a:xfrm>
            <a:off x="10841126" y="6010351"/>
            <a:ext cx="695858" cy="152705"/>
          </a:xfrm>
          <a:prstGeom prst="rect">
            <a:avLst/>
          </a:prstGeom>
          <a:noFill/>
          <a:ln/>
        </p:spPr>
        <p:txBody>
          <a:bodyPr wrap="square" lIns="0" tIns="0" rIns="0" bIns="0" rtlCol="0" anchor="ctr"/>
          <a:lstStyle/>
          <a:p>
            <a:pPr algn="l" indent="0" marL="0">
              <a:buNone/>
            </a:pPr>
            <a:r>
              <a:rPr lang="en-US" sz="900" dirty="0">
                <a:solidFill>
                  <a:srgbClr val="34D399"/>
                </a:solidFill>
                <a:latin typeface="JetBrains Mono" pitchFamily="34" charset="0"/>
                <a:ea typeface="JetBrains Mono" pitchFamily="34" charset="-122"/>
                <a:cs typeface="JetBrains Mono" pitchFamily="34" charset="-120"/>
              </a:rPr>
              <a:t>MINIMIZED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0F172A"/>
          </a:solidFill>
          <a:ln w="12700">
            <a:solidFill>
              <a:srgbClr val="FFFFFF">
                <a:alpha val="0"/>
              </a:srgbClr>
            </a:solidFill>
            <a:prstDash val="solid"/>
          </a:ln>
        </p:spPr>
      </p:sp>
      <p:pic>
        <p:nvPicPr>
          <p:cNvPr id="4" name="Image 0" descr="preencoded.png">    </p:cNvPr>
          <p:cNvPicPr>
            <a:picLocks noChangeAspect="1"/>
          </p:cNvPicPr>
          <p:nvPr/>
        </p:nvPicPr>
        <p:blipFill>
          <a:blip r:embed="rId1">
            <a:alphaModFix amt="15000"/>
          </a:blip>
          <a:srcRect l="0" r="0" t="-1" b="-1"/>
          <a:stretch/>
        </p:blipFill>
        <p:spPr>
          <a:xfrm>
            <a:off x="0" y="0"/>
            <a:ext cx="12191695" cy="6858000"/>
          </a:xfrm>
          <a:prstGeom prst="rect">
            <a:avLst/>
          </a:prstGeom>
        </p:spPr>
      </p:pic>
      <p:pic>
        <p:nvPicPr>
          <p:cNvPr id="5" name="Image 1" descr="preencoded.png">    </p:cNvPr>
          <p:cNvPicPr>
            <a:picLocks noChangeAspect="1"/>
          </p:cNvPicPr>
          <p:nvPr/>
        </p:nvPicPr>
        <p:blipFill>
          <a:blip r:embed="rId2"/>
          <a:stretch>
            <a:fillRect/>
          </a:stretch>
        </p:blipFill>
        <p:spPr>
          <a:xfrm>
            <a:off x="571500" y="381305"/>
            <a:ext cx="1800454" cy="247802"/>
          </a:xfrm>
          <a:prstGeom prst="rect">
            <a:avLst/>
          </a:prstGeom>
        </p:spPr>
      </p:pic>
      <p:sp>
        <p:nvSpPr>
          <p:cNvPr id="6" name="Text 2"/>
          <p:cNvSpPr/>
          <p:nvPr/>
        </p:nvSpPr>
        <p:spPr>
          <a:xfrm>
            <a:off x="905256" y="381305"/>
            <a:ext cx="1466698" cy="247802"/>
          </a:xfrm>
          <a:prstGeom prst="rect">
            <a:avLst/>
          </a:prstGeom>
          <a:solidFill>
            <a:srgbClr val="FFFFFF">
              <a:alpha val="0"/>
            </a:srgbClr>
          </a:solidFill>
          <a:ln w="12700">
            <a:solidFill>
              <a:srgbClr val="78350F">
                <a:alpha val="50000"/>
              </a:srgbClr>
            </a:solidFill>
          </a:ln>
        </p:spPr>
        <p:txBody>
          <a:bodyPr wrap="square" lIns="0" tIns="0" rIns="0" bIns="0" rtlCol="0" anchor="ctr"/>
          <a:lstStyle/>
          <a:p>
            <a:pPr algn="ctr" indent="0" marL="0">
              <a:buNone/>
            </a:pPr>
            <a:r>
              <a:rPr lang="en-US" sz="900" b="1" spc="45" kern="0" dirty="0">
                <a:solidFill>
                  <a:srgbClr val="FBBF24"/>
                </a:solidFill>
                <a:latin typeface="Noto Sans JP" pitchFamily="34" charset="0"/>
                <a:ea typeface="Noto Sans JP" pitchFamily="34" charset="-122"/>
                <a:cs typeface="Noto Sans JP" pitchFamily="34" charset="-120"/>
              </a:rPr>
              <a:t>DIRECTORY STRATEGY</a:t>
            </a:r>
            <a:endParaRPr lang="en-US" sz="900" dirty="0"/>
          </a:p>
        </p:txBody>
      </p:sp>
      <p:sp>
        <p:nvSpPr>
          <p:cNvPr id="7" name="Text 3"/>
          <p:cNvSpPr txBox="1"/>
          <p:nvPr/>
        </p:nvSpPr>
        <p:spPr>
          <a:xfrm>
            <a:off x="571500" y="705002"/>
            <a:ext cx="6065215" cy="381305"/>
          </a:xfrm>
          <a:prstGeom prst="rect">
            <a:avLst/>
          </a:prstGeom>
          <a:noFill/>
          <a:ln/>
        </p:spPr>
        <p:txBody>
          <a:bodyPr wrap="square" lIns="0" tIns="0" rIns="0" bIns="0" rtlCol="0" anchor="ctr"/>
          <a:lstStyle/>
          <a:p>
            <a:pPr algn="l" indent="0" marL="0">
              <a:buNone/>
            </a:pPr>
            <a:r>
              <a:rPr lang="en-US" sz="2700" b="1" spc="-67" kern="0" dirty="0">
                <a:solidFill>
                  <a:srgbClr val="FFFFFF"/>
                </a:solidFill>
                <a:latin typeface="Noto Sans JP" pitchFamily="34" charset="0"/>
                <a:ea typeface="Noto Sans JP" pitchFamily="34" charset="-122"/>
                <a:cs typeface="Noto Sans JP" pitchFamily="34" charset="-120"/>
              </a:rPr>
              <a:t> AIを統制する</a:t>
            </a:r>
            <a:pPr algn="l" indent="0" marL="0">
              <a:buNone/>
            </a:pPr>
            <a:r>
              <a:rPr lang="en-US" sz="2700" b="1" spc="-67" kern="0" dirty="0">
                <a:solidFill>
                  <a:srgbClr val="FBBF24"/>
                </a:solidFill>
                <a:latin typeface="Noto Sans JP" pitchFamily="34" charset="0"/>
                <a:ea typeface="Noto Sans JP" pitchFamily="34" charset="-122"/>
                <a:cs typeface="Noto Sans JP" pitchFamily="34" charset="-120"/>
              </a:rPr>
              <a:t>ドキュメント駆動</a:t>
            </a:r>
            <a:endParaRPr lang="en-US" sz="2700" dirty="0"/>
          </a:p>
        </p:txBody>
      </p:sp>
      <p:sp>
        <p:nvSpPr>
          <p:cNvPr id="8" name="Text 4"/>
          <p:cNvSpPr txBox="1"/>
          <p:nvPr/>
        </p:nvSpPr>
        <p:spPr>
          <a:xfrm>
            <a:off x="7433158" y="705002"/>
            <a:ext cx="4191610" cy="191110"/>
          </a:xfrm>
          <a:prstGeom prst="rect">
            <a:avLst/>
          </a:prstGeom>
          <a:noFill/>
          <a:ln/>
        </p:spPr>
        <p:txBody>
          <a:bodyPr wrap="square" lIns="0" tIns="0" rIns="0" bIns="0" rtlCol="0" anchor="ctr"/>
          <a:lstStyle/>
          <a:p>
            <a:pPr algn="r" indent="0" marL="0">
              <a:buNone/>
            </a:pPr>
            <a:r>
              <a:rPr lang="en-US" sz="1000" dirty="0">
                <a:solidFill>
                  <a:srgbClr val="94A3B8"/>
                </a:solidFill>
                <a:latin typeface="Noto Sans JP" pitchFamily="34" charset="0"/>
                <a:ea typeface="Noto Sans JP" pitchFamily="34" charset="-122"/>
                <a:cs typeface="Noto Sans JP" pitchFamily="34" charset="-120"/>
              </a:rPr>
              <a:t>マルチリポジトリの修正を「一撃」で行うためのコンテキスト設計</a:t>
            </a:r>
            <a:endParaRPr lang="en-US" sz="1000" dirty="0"/>
          </a:p>
        </p:txBody>
      </p:sp>
      <p:sp>
        <p:nvSpPr>
          <p:cNvPr id="9" name="Text 5"/>
          <p:cNvSpPr txBox="1"/>
          <p:nvPr/>
        </p:nvSpPr>
        <p:spPr>
          <a:xfrm>
            <a:off x="10592410" y="933602"/>
            <a:ext cx="1114654" cy="152705"/>
          </a:xfrm>
          <a:prstGeom prst="rect">
            <a:avLst/>
          </a:prstGeom>
          <a:noFill/>
          <a:ln/>
        </p:spPr>
        <p:txBody>
          <a:bodyPr wrap="square" lIns="0" tIns="0" rIns="0" bIns="0" rtlCol="0" anchor="ctr"/>
          <a:lstStyle/>
          <a:p>
            <a:pPr algn="l" indent="0" marL="0">
              <a:buNone/>
            </a:pPr>
            <a:r>
              <a:rPr lang="en-US" sz="900" dirty="0">
                <a:solidFill>
                  <a:srgbClr val="64748B"/>
                </a:solidFill>
                <a:latin typeface="JetBrains Mono" pitchFamily="34" charset="0"/>
                <a:ea typeface="JetBrains Mono" pitchFamily="34" charset="-122"/>
                <a:cs typeface="JetBrains Mono" pitchFamily="34" charset="-120"/>
              </a:rPr>
              <a:t>CONTEXT_WRAPPER</a:t>
            </a:r>
            <a:endParaRPr lang="en-US" sz="900" dirty="0"/>
          </a:p>
        </p:txBody>
      </p:sp>
      <p:pic>
        <p:nvPicPr>
          <p:cNvPr id="10" name="Image 2" descr="preencoded.png">    </p:cNvPr>
          <p:cNvPicPr>
            <a:picLocks noChangeAspect="1"/>
          </p:cNvPicPr>
          <p:nvPr/>
        </p:nvPicPr>
        <p:blipFill>
          <a:blip r:embed="rId3"/>
          <a:srcRect l="-1911" r="-1911" t="0" b="0"/>
          <a:stretch/>
        </p:blipFill>
        <p:spPr>
          <a:xfrm>
            <a:off x="694944" y="452628"/>
            <a:ext cx="133502" cy="114300"/>
          </a:xfrm>
          <a:prstGeom prst="rect">
            <a:avLst/>
          </a:prstGeom>
        </p:spPr>
      </p:pic>
      <p:pic>
        <p:nvPicPr>
          <p:cNvPr id="11" name="Image 3" descr="preencoded.png">    </p:cNvPr>
          <p:cNvPicPr>
            <a:picLocks noChangeAspect="1"/>
          </p:cNvPicPr>
          <p:nvPr/>
        </p:nvPicPr>
        <p:blipFill>
          <a:blip r:embed="rId4"/>
          <a:srcRect l="-1911" r="-1911" t="0" b="0"/>
          <a:stretch/>
        </p:blipFill>
        <p:spPr>
          <a:xfrm>
            <a:off x="10420502" y="947318"/>
            <a:ext cx="133502" cy="114300"/>
          </a:xfrm>
          <a:prstGeom prst="rect">
            <a:avLst/>
          </a:prstGeom>
        </p:spPr>
      </p:pic>
      <p:sp>
        <p:nvSpPr>
          <p:cNvPr id="12" name="Shape 6"/>
          <p:cNvSpPr/>
          <p:nvPr/>
        </p:nvSpPr>
        <p:spPr>
          <a:xfrm>
            <a:off x="571500" y="6295644"/>
            <a:ext cx="5333695" cy="961949"/>
          </a:xfrm>
          <a:prstGeom prst="roundRect">
            <a:avLst>
              <a:gd name="adj" fmla="val 7529"/>
            </a:avLst>
          </a:prstGeom>
          <a:solidFill>
            <a:srgbClr val="1E293B">
              <a:alpha val="40000"/>
            </a:srgbClr>
          </a:solidFill>
          <a:ln w="12700">
            <a:solidFill>
              <a:srgbClr val="334155"/>
            </a:solidFill>
            <a:prstDash val="solid"/>
          </a:ln>
        </p:spPr>
      </p:sp>
      <p:sp>
        <p:nvSpPr>
          <p:cNvPr id="13" name="Text 7"/>
          <p:cNvSpPr txBox="1"/>
          <p:nvPr/>
        </p:nvSpPr>
        <p:spPr>
          <a:xfrm>
            <a:off x="923544" y="6458407"/>
            <a:ext cx="5010912" cy="191110"/>
          </a:xfrm>
          <a:prstGeom prst="rect">
            <a:avLst/>
          </a:prstGeom>
          <a:noFill/>
          <a:ln/>
        </p:spPr>
        <p:txBody>
          <a:bodyPr wrap="square" lIns="0" tIns="0" rIns="0" bIns="0" rtlCol="0" anchor="ctr"/>
          <a:lstStyle/>
          <a:p>
            <a:pPr algn="l" indent="0" marL="0">
              <a:buNone/>
            </a:pPr>
            <a:r>
              <a:rPr lang="en-US" sz="1000" b="1" dirty="0">
                <a:solidFill>
                  <a:srgbClr val="FBBF24"/>
                </a:solidFill>
                <a:latin typeface="Noto Sans JP" pitchFamily="34" charset="0"/>
                <a:ea typeface="Noto Sans JP" pitchFamily="34" charset="-122"/>
                <a:cs typeface="Noto Sans JP" pitchFamily="34" charset="-120"/>
              </a:rPr>
              <a:t>この構成の狙い：一撃処理</a:t>
            </a:r>
            <a:endParaRPr lang="en-US" sz="1000" dirty="0"/>
          </a:p>
        </p:txBody>
      </p:sp>
      <p:sp>
        <p:nvSpPr>
          <p:cNvPr id="14" name="Text 8"/>
          <p:cNvSpPr txBox="1"/>
          <p:nvPr/>
        </p:nvSpPr>
        <p:spPr>
          <a:xfrm>
            <a:off x="733349" y="6724498"/>
            <a:ext cx="5086807" cy="372161"/>
          </a:xfrm>
          <a:prstGeom prst="rect">
            <a:avLst/>
          </a:prstGeom>
          <a:noFill/>
          <a:ln/>
        </p:spPr>
        <p:txBody>
          <a:bodyPr wrap="square" lIns="0" tIns="0" rIns="0" bIns="0" rtlCol="0" anchor="t"/>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 「APIのレスポンス型変更」のような修正を指示した際、AIは</a:t>
            </a:r>
            <a:pPr algn="l" indent="0" marL="0">
              <a:buNone/>
            </a:pPr>
            <a:r>
              <a:rPr lang="en-US" sz="900" b="1" dirty="0">
                <a:solidFill>
                  <a:srgbClr val="FFFFFF"/>
                </a:solidFill>
                <a:latin typeface="Noto Sans JP" pitchFamily="34" charset="0"/>
                <a:ea typeface="Noto Sans JP" pitchFamily="34" charset="-122"/>
                <a:cs typeface="Noto Sans JP" pitchFamily="34" charset="-120"/>
              </a:rPr>
              <a:t>バックエンドの実装修正</a:t>
            </a:r>
            <a:pPr algn="l" indent="0" marL="0">
              <a:buNone/>
            </a:pPr>
            <a:r>
              <a:rPr lang="en-US" sz="900" dirty="0">
                <a:solidFill>
                  <a:srgbClr val="94A3B8"/>
                </a:solidFill>
                <a:latin typeface="Noto Sans JP" pitchFamily="34" charset="0"/>
                <a:ea typeface="Noto Sans JP" pitchFamily="34" charset="-122"/>
                <a:cs typeface="Noto Sans JP" pitchFamily="34" charset="-120"/>
              </a:rPr>
              <a:t>と</a:t>
            </a:r>
            <a:pPr algn="l" indent="0" marL="0">
              <a:buNone/>
            </a:pPr>
            <a:r>
              <a:rPr lang="en-US" sz="900" b="1" dirty="0">
                <a:solidFill>
                  <a:srgbClr val="FFFFFF"/>
                </a:solidFill>
                <a:latin typeface="Noto Sans JP" pitchFamily="34" charset="0"/>
                <a:ea typeface="Noto Sans JP" pitchFamily="34" charset="-122"/>
                <a:cs typeface="Noto Sans JP" pitchFamily="34" charset="-120"/>
              </a:rPr>
              <a:t>フロントエンドの型定義更新</a:t>
            </a:r>
            <a:pPr algn="l" indent="0" marL="0">
              <a:buNone/>
            </a:pPr>
            <a:r>
              <a:rPr lang="en-US" sz="900" dirty="0">
                <a:solidFill>
                  <a:srgbClr val="94A3B8"/>
                </a:solidFill>
                <a:latin typeface="Noto Sans JP" pitchFamily="34" charset="0"/>
                <a:ea typeface="Noto Sans JP" pitchFamily="34" charset="-122"/>
                <a:cs typeface="Noto Sans JP" pitchFamily="34" charset="-120"/>
              </a:rPr>
              <a:t>を、依存関係を理解した上で同時にPR作成まで完遂できる。 </a:t>
            </a:r>
            <a:endParaRPr lang="en-US" sz="900" dirty="0"/>
          </a:p>
        </p:txBody>
      </p:sp>
      <p:pic>
        <p:nvPicPr>
          <p:cNvPr id="15" name="Image 4" descr="preencoded.png">    </p:cNvPr>
          <p:cNvPicPr>
            <a:picLocks noChangeAspect="1"/>
          </p:cNvPicPr>
          <p:nvPr/>
        </p:nvPicPr>
        <p:blipFill>
          <a:blip r:embed="rId5"/>
          <a:srcRect l="0" r="0" t="-1100" b="-1100"/>
          <a:stretch/>
        </p:blipFill>
        <p:spPr>
          <a:xfrm>
            <a:off x="733349" y="6494069"/>
            <a:ext cx="114300" cy="133502"/>
          </a:xfrm>
          <a:prstGeom prst="rect">
            <a:avLst/>
          </a:prstGeom>
        </p:spPr>
      </p:pic>
      <p:sp>
        <p:nvSpPr>
          <p:cNvPr id="16" name="Shape 9"/>
          <p:cNvSpPr/>
          <p:nvPr/>
        </p:nvSpPr>
        <p:spPr>
          <a:xfrm>
            <a:off x="571500" y="1390802"/>
            <a:ext cx="5333695" cy="1485900"/>
          </a:xfrm>
          <a:prstGeom prst="roundRect">
            <a:avLst>
              <a:gd name="adj" fmla="val 4734"/>
            </a:avLst>
          </a:prstGeom>
          <a:solidFill>
            <a:srgbClr val="1E293B">
              <a:alpha val="60000"/>
            </a:srgbClr>
          </a:solidFill>
          <a:ln w="12700">
            <a:solidFill>
              <a:srgbClr val="94A3B8">
                <a:alpha val="10000"/>
              </a:srgbClr>
            </a:solidFill>
            <a:prstDash val="solid"/>
          </a:ln>
        </p:spPr>
      </p:sp>
      <p:sp>
        <p:nvSpPr>
          <p:cNvPr id="17" name="Shape 10"/>
          <p:cNvSpPr/>
          <p:nvPr/>
        </p:nvSpPr>
        <p:spPr>
          <a:xfrm>
            <a:off x="571500" y="1580998"/>
            <a:ext cx="38405" cy="1080821"/>
          </a:xfrm>
          <a:prstGeom prst="roundRect">
            <a:avLst>
              <a:gd name="adj" fmla="val 2380940"/>
            </a:avLst>
          </a:prstGeom>
          <a:solidFill>
            <a:srgbClr val="10B981"/>
          </a:solidFill>
          <a:ln w="12700">
            <a:solidFill>
              <a:srgbClr val="FFFFFF">
                <a:alpha val="0"/>
              </a:srgbClr>
            </a:solidFill>
            <a:prstDash val="solid"/>
          </a:ln>
        </p:spPr>
      </p:sp>
      <p:sp>
        <p:nvSpPr>
          <p:cNvPr id="18" name="Shape 11"/>
          <p:cNvSpPr/>
          <p:nvPr/>
        </p:nvSpPr>
        <p:spPr>
          <a:xfrm>
            <a:off x="771754" y="1591056"/>
            <a:ext cx="295351" cy="448056"/>
          </a:xfrm>
          <a:prstGeom prst="roundRect">
            <a:avLst>
              <a:gd name="adj" fmla="val 39948"/>
            </a:avLst>
          </a:prstGeom>
          <a:solidFill>
            <a:srgbClr val="064E3B">
              <a:alpha val="30000"/>
            </a:srgbClr>
          </a:solidFill>
          <a:ln w="12700">
            <a:solidFill>
              <a:srgbClr val="FFFFFF">
                <a:alpha val="0"/>
              </a:srgbClr>
            </a:solidFill>
            <a:prstDash val="solid"/>
          </a:ln>
        </p:spPr>
      </p:sp>
      <p:pic>
        <p:nvPicPr>
          <p:cNvPr id="19" name="Image 5" descr="preencoded.png">    </p:cNvPr>
          <p:cNvPicPr>
            <a:picLocks noChangeAspect="1"/>
          </p:cNvPicPr>
          <p:nvPr/>
        </p:nvPicPr>
        <p:blipFill>
          <a:blip r:embed="rId6"/>
          <a:srcRect l="0" r="0" t="-20193" b="-20193"/>
          <a:stretch/>
        </p:blipFill>
        <p:spPr>
          <a:xfrm>
            <a:off x="847649" y="1666951"/>
            <a:ext cx="142646" cy="267005"/>
          </a:xfrm>
          <a:prstGeom prst="rect">
            <a:avLst/>
          </a:prstGeom>
        </p:spPr>
      </p:pic>
      <p:sp>
        <p:nvSpPr>
          <p:cNvPr id="20" name="Text 12"/>
          <p:cNvSpPr txBox="1"/>
          <p:nvPr/>
        </p:nvSpPr>
        <p:spPr>
          <a:xfrm>
            <a:off x="1181405" y="1591056"/>
            <a:ext cx="4715561" cy="267005"/>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docs/ の最新化が生命線</a:t>
            </a:r>
            <a:endParaRPr lang="en-US" sz="1300" dirty="0"/>
          </a:p>
        </p:txBody>
      </p:sp>
      <p:sp>
        <p:nvSpPr>
          <p:cNvPr id="21" name="Text 13"/>
          <p:cNvSpPr txBox="1"/>
          <p:nvPr/>
        </p:nvSpPr>
        <p:spPr>
          <a:xfrm>
            <a:off x="1181405" y="1895551"/>
            <a:ext cx="4601261" cy="438912"/>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PdMやディレクターの主業務は、「AIが読めるMarkdown仕様書」を維持すること。ここが古いとAIは幻覚を見る。</a:t>
            </a:r>
            <a:endParaRPr lang="en-US" sz="1000" dirty="0"/>
          </a:p>
        </p:txBody>
      </p:sp>
      <p:pic>
        <p:nvPicPr>
          <p:cNvPr id="22" name="Image 6" descr="preencoded.png">    </p:cNvPr>
          <p:cNvPicPr>
            <a:picLocks noChangeAspect="1"/>
          </p:cNvPicPr>
          <p:nvPr/>
        </p:nvPicPr>
        <p:blipFill>
          <a:blip r:embed="rId7"/>
          <a:stretch>
            <a:fillRect/>
          </a:stretch>
        </p:blipFill>
        <p:spPr>
          <a:xfrm>
            <a:off x="1228954" y="2471623"/>
            <a:ext cx="1666951" cy="228600"/>
          </a:xfrm>
          <a:prstGeom prst="rect">
            <a:avLst/>
          </a:prstGeom>
        </p:spPr>
      </p:pic>
      <p:sp>
        <p:nvSpPr>
          <p:cNvPr id="23" name="Text 14"/>
          <p:cNvSpPr/>
          <p:nvPr/>
        </p:nvSpPr>
        <p:spPr>
          <a:xfrm>
            <a:off x="1228954" y="2471623"/>
            <a:ext cx="1666951" cy="2286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dirty="0">
                <a:solidFill>
                  <a:srgbClr val="6EE7B7"/>
                </a:solidFill>
                <a:latin typeface="JetBrains Mono" pitchFamily="34" charset="0"/>
                <a:ea typeface="JetBrains Mono" pitchFamily="34" charset="-122"/>
                <a:cs typeface="JetBrains Mono" pitchFamily="34" charset="-120"/>
              </a:rPr>
              <a:t>Single Source of Truth</a:t>
            </a:r>
            <a:endParaRPr lang="en-US" sz="900" dirty="0"/>
          </a:p>
        </p:txBody>
      </p:sp>
      <p:sp>
        <p:nvSpPr>
          <p:cNvPr id="24" name="Shape 15"/>
          <p:cNvSpPr/>
          <p:nvPr/>
        </p:nvSpPr>
        <p:spPr>
          <a:xfrm>
            <a:off x="571500" y="3100730"/>
            <a:ext cx="5333695" cy="1485900"/>
          </a:xfrm>
          <a:prstGeom prst="roundRect">
            <a:avLst>
              <a:gd name="adj" fmla="val 4734"/>
            </a:avLst>
          </a:prstGeom>
          <a:solidFill>
            <a:srgbClr val="1E293B">
              <a:alpha val="60000"/>
            </a:srgbClr>
          </a:solidFill>
          <a:ln w="12700">
            <a:solidFill>
              <a:srgbClr val="94A3B8">
                <a:alpha val="10000"/>
              </a:srgbClr>
            </a:solidFill>
            <a:prstDash val="solid"/>
          </a:ln>
        </p:spPr>
      </p:sp>
      <p:sp>
        <p:nvSpPr>
          <p:cNvPr id="25" name="Shape 16"/>
          <p:cNvSpPr/>
          <p:nvPr/>
        </p:nvSpPr>
        <p:spPr>
          <a:xfrm>
            <a:off x="571500" y="3290926"/>
            <a:ext cx="38405" cy="1080821"/>
          </a:xfrm>
          <a:prstGeom prst="roundRect">
            <a:avLst>
              <a:gd name="adj" fmla="val 2380940"/>
            </a:avLst>
          </a:prstGeom>
          <a:solidFill>
            <a:srgbClr val="3B82F6"/>
          </a:solidFill>
          <a:ln w="12700">
            <a:solidFill>
              <a:srgbClr val="FFFFFF">
                <a:alpha val="0"/>
              </a:srgbClr>
            </a:solidFill>
            <a:prstDash val="solid"/>
          </a:ln>
        </p:spPr>
      </p:sp>
      <p:sp>
        <p:nvSpPr>
          <p:cNvPr id="26" name="Shape 17"/>
          <p:cNvSpPr/>
          <p:nvPr/>
        </p:nvSpPr>
        <p:spPr>
          <a:xfrm>
            <a:off x="771754" y="3300070"/>
            <a:ext cx="390449" cy="448056"/>
          </a:xfrm>
          <a:prstGeom prst="roundRect">
            <a:avLst>
              <a:gd name="adj" fmla="val 22848"/>
            </a:avLst>
          </a:prstGeom>
          <a:solidFill>
            <a:srgbClr val="1E3A8A">
              <a:alpha val="30000"/>
            </a:srgbClr>
          </a:solidFill>
          <a:ln w="12700">
            <a:solidFill>
              <a:srgbClr val="FFFFFF">
                <a:alpha val="0"/>
              </a:srgbClr>
            </a:solidFill>
            <a:prstDash val="solid"/>
          </a:ln>
        </p:spPr>
      </p:sp>
      <p:pic>
        <p:nvPicPr>
          <p:cNvPr id="27" name="Image 7" descr="preencoded.png">    </p:cNvPr>
          <p:cNvPicPr>
            <a:picLocks noChangeAspect="1"/>
          </p:cNvPicPr>
          <p:nvPr/>
        </p:nvPicPr>
        <p:blipFill>
          <a:blip r:embed="rId8"/>
          <a:srcRect l="0" r="0" t="-20192" b="-20192"/>
          <a:stretch/>
        </p:blipFill>
        <p:spPr>
          <a:xfrm>
            <a:off x="847649" y="3376879"/>
            <a:ext cx="237744" cy="267005"/>
          </a:xfrm>
          <a:prstGeom prst="rect">
            <a:avLst/>
          </a:prstGeom>
        </p:spPr>
      </p:pic>
      <p:sp>
        <p:nvSpPr>
          <p:cNvPr id="28" name="Text 18"/>
          <p:cNvSpPr txBox="1"/>
          <p:nvPr/>
        </p:nvSpPr>
        <p:spPr>
          <a:xfrm>
            <a:off x="1276502" y="3300070"/>
            <a:ext cx="4620463" cy="267005"/>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上位ディレクトリによるラップ戦略</a:t>
            </a:r>
            <a:endParaRPr lang="en-US" sz="1300" dirty="0"/>
          </a:p>
        </p:txBody>
      </p:sp>
      <p:sp>
        <p:nvSpPr>
          <p:cNvPr id="29" name="Text 19"/>
          <p:cNvSpPr txBox="1"/>
          <p:nvPr/>
        </p:nvSpPr>
        <p:spPr>
          <a:xfrm>
            <a:off x="1276502" y="3605479"/>
            <a:ext cx="4506163" cy="438912"/>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フロントとバックエンドのリポジトリが分かれていても、AIには「1つのプロジェクト」として見せるために親フォルダで包む。</a:t>
            </a:r>
            <a:endParaRPr lang="en-US" sz="1000" dirty="0"/>
          </a:p>
        </p:txBody>
      </p:sp>
      <p:pic>
        <p:nvPicPr>
          <p:cNvPr id="30" name="Image 8" descr="preencoded.png">    </p:cNvPr>
          <p:cNvPicPr>
            <a:picLocks noChangeAspect="1"/>
          </p:cNvPicPr>
          <p:nvPr/>
        </p:nvPicPr>
        <p:blipFill>
          <a:blip r:embed="rId9"/>
          <a:stretch>
            <a:fillRect/>
          </a:stretch>
        </p:blipFill>
        <p:spPr>
          <a:xfrm>
            <a:off x="1228954" y="4181551"/>
            <a:ext cx="1190549" cy="228600"/>
          </a:xfrm>
          <a:prstGeom prst="rect">
            <a:avLst/>
          </a:prstGeom>
        </p:spPr>
      </p:pic>
      <p:sp>
        <p:nvSpPr>
          <p:cNvPr id="31" name="Text 20"/>
          <p:cNvSpPr/>
          <p:nvPr/>
        </p:nvSpPr>
        <p:spPr>
          <a:xfrm>
            <a:off x="1228954" y="4181551"/>
            <a:ext cx="1191463" cy="2286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dirty="0">
                <a:solidFill>
                  <a:srgbClr val="93C5FD"/>
                </a:solidFill>
                <a:latin typeface="JetBrains Mono" pitchFamily="34" charset="0"/>
                <a:ea typeface="JetBrains Mono" pitchFamily="34" charset="-122"/>
                <a:cs typeface="JetBrains Mono" pitchFamily="34" charset="-120"/>
              </a:rPr>
              <a:t>Context Unified</a:t>
            </a:r>
            <a:endParaRPr lang="en-US" sz="900" dirty="0"/>
          </a:p>
        </p:txBody>
      </p:sp>
      <p:pic>
        <p:nvPicPr>
          <p:cNvPr id="32" name="Image 9" descr="preencoded.png">    </p:cNvPr>
          <p:cNvPicPr>
            <a:picLocks noChangeAspect="1"/>
          </p:cNvPicPr>
          <p:nvPr/>
        </p:nvPicPr>
        <p:blipFill>
          <a:blip r:embed="rId10">
            <a:alphaModFix amt="30000"/>
          </a:blip>
          <a:srcRect l="0" r="0" t="-9186" b="-9186"/>
          <a:stretch/>
        </p:blipFill>
        <p:spPr>
          <a:xfrm>
            <a:off x="5982005" y="4146804"/>
            <a:ext cx="181051" cy="342900"/>
          </a:xfrm>
          <a:prstGeom prst="rect">
            <a:avLst/>
          </a:prstGeom>
        </p:spPr>
      </p:pic>
      <p:pic>
        <p:nvPicPr>
          <p:cNvPr id="33" name="Image 10" descr="preencoded.png">    </p:cNvPr>
          <p:cNvPicPr>
            <a:picLocks noChangeAspect="1"/>
          </p:cNvPicPr>
          <p:nvPr/>
        </p:nvPicPr>
        <p:blipFill>
          <a:blip r:embed="rId11"/>
          <a:srcRect l="0" r="0" t="-5" b="-5"/>
          <a:stretch/>
        </p:blipFill>
        <p:spPr>
          <a:xfrm>
            <a:off x="6286500" y="1390802"/>
            <a:ext cx="5333695" cy="5867705"/>
          </a:xfrm>
          <a:prstGeom prst="rect">
            <a:avLst/>
          </a:prstGeom>
        </p:spPr>
      </p:pic>
      <p:sp>
        <p:nvSpPr>
          <p:cNvPr id="34" name="Shape 21"/>
          <p:cNvSpPr/>
          <p:nvPr/>
        </p:nvSpPr>
        <p:spPr>
          <a:xfrm>
            <a:off x="6295644" y="1399946"/>
            <a:ext cx="5315407" cy="371246"/>
          </a:xfrm>
          <a:prstGeom prst="roundRect">
            <a:avLst>
              <a:gd name="adj" fmla="val 75786"/>
            </a:avLst>
          </a:prstGeom>
          <a:solidFill>
            <a:srgbClr val="0F172A"/>
          </a:solidFill>
          <a:ln/>
        </p:spPr>
      </p:sp>
      <p:sp>
        <p:nvSpPr>
          <p:cNvPr id="35" name="Shape 22"/>
          <p:cNvSpPr/>
          <p:nvPr/>
        </p:nvSpPr>
        <p:spPr>
          <a:xfrm>
            <a:off x="6295644" y="1762049"/>
            <a:ext cx="5315407" cy="9144"/>
          </a:xfrm>
          <a:prstGeom prst="roundRect">
            <a:avLst>
              <a:gd name="adj" fmla="val 3076923"/>
            </a:avLst>
          </a:prstGeom>
          <a:solidFill>
            <a:srgbClr val="94A3B8">
              <a:alpha val="10000"/>
            </a:srgbClr>
          </a:solidFill>
          <a:ln w="12700">
            <a:solidFill>
              <a:srgbClr val="94A3B8">
                <a:alpha val="0"/>
              </a:srgbClr>
            </a:solidFill>
            <a:prstDash val="solid"/>
          </a:ln>
        </p:spPr>
      </p:sp>
      <p:sp>
        <p:nvSpPr>
          <p:cNvPr id="36" name="Shape 23"/>
          <p:cNvSpPr/>
          <p:nvPr/>
        </p:nvSpPr>
        <p:spPr>
          <a:xfrm>
            <a:off x="6448349" y="1533449"/>
            <a:ext cx="95098" cy="95098"/>
          </a:xfrm>
          <a:prstGeom prst="ellipse">
            <a:avLst/>
          </a:prstGeom>
          <a:solidFill>
            <a:srgbClr val="EF4444"/>
          </a:solidFill>
          <a:ln w="12700">
            <a:solidFill>
              <a:srgbClr val="FFFFFF">
                <a:alpha val="0"/>
              </a:srgbClr>
            </a:solidFill>
            <a:prstDash val="solid"/>
          </a:ln>
        </p:spPr>
      </p:sp>
      <p:sp>
        <p:nvSpPr>
          <p:cNvPr id="37" name="Shape 24"/>
          <p:cNvSpPr/>
          <p:nvPr/>
        </p:nvSpPr>
        <p:spPr>
          <a:xfrm>
            <a:off x="6601054" y="1533449"/>
            <a:ext cx="95098" cy="95098"/>
          </a:xfrm>
          <a:prstGeom prst="ellipse">
            <a:avLst/>
          </a:prstGeom>
          <a:solidFill>
            <a:srgbClr val="F59E0B"/>
          </a:solidFill>
          <a:ln w="12700">
            <a:solidFill>
              <a:srgbClr val="FFFFFF">
                <a:alpha val="0"/>
              </a:srgbClr>
            </a:solidFill>
            <a:prstDash val="solid"/>
          </a:ln>
        </p:spPr>
      </p:sp>
      <p:sp>
        <p:nvSpPr>
          <p:cNvPr id="38" name="Shape 25"/>
          <p:cNvSpPr/>
          <p:nvPr/>
        </p:nvSpPr>
        <p:spPr>
          <a:xfrm>
            <a:off x="6752844" y="1533449"/>
            <a:ext cx="95098" cy="95098"/>
          </a:xfrm>
          <a:prstGeom prst="ellipse">
            <a:avLst/>
          </a:prstGeom>
          <a:solidFill>
            <a:srgbClr val="22C55E"/>
          </a:solidFill>
          <a:ln w="12700">
            <a:solidFill>
              <a:srgbClr val="FFFFFF">
                <a:alpha val="0"/>
              </a:srgbClr>
            </a:solidFill>
            <a:prstDash val="solid"/>
          </a:ln>
        </p:spPr>
      </p:sp>
      <p:sp>
        <p:nvSpPr>
          <p:cNvPr id="39" name="Text 26"/>
          <p:cNvSpPr txBox="1"/>
          <p:nvPr/>
        </p:nvSpPr>
        <p:spPr>
          <a:xfrm>
            <a:off x="7000646" y="1495044"/>
            <a:ext cx="2506370" cy="171907"/>
          </a:xfrm>
          <a:prstGeom prst="rect">
            <a:avLst/>
          </a:prstGeom>
          <a:noFill/>
          <a:ln/>
        </p:spPr>
        <p:txBody>
          <a:bodyPr wrap="square" lIns="0" tIns="0" rIns="0" bIns="0" rtlCol="0" anchor="ctr"/>
          <a:lstStyle/>
          <a:p>
            <a:pPr algn="l" indent="0" marL="0">
              <a:buNone/>
            </a:pPr>
            <a:r>
              <a:rPr lang="en-US" sz="900" dirty="0">
                <a:solidFill>
                  <a:srgbClr val="94A3B8"/>
                </a:solidFill>
                <a:latin typeface="JetBrains Mono" pitchFamily="34" charset="0"/>
                <a:ea typeface="JetBrains Mono" pitchFamily="34" charset="-122"/>
                <a:cs typeface="JetBrains Mono" pitchFamily="34" charset="-120"/>
              </a:rPr>
              <a:t>~/dev/my_project_workspace - Cursor</a:t>
            </a:r>
            <a:endParaRPr lang="en-US" sz="900" dirty="0"/>
          </a:p>
        </p:txBody>
      </p:sp>
      <p:pic>
        <p:nvPicPr>
          <p:cNvPr id="40" name="Image 11" descr="preencoded.png">    </p:cNvPr>
          <p:cNvPicPr>
            <a:picLocks noChangeAspect="1"/>
          </p:cNvPicPr>
          <p:nvPr/>
        </p:nvPicPr>
        <p:blipFill>
          <a:blip r:embed="rId12"/>
          <a:srcRect l="-33" r="-33" t="0" b="0"/>
          <a:stretch/>
        </p:blipFill>
        <p:spPr>
          <a:xfrm>
            <a:off x="6638544" y="2088490"/>
            <a:ext cx="171907" cy="152705"/>
          </a:xfrm>
          <a:prstGeom prst="rect">
            <a:avLst/>
          </a:prstGeom>
        </p:spPr>
      </p:pic>
      <p:sp>
        <p:nvSpPr>
          <p:cNvPr id="41" name="Text 27"/>
          <p:cNvSpPr txBox="1"/>
          <p:nvPr/>
        </p:nvSpPr>
        <p:spPr>
          <a:xfrm>
            <a:off x="6905549" y="2000707"/>
            <a:ext cx="1753819" cy="333756"/>
          </a:xfrm>
          <a:prstGeom prst="rect">
            <a:avLst/>
          </a:prstGeom>
          <a:noFill/>
          <a:ln/>
        </p:spPr>
        <p:txBody>
          <a:bodyPr wrap="square" lIns="0" tIns="0" rIns="0" bIns="0" rtlCol="0" anchor="ctr"/>
          <a:lstStyle/>
          <a:p>
            <a:pPr algn="l" indent="0" marL="0">
              <a:buNone/>
            </a:pPr>
            <a:r>
              <a:rPr lang="en-US" sz="1000" b="1" dirty="0">
                <a:solidFill>
                  <a:srgbClr val="E2E8F0"/>
                </a:solidFill>
                <a:latin typeface="JetBrains Mono" pitchFamily="34" charset="0"/>
                <a:ea typeface="JetBrains Mono" pitchFamily="34" charset="-122"/>
                <a:cs typeface="JetBrains Mono" pitchFamily="34" charset="-120"/>
              </a:rPr>
              <a:t>my_project_workspace/</a:t>
            </a:r>
            <a:endParaRPr lang="en-US" sz="1000" dirty="0"/>
          </a:p>
        </p:txBody>
      </p:sp>
      <p:pic>
        <p:nvPicPr>
          <p:cNvPr id="42" name="Image 12" descr="preencoded.png">    </p:cNvPr>
          <p:cNvPicPr>
            <a:picLocks noChangeAspect="1"/>
          </p:cNvPicPr>
          <p:nvPr/>
        </p:nvPicPr>
        <p:blipFill>
          <a:blip r:embed="rId13"/>
          <a:stretch>
            <a:fillRect/>
          </a:stretch>
        </p:blipFill>
        <p:spPr>
          <a:xfrm>
            <a:off x="10146182" y="2057400"/>
            <a:ext cx="1123798" cy="219456"/>
          </a:xfrm>
          <a:prstGeom prst="rect">
            <a:avLst/>
          </a:prstGeom>
        </p:spPr>
      </p:pic>
      <p:sp>
        <p:nvSpPr>
          <p:cNvPr id="43" name="Text 28"/>
          <p:cNvSpPr/>
          <p:nvPr/>
        </p:nvSpPr>
        <p:spPr>
          <a:xfrm>
            <a:off x="10146182" y="2057400"/>
            <a:ext cx="1124712" cy="219456"/>
          </a:xfrm>
          <a:prstGeom prst="rect">
            <a:avLst/>
          </a:prstGeom>
          <a:solidFill>
            <a:srgbClr val="FFFFFF">
              <a:alpha val="0"/>
            </a:srgbClr>
          </a:solidFill>
          <a:ln w="12700">
            <a:solidFill>
              <a:srgbClr val="475569"/>
            </a:solidFill>
          </a:ln>
        </p:spPr>
        <p:txBody>
          <a:bodyPr wrap="square" lIns="0" tIns="0" rIns="0" bIns="0" rtlCol="0" anchor="ctr"/>
          <a:lstStyle/>
          <a:p>
            <a:pPr algn="ctr" indent="0" marL="0">
              <a:buNone/>
            </a:pPr>
            <a:r>
              <a:rPr lang="en-US" sz="800" dirty="0">
                <a:solidFill>
                  <a:srgbClr val="64748B"/>
                </a:solidFill>
                <a:latin typeface="Noto Sans JP" pitchFamily="34" charset="0"/>
                <a:ea typeface="Noto Sans JP" pitchFamily="34" charset="-122"/>
                <a:cs typeface="Noto Sans JP" pitchFamily="34" charset="-120"/>
              </a:rPr>
              <a:t>ここをCursorで開く</a:t>
            </a:r>
            <a:endParaRPr lang="en-US" sz="800" dirty="0"/>
          </a:p>
        </p:txBody>
      </p:sp>
      <p:sp>
        <p:nvSpPr>
          <p:cNvPr id="44" name="Shape 29"/>
          <p:cNvSpPr/>
          <p:nvPr/>
        </p:nvSpPr>
        <p:spPr>
          <a:xfrm>
            <a:off x="6829654" y="2443277"/>
            <a:ext cx="4552798" cy="352044"/>
          </a:xfrm>
          <a:prstGeom prst="roundRect">
            <a:avLst>
              <a:gd name="adj" fmla="val 42120"/>
            </a:avLst>
          </a:prstGeom>
          <a:solidFill>
            <a:srgbClr val="10B981">
              <a:alpha val="10000"/>
            </a:srgbClr>
          </a:solidFill>
          <a:ln w="12700">
            <a:solidFill>
              <a:srgbClr val="10B981">
                <a:alpha val="20000"/>
              </a:srgbClr>
            </a:solidFill>
            <a:prstDash val="solid"/>
          </a:ln>
        </p:spPr>
      </p:sp>
      <p:pic>
        <p:nvPicPr>
          <p:cNvPr id="45" name="Image 13" descr="preencoded.png">    </p:cNvPr>
          <p:cNvPicPr>
            <a:picLocks noChangeAspect="1"/>
          </p:cNvPicPr>
          <p:nvPr/>
        </p:nvPicPr>
        <p:blipFill>
          <a:blip r:embed="rId14"/>
          <a:srcRect l="-14328" r="-14328" t="0" b="0"/>
          <a:stretch/>
        </p:blipFill>
        <p:spPr>
          <a:xfrm>
            <a:off x="6991502" y="2541118"/>
            <a:ext cx="171907" cy="152705"/>
          </a:xfrm>
          <a:prstGeom prst="rect">
            <a:avLst/>
          </a:prstGeom>
        </p:spPr>
      </p:pic>
      <p:sp>
        <p:nvSpPr>
          <p:cNvPr id="46" name="Text 30"/>
          <p:cNvSpPr txBox="1"/>
          <p:nvPr/>
        </p:nvSpPr>
        <p:spPr>
          <a:xfrm>
            <a:off x="7258507" y="2443277"/>
            <a:ext cx="495605" cy="352958"/>
          </a:xfrm>
          <a:prstGeom prst="rect">
            <a:avLst/>
          </a:prstGeom>
          <a:noFill/>
          <a:ln/>
        </p:spPr>
        <p:txBody>
          <a:bodyPr wrap="square" lIns="0" tIns="0" rIns="0" bIns="0" rtlCol="0" anchor="ctr"/>
          <a:lstStyle/>
          <a:p>
            <a:pPr algn="l" indent="0" marL="0">
              <a:buNone/>
            </a:pPr>
            <a:r>
              <a:rPr lang="en-US" sz="1000" b="1" dirty="0">
                <a:solidFill>
                  <a:srgbClr val="34D399"/>
                </a:solidFill>
                <a:latin typeface="JetBrains Mono" pitchFamily="34" charset="0"/>
                <a:ea typeface="JetBrains Mono" pitchFamily="34" charset="-122"/>
                <a:cs typeface="JetBrains Mono" pitchFamily="34" charset="-120"/>
              </a:rPr>
              <a:t>docs/</a:t>
            </a:r>
            <a:endParaRPr lang="en-US" sz="1000" dirty="0"/>
          </a:p>
        </p:txBody>
      </p:sp>
      <p:pic>
        <p:nvPicPr>
          <p:cNvPr id="47" name="Image 14" descr="preencoded.png">    </p:cNvPr>
          <p:cNvPicPr>
            <a:picLocks noChangeAspect="1"/>
          </p:cNvPicPr>
          <p:nvPr/>
        </p:nvPicPr>
        <p:blipFill>
          <a:blip r:embed="rId15"/>
          <a:stretch>
            <a:fillRect/>
          </a:stretch>
        </p:blipFill>
        <p:spPr>
          <a:xfrm>
            <a:off x="9850831" y="2510028"/>
            <a:ext cx="1410005" cy="219456"/>
          </a:xfrm>
          <a:prstGeom prst="rect">
            <a:avLst/>
          </a:prstGeom>
        </p:spPr>
      </p:pic>
      <p:sp>
        <p:nvSpPr>
          <p:cNvPr id="48" name="Text 31"/>
          <p:cNvSpPr/>
          <p:nvPr/>
        </p:nvSpPr>
        <p:spPr>
          <a:xfrm>
            <a:off x="9850831" y="2510028"/>
            <a:ext cx="1410005" cy="219456"/>
          </a:xfrm>
          <a:prstGeom prst="rect">
            <a:avLst/>
          </a:prstGeom>
          <a:solidFill>
            <a:srgbClr val="FFFFFF">
              <a:alpha val="0"/>
            </a:srgbClr>
          </a:solidFill>
          <a:ln w="12700">
            <a:solidFill>
              <a:srgbClr val="065F46"/>
            </a:solidFill>
          </a:ln>
        </p:spPr>
        <p:txBody>
          <a:bodyPr wrap="square" lIns="0" tIns="0" rIns="0" bIns="0" rtlCol="0" anchor="ctr"/>
          <a:lstStyle/>
          <a:p>
            <a:pPr algn="ctr" indent="0" marL="0">
              <a:buNone/>
            </a:pPr>
            <a:r>
              <a:rPr lang="en-US" sz="800" dirty="0">
                <a:solidFill>
                  <a:srgbClr val="6EE7B7"/>
                </a:solidFill>
                <a:latin typeface="Noto Sans JP" pitchFamily="34" charset="0"/>
                <a:ea typeface="Noto Sans JP" pitchFamily="34" charset="-122"/>
                <a:cs typeface="Noto Sans JP" pitchFamily="34" charset="-120"/>
              </a:rPr>
              <a:t>AIの脳（仕様・API定義）</a:t>
            </a:r>
            <a:endParaRPr lang="en-US" sz="800" dirty="0"/>
          </a:p>
        </p:txBody>
      </p:sp>
      <p:sp>
        <p:nvSpPr>
          <p:cNvPr id="49" name="Shape 32"/>
          <p:cNvSpPr/>
          <p:nvPr/>
        </p:nvSpPr>
        <p:spPr>
          <a:xfrm>
            <a:off x="7134149" y="2905049"/>
            <a:ext cx="9144" cy="314554"/>
          </a:xfrm>
          <a:prstGeom prst="roundRect">
            <a:avLst>
              <a:gd name="adj" fmla="val 1818182"/>
            </a:avLst>
          </a:prstGeom>
          <a:solidFill>
            <a:srgbClr val="475569"/>
          </a:solidFill>
          <a:ln w="12700">
            <a:solidFill>
              <a:srgbClr val="475569">
                <a:alpha val="0"/>
              </a:srgbClr>
            </a:solidFill>
            <a:prstDash val="solid"/>
          </a:ln>
        </p:spPr>
      </p:sp>
      <p:sp>
        <p:nvSpPr>
          <p:cNvPr id="50" name="Text 33"/>
          <p:cNvSpPr txBox="1"/>
          <p:nvPr/>
        </p:nvSpPr>
        <p:spPr>
          <a:xfrm>
            <a:off x="7391095" y="2905049"/>
            <a:ext cx="1019556" cy="314554"/>
          </a:xfrm>
          <a:prstGeom prst="rect">
            <a:avLst/>
          </a:prstGeom>
          <a:noFill/>
          <a:ln/>
        </p:spPr>
        <p:txBody>
          <a:bodyPr wrap="square" lIns="0" tIns="0" rIns="0" bIns="0" rtlCol="0" anchor="ctr"/>
          <a:lstStyle/>
          <a:p>
            <a:pPr algn="l" indent="0" marL="0">
              <a:buNone/>
            </a:pPr>
            <a:r>
              <a:rPr lang="en-US" sz="1000" dirty="0">
                <a:solidFill>
                  <a:srgbClr val="CBD5E1"/>
                </a:solidFill>
                <a:latin typeface="JetBrains Mono" pitchFamily="34" charset="0"/>
                <a:ea typeface="JetBrains Mono" pitchFamily="34" charset="-122"/>
                <a:cs typeface="JetBrains Mono" pitchFamily="34" charset="-120"/>
              </a:rPr>
              <a:t>api_spec.md</a:t>
            </a:r>
            <a:endParaRPr lang="en-US" sz="1000" dirty="0"/>
          </a:p>
        </p:txBody>
      </p:sp>
      <p:sp>
        <p:nvSpPr>
          <p:cNvPr id="51" name="Shape 34"/>
          <p:cNvSpPr/>
          <p:nvPr/>
        </p:nvSpPr>
        <p:spPr>
          <a:xfrm>
            <a:off x="7134149" y="3333902"/>
            <a:ext cx="9144" cy="314554"/>
          </a:xfrm>
          <a:prstGeom prst="roundRect">
            <a:avLst>
              <a:gd name="adj" fmla="val 1818182"/>
            </a:avLst>
          </a:prstGeom>
          <a:solidFill>
            <a:srgbClr val="475569"/>
          </a:solidFill>
          <a:ln w="12700">
            <a:solidFill>
              <a:srgbClr val="475569">
                <a:alpha val="0"/>
              </a:srgbClr>
            </a:solidFill>
            <a:prstDash val="solid"/>
          </a:ln>
        </p:spPr>
      </p:sp>
      <p:sp>
        <p:nvSpPr>
          <p:cNvPr id="52" name="Text 35"/>
          <p:cNvSpPr txBox="1"/>
          <p:nvPr/>
        </p:nvSpPr>
        <p:spPr>
          <a:xfrm>
            <a:off x="7391095" y="3333902"/>
            <a:ext cx="1095451" cy="314554"/>
          </a:xfrm>
          <a:prstGeom prst="rect">
            <a:avLst/>
          </a:prstGeom>
          <a:noFill/>
          <a:ln/>
        </p:spPr>
        <p:txBody>
          <a:bodyPr wrap="square" lIns="0" tIns="0" rIns="0" bIns="0" rtlCol="0" anchor="ctr"/>
          <a:lstStyle/>
          <a:p>
            <a:pPr algn="l" indent="0" marL="0">
              <a:buNone/>
            </a:pPr>
            <a:r>
              <a:rPr lang="en-US" sz="1000" dirty="0">
                <a:solidFill>
                  <a:srgbClr val="CBD5E1"/>
                </a:solidFill>
                <a:latin typeface="JetBrains Mono" pitchFamily="34" charset="0"/>
                <a:ea typeface="JetBrains Mono" pitchFamily="34" charset="-122"/>
                <a:cs typeface="JetBrains Mono" pitchFamily="34" charset="-120"/>
              </a:rPr>
              <a:t>db_schema.md</a:t>
            </a:r>
            <a:endParaRPr lang="en-US" sz="1000" dirty="0"/>
          </a:p>
        </p:txBody>
      </p:sp>
      <p:sp>
        <p:nvSpPr>
          <p:cNvPr id="53" name="Shape 36"/>
          <p:cNvSpPr/>
          <p:nvPr/>
        </p:nvSpPr>
        <p:spPr>
          <a:xfrm>
            <a:off x="6829654" y="3762756"/>
            <a:ext cx="9144" cy="333756"/>
          </a:xfrm>
          <a:prstGeom prst="roundRect">
            <a:avLst>
              <a:gd name="adj" fmla="val 1714286"/>
            </a:avLst>
          </a:prstGeom>
          <a:solidFill>
            <a:srgbClr val="475569"/>
          </a:solidFill>
          <a:ln w="12700">
            <a:solidFill>
              <a:srgbClr val="475569">
                <a:alpha val="0"/>
              </a:srgbClr>
            </a:solidFill>
            <a:prstDash val="solid"/>
          </a:ln>
        </p:spPr>
      </p:sp>
      <p:pic>
        <p:nvPicPr>
          <p:cNvPr id="54" name="Image 15" descr="preencoded.png">    </p:cNvPr>
          <p:cNvPicPr>
            <a:picLocks noChangeAspect="1"/>
          </p:cNvPicPr>
          <p:nvPr/>
        </p:nvPicPr>
        <p:blipFill>
          <a:blip r:embed="rId16"/>
          <a:srcRect l="-9880" r="-9880" t="0" b="0"/>
          <a:stretch/>
        </p:blipFill>
        <p:spPr>
          <a:xfrm>
            <a:off x="6991502" y="3850538"/>
            <a:ext cx="228600" cy="152705"/>
          </a:xfrm>
          <a:prstGeom prst="rect">
            <a:avLst/>
          </a:prstGeom>
        </p:spPr>
      </p:pic>
      <p:sp>
        <p:nvSpPr>
          <p:cNvPr id="55" name="Text 37"/>
          <p:cNvSpPr txBox="1"/>
          <p:nvPr/>
        </p:nvSpPr>
        <p:spPr>
          <a:xfrm>
            <a:off x="7315200" y="3762756"/>
            <a:ext cx="1219810" cy="333756"/>
          </a:xfrm>
          <a:prstGeom prst="rect">
            <a:avLst/>
          </a:prstGeom>
          <a:noFill/>
          <a:ln/>
        </p:spPr>
        <p:txBody>
          <a:bodyPr wrap="square" lIns="0" tIns="0" rIns="0" bIns="0" rtlCol="0" anchor="ctr"/>
          <a:lstStyle/>
          <a:p>
            <a:pPr algn="l" indent="0" marL="0">
              <a:buNone/>
            </a:pPr>
            <a:r>
              <a:rPr lang="en-US" sz="1000" dirty="0">
                <a:solidFill>
                  <a:srgbClr val="E2E8F0"/>
                </a:solidFill>
                <a:latin typeface="JetBrains Mono" pitchFamily="34" charset="0"/>
                <a:ea typeface="JetBrains Mono" pitchFamily="34" charset="-122"/>
                <a:cs typeface="JetBrains Mono" pitchFamily="34" charset="-120"/>
              </a:rPr>
              <a:t>frontend_repo/</a:t>
            </a:r>
            <a:endParaRPr lang="en-US" sz="1000" dirty="0"/>
          </a:p>
        </p:txBody>
      </p:sp>
      <p:pic>
        <p:nvPicPr>
          <p:cNvPr id="56" name="Image 16" descr="preencoded.png">    </p:cNvPr>
          <p:cNvPicPr>
            <a:picLocks noChangeAspect="1"/>
          </p:cNvPicPr>
          <p:nvPr/>
        </p:nvPicPr>
        <p:blipFill>
          <a:blip r:embed="rId17"/>
          <a:stretch>
            <a:fillRect/>
          </a:stretch>
        </p:blipFill>
        <p:spPr>
          <a:xfrm>
            <a:off x="10399471" y="3819449"/>
            <a:ext cx="875995" cy="219456"/>
          </a:xfrm>
          <a:prstGeom prst="rect">
            <a:avLst/>
          </a:prstGeom>
        </p:spPr>
      </p:pic>
      <p:sp>
        <p:nvSpPr>
          <p:cNvPr id="57" name="Text 38"/>
          <p:cNvSpPr/>
          <p:nvPr/>
        </p:nvSpPr>
        <p:spPr>
          <a:xfrm>
            <a:off x="10399471" y="3819449"/>
            <a:ext cx="876910" cy="219456"/>
          </a:xfrm>
          <a:prstGeom prst="rect">
            <a:avLst/>
          </a:prstGeom>
          <a:solidFill>
            <a:srgbClr val="FFFFFF">
              <a:alpha val="0"/>
            </a:srgbClr>
          </a:solidFill>
          <a:ln w="12700">
            <a:solidFill>
              <a:srgbClr val="1E3A8A"/>
            </a:solidFill>
          </a:ln>
        </p:spPr>
        <p:txBody>
          <a:bodyPr wrap="square" lIns="0" tIns="0" rIns="0" bIns="0" rtlCol="0" anchor="ctr"/>
          <a:lstStyle/>
          <a:p>
            <a:pPr algn="ctr" indent="0" marL="0">
              <a:buNone/>
            </a:pPr>
            <a:r>
              <a:rPr lang="en-US" sz="800" dirty="0">
                <a:solidFill>
                  <a:srgbClr val="93C5FD"/>
                </a:solidFill>
                <a:latin typeface="Noto Sans JP" pitchFamily="34" charset="0"/>
                <a:ea typeface="Noto Sans JP" pitchFamily="34" charset="-122"/>
                <a:cs typeface="Noto Sans JP" pitchFamily="34" charset="-120"/>
              </a:rPr>
              <a:t>React / Svelte</a:t>
            </a:r>
            <a:endParaRPr lang="en-US" sz="800" dirty="0"/>
          </a:p>
        </p:txBody>
      </p:sp>
      <p:sp>
        <p:nvSpPr>
          <p:cNvPr id="58" name="Shape 39"/>
          <p:cNvSpPr/>
          <p:nvPr/>
        </p:nvSpPr>
        <p:spPr>
          <a:xfrm>
            <a:off x="7134149" y="4205326"/>
            <a:ext cx="9144" cy="314554"/>
          </a:xfrm>
          <a:prstGeom prst="roundRect">
            <a:avLst>
              <a:gd name="adj" fmla="val 1818182"/>
            </a:avLst>
          </a:prstGeom>
          <a:solidFill>
            <a:srgbClr val="475569"/>
          </a:solidFill>
          <a:ln w="12700">
            <a:solidFill>
              <a:srgbClr val="475569">
                <a:alpha val="0"/>
              </a:srgbClr>
            </a:solidFill>
            <a:prstDash val="solid"/>
          </a:ln>
        </p:spPr>
      </p:sp>
      <p:pic>
        <p:nvPicPr>
          <p:cNvPr id="59" name="Image 17" descr="preencoded.png">    </p:cNvPr>
          <p:cNvPicPr>
            <a:picLocks noChangeAspect="1"/>
          </p:cNvPicPr>
          <p:nvPr/>
        </p:nvPicPr>
        <p:blipFill>
          <a:blip r:embed="rId18">
            <a:alphaModFix amt="70000"/>
          </a:blip>
          <a:srcRect l="-24850" r="-24850" t="0" b="0"/>
          <a:stretch/>
        </p:blipFill>
        <p:spPr>
          <a:xfrm>
            <a:off x="7295998" y="4286707"/>
            <a:ext cx="228600" cy="152705"/>
          </a:xfrm>
          <a:prstGeom prst="rect">
            <a:avLst/>
          </a:prstGeom>
        </p:spPr>
      </p:pic>
      <p:sp>
        <p:nvSpPr>
          <p:cNvPr id="60" name="Text 40"/>
          <p:cNvSpPr txBox="1"/>
          <p:nvPr/>
        </p:nvSpPr>
        <p:spPr>
          <a:xfrm>
            <a:off x="7619695" y="4205326"/>
            <a:ext cx="457200" cy="314554"/>
          </a:xfrm>
          <a:prstGeom prst="rect">
            <a:avLst/>
          </a:prstGeom>
          <a:noFill/>
          <a:ln/>
        </p:spPr>
        <p:txBody>
          <a:bodyPr wrap="square" lIns="0" tIns="0" rIns="0" bIns="0" rtlCol="0" anchor="ctr"/>
          <a:lstStyle/>
          <a:p>
            <a:pPr algn="l" indent="0" marL="0">
              <a:buNone/>
            </a:pPr>
            <a:r>
              <a:rPr lang="en-US" sz="1000" dirty="0">
                <a:solidFill>
                  <a:srgbClr val="94A3B8"/>
                </a:solidFill>
                <a:latin typeface="JetBrains Mono" pitchFamily="34" charset="0"/>
                <a:ea typeface="JetBrains Mono" pitchFamily="34" charset="-122"/>
                <a:cs typeface="JetBrains Mono" pitchFamily="34" charset="-120"/>
              </a:rPr>
              <a:t>src/</a:t>
            </a:r>
            <a:endParaRPr lang="en-US" sz="1000" dirty="0"/>
          </a:p>
        </p:txBody>
      </p:sp>
      <p:sp>
        <p:nvSpPr>
          <p:cNvPr id="61" name="Shape 41"/>
          <p:cNvSpPr/>
          <p:nvPr/>
        </p:nvSpPr>
        <p:spPr>
          <a:xfrm>
            <a:off x="7134149" y="4634179"/>
            <a:ext cx="9144" cy="314554"/>
          </a:xfrm>
          <a:prstGeom prst="roundRect">
            <a:avLst>
              <a:gd name="adj" fmla="val 1818182"/>
            </a:avLst>
          </a:prstGeom>
          <a:solidFill>
            <a:srgbClr val="475569"/>
          </a:solidFill>
          <a:ln w="12700">
            <a:solidFill>
              <a:srgbClr val="475569">
                <a:alpha val="0"/>
              </a:srgbClr>
            </a:solidFill>
            <a:prstDash val="solid"/>
          </a:ln>
        </p:spPr>
      </p:sp>
      <p:pic>
        <p:nvPicPr>
          <p:cNvPr id="62" name="Image 18" descr="preencoded.png">    </p:cNvPr>
          <p:cNvPicPr>
            <a:picLocks noChangeAspect="1"/>
          </p:cNvPicPr>
          <p:nvPr/>
        </p:nvPicPr>
        <p:blipFill>
          <a:blip r:embed="rId19"/>
          <a:srcRect l="-33034" r="-33034" t="0" b="0"/>
          <a:stretch/>
        </p:blipFill>
        <p:spPr>
          <a:xfrm>
            <a:off x="7295998" y="4714646"/>
            <a:ext cx="190195" cy="152705"/>
          </a:xfrm>
          <a:prstGeom prst="rect">
            <a:avLst/>
          </a:prstGeom>
        </p:spPr>
      </p:pic>
      <p:sp>
        <p:nvSpPr>
          <p:cNvPr id="63" name="Text 42"/>
          <p:cNvSpPr txBox="1"/>
          <p:nvPr/>
        </p:nvSpPr>
        <p:spPr>
          <a:xfrm>
            <a:off x="7582205" y="4634179"/>
            <a:ext cx="1095451" cy="314554"/>
          </a:xfrm>
          <a:prstGeom prst="rect">
            <a:avLst/>
          </a:prstGeom>
          <a:noFill/>
          <a:ln/>
        </p:spPr>
        <p:txBody>
          <a:bodyPr wrap="square" lIns="0" tIns="0" rIns="0" bIns="0" rtlCol="0" anchor="ctr"/>
          <a:lstStyle/>
          <a:p>
            <a:pPr algn="l" indent="0" marL="0">
              <a:buNone/>
            </a:pPr>
            <a:r>
              <a:rPr lang="en-US" sz="1000" dirty="0">
                <a:solidFill>
                  <a:srgbClr val="94A3B8"/>
                </a:solidFill>
                <a:latin typeface="JetBrains Mono" pitchFamily="34" charset="0"/>
                <a:ea typeface="JetBrains Mono" pitchFamily="34" charset="-122"/>
                <a:cs typeface="JetBrains Mono" pitchFamily="34" charset="-120"/>
              </a:rPr>
              <a:t>package.json</a:t>
            </a:r>
            <a:endParaRPr lang="en-US" sz="1000" dirty="0"/>
          </a:p>
        </p:txBody>
      </p:sp>
      <p:sp>
        <p:nvSpPr>
          <p:cNvPr id="64" name="Shape 43"/>
          <p:cNvSpPr/>
          <p:nvPr/>
        </p:nvSpPr>
        <p:spPr>
          <a:xfrm>
            <a:off x="6829654" y="5062118"/>
            <a:ext cx="9144" cy="333756"/>
          </a:xfrm>
          <a:prstGeom prst="roundRect">
            <a:avLst>
              <a:gd name="adj" fmla="val 1714286"/>
            </a:avLst>
          </a:prstGeom>
          <a:solidFill>
            <a:srgbClr val="475569"/>
          </a:solidFill>
          <a:ln w="12700">
            <a:solidFill>
              <a:srgbClr val="475569">
                <a:alpha val="0"/>
              </a:srgbClr>
            </a:solidFill>
            <a:prstDash val="solid"/>
          </a:ln>
        </p:spPr>
      </p:sp>
      <p:pic>
        <p:nvPicPr>
          <p:cNvPr id="65" name="Image 19" descr="preencoded.png">    </p:cNvPr>
          <p:cNvPicPr>
            <a:picLocks noChangeAspect="1"/>
          </p:cNvPicPr>
          <p:nvPr/>
        </p:nvPicPr>
        <p:blipFill>
          <a:blip r:embed="rId20"/>
          <a:srcRect l="-12275" r="-12275" t="0" b="0"/>
          <a:stretch/>
        </p:blipFill>
        <p:spPr>
          <a:xfrm>
            <a:off x="6991502" y="5150815"/>
            <a:ext cx="190195" cy="152705"/>
          </a:xfrm>
          <a:prstGeom prst="rect">
            <a:avLst/>
          </a:prstGeom>
        </p:spPr>
      </p:pic>
      <p:sp>
        <p:nvSpPr>
          <p:cNvPr id="66" name="Text 44"/>
          <p:cNvSpPr txBox="1"/>
          <p:nvPr/>
        </p:nvSpPr>
        <p:spPr>
          <a:xfrm>
            <a:off x="7276795" y="5062118"/>
            <a:ext cx="1143000" cy="333756"/>
          </a:xfrm>
          <a:prstGeom prst="rect">
            <a:avLst/>
          </a:prstGeom>
          <a:noFill/>
          <a:ln/>
        </p:spPr>
        <p:txBody>
          <a:bodyPr wrap="square" lIns="0" tIns="0" rIns="0" bIns="0" rtlCol="0" anchor="ctr"/>
          <a:lstStyle/>
          <a:p>
            <a:pPr algn="l" indent="0" marL="0">
              <a:buNone/>
            </a:pPr>
            <a:r>
              <a:rPr lang="en-US" sz="1000" dirty="0">
                <a:solidFill>
                  <a:srgbClr val="E2E8F0"/>
                </a:solidFill>
                <a:latin typeface="JetBrains Mono" pitchFamily="34" charset="0"/>
                <a:ea typeface="JetBrains Mono" pitchFamily="34" charset="-122"/>
                <a:cs typeface="JetBrains Mono" pitchFamily="34" charset="-120"/>
              </a:rPr>
              <a:t>backend_repo/</a:t>
            </a:r>
            <a:endParaRPr lang="en-US" sz="1000" dirty="0"/>
          </a:p>
        </p:txBody>
      </p:sp>
      <p:pic>
        <p:nvPicPr>
          <p:cNvPr id="67" name="Image 20" descr="preencoded.png">    </p:cNvPr>
          <p:cNvPicPr>
            <a:picLocks noChangeAspect="1"/>
          </p:cNvPicPr>
          <p:nvPr/>
        </p:nvPicPr>
        <p:blipFill>
          <a:blip r:embed="rId21"/>
          <a:stretch>
            <a:fillRect/>
          </a:stretch>
        </p:blipFill>
        <p:spPr>
          <a:xfrm>
            <a:off x="10626242" y="5119726"/>
            <a:ext cx="647395" cy="219456"/>
          </a:xfrm>
          <a:prstGeom prst="rect">
            <a:avLst/>
          </a:prstGeom>
        </p:spPr>
      </p:pic>
      <p:sp>
        <p:nvSpPr>
          <p:cNvPr id="68" name="Text 45"/>
          <p:cNvSpPr/>
          <p:nvPr/>
        </p:nvSpPr>
        <p:spPr>
          <a:xfrm>
            <a:off x="10626242" y="5119726"/>
            <a:ext cx="648310" cy="219456"/>
          </a:xfrm>
          <a:prstGeom prst="rect">
            <a:avLst/>
          </a:prstGeom>
          <a:solidFill>
            <a:srgbClr val="FFFFFF">
              <a:alpha val="0"/>
            </a:srgbClr>
          </a:solidFill>
          <a:ln w="12700">
            <a:solidFill>
              <a:srgbClr val="581C87"/>
            </a:solidFill>
          </a:ln>
        </p:spPr>
        <p:txBody>
          <a:bodyPr wrap="square" lIns="0" tIns="0" rIns="0" bIns="0" rtlCol="0" anchor="ctr"/>
          <a:lstStyle/>
          <a:p>
            <a:pPr algn="ctr" indent="0" marL="0">
              <a:buNone/>
            </a:pPr>
            <a:r>
              <a:rPr lang="en-US" sz="800" dirty="0">
                <a:solidFill>
                  <a:srgbClr val="D8B4FE"/>
                </a:solidFill>
                <a:latin typeface="Noto Sans JP" pitchFamily="34" charset="0"/>
                <a:ea typeface="Noto Sans JP" pitchFamily="34" charset="-122"/>
                <a:cs typeface="Noto Sans JP" pitchFamily="34" charset="-120"/>
              </a:rPr>
              <a:t>Go / PHP</a:t>
            </a:r>
            <a:endParaRPr lang="en-US" sz="800" dirty="0"/>
          </a:p>
        </p:txBody>
      </p:sp>
      <p:sp>
        <p:nvSpPr>
          <p:cNvPr id="69" name="Shape 46"/>
          <p:cNvSpPr/>
          <p:nvPr/>
        </p:nvSpPr>
        <p:spPr>
          <a:xfrm>
            <a:off x="7134149" y="5505602"/>
            <a:ext cx="9144" cy="314554"/>
          </a:xfrm>
          <a:prstGeom prst="roundRect">
            <a:avLst>
              <a:gd name="adj" fmla="val 1818182"/>
            </a:avLst>
          </a:prstGeom>
          <a:solidFill>
            <a:srgbClr val="475569"/>
          </a:solidFill>
          <a:ln w="12700">
            <a:solidFill>
              <a:srgbClr val="475569">
                <a:alpha val="0"/>
              </a:srgbClr>
            </a:solidFill>
            <a:prstDash val="solid"/>
          </a:ln>
        </p:spPr>
      </p:sp>
      <p:pic>
        <p:nvPicPr>
          <p:cNvPr id="70" name="Image 21" descr="preencoded.png">    </p:cNvPr>
          <p:cNvPicPr>
            <a:picLocks noChangeAspect="1"/>
          </p:cNvPicPr>
          <p:nvPr/>
        </p:nvPicPr>
        <p:blipFill>
          <a:blip r:embed="rId22">
            <a:alphaModFix amt="70000"/>
          </a:blip>
          <a:srcRect l="-24850" r="-24850" t="0" b="0"/>
          <a:stretch/>
        </p:blipFill>
        <p:spPr>
          <a:xfrm>
            <a:off x="7295998" y="5586070"/>
            <a:ext cx="228600" cy="152705"/>
          </a:xfrm>
          <a:prstGeom prst="rect">
            <a:avLst/>
          </a:prstGeom>
        </p:spPr>
      </p:pic>
      <p:sp>
        <p:nvSpPr>
          <p:cNvPr id="71" name="Text 47"/>
          <p:cNvSpPr txBox="1"/>
          <p:nvPr/>
        </p:nvSpPr>
        <p:spPr>
          <a:xfrm>
            <a:off x="7619695" y="5505602"/>
            <a:ext cx="457200" cy="314554"/>
          </a:xfrm>
          <a:prstGeom prst="rect">
            <a:avLst/>
          </a:prstGeom>
          <a:noFill/>
          <a:ln/>
        </p:spPr>
        <p:txBody>
          <a:bodyPr wrap="square" lIns="0" tIns="0" rIns="0" bIns="0" rtlCol="0" anchor="ctr"/>
          <a:lstStyle/>
          <a:p>
            <a:pPr algn="l" indent="0" marL="0">
              <a:buNone/>
            </a:pPr>
            <a:r>
              <a:rPr lang="en-US" sz="1000" dirty="0">
                <a:solidFill>
                  <a:srgbClr val="94A3B8"/>
                </a:solidFill>
                <a:latin typeface="JetBrains Mono" pitchFamily="34" charset="0"/>
                <a:ea typeface="JetBrains Mono" pitchFamily="34" charset="-122"/>
                <a:cs typeface="JetBrains Mono" pitchFamily="34" charset="-120"/>
              </a:rPr>
              <a:t>cmd/</a:t>
            </a:r>
            <a:endParaRPr lang="en-US" sz="1000" dirty="0"/>
          </a:p>
        </p:txBody>
      </p:sp>
      <p:sp>
        <p:nvSpPr>
          <p:cNvPr id="72" name="Shape 48"/>
          <p:cNvSpPr/>
          <p:nvPr/>
        </p:nvSpPr>
        <p:spPr>
          <a:xfrm>
            <a:off x="7134149" y="5934456"/>
            <a:ext cx="9144" cy="314554"/>
          </a:xfrm>
          <a:prstGeom prst="roundRect">
            <a:avLst>
              <a:gd name="adj" fmla="val 1818182"/>
            </a:avLst>
          </a:prstGeom>
          <a:solidFill>
            <a:srgbClr val="475569"/>
          </a:solidFill>
          <a:ln w="12700">
            <a:solidFill>
              <a:srgbClr val="475569">
                <a:alpha val="0"/>
              </a:srgbClr>
            </a:solidFill>
            <a:prstDash val="solid"/>
          </a:ln>
        </p:spPr>
      </p:sp>
      <p:pic>
        <p:nvPicPr>
          <p:cNvPr id="73" name="Image 22" descr="preencoded.png">    </p:cNvPr>
          <p:cNvPicPr>
            <a:picLocks noChangeAspect="1"/>
          </p:cNvPicPr>
          <p:nvPr/>
        </p:nvPicPr>
        <p:blipFill>
          <a:blip r:embed="rId23"/>
          <a:srcRect l="-33034" r="-33034" t="0" b="0"/>
          <a:stretch/>
        </p:blipFill>
        <p:spPr>
          <a:xfrm>
            <a:off x="7295998" y="6014923"/>
            <a:ext cx="190195" cy="152705"/>
          </a:xfrm>
          <a:prstGeom prst="rect">
            <a:avLst/>
          </a:prstGeom>
        </p:spPr>
      </p:pic>
      <p:sp>
        <p:nvSpPr>
          <p:cNvPr id="74" name="Text 49"/>
          <p:cNvSpPr txBox="1"/>
          <p:nvPr/>
        </p:nvSpPr>
        <p:spPr>
          <a:xfrm>
            <a:off x="7582205" y="5934456"/>
            <a:ext cx="619963" cy="314554"/>
          </a:xfrm>
          <a:prstGeom prst="rect">
            <a:avLst/>
          </a:prstGeom>
          <a:noFill/>
          <a:ln/>
        </p:spPr>
        <p:txBody>
          <a:bodyPr wrap="square" lIns="0" tIns="0" rIns="0" bIns="0" rtlCol="0" anchor="ctr"/>
          <a:lstStyle/>
          <a:p>
            <a:pPr algn="l" indent="0" marL="0">
              <a:buNone/>
            </a:pPr>
            <a:r>
              <a:rPr lang="en-US" sz="1000" dirty="0">
                <a:solidFill>
                  <a:srgbClr val="94A3B8"/>
                </a:solidFill>
                <a:latin typeface="JetBrains Mono" pitchFamily="34" charset="0"/>
                <a:ea typeface="JetBrains Mono" pitchFamily="34" charset="-122"/>
                <a:cs typeface="JetBrains Mono" pitchFamily="34" charset="-120"/>
              </a:rPr>
              <a:t>go.mod</a:t>
            </a:r>
            <a:endParaRPr lang="en-US" sz="1000" dirty="0"/>
          </a:p>
        </p:txBody>
      </p:sp>
      <p:sp>
        <p:nvSpPr>
          <p:cNvPr id="75" name="Shape 50"/>
          <p:cNvSpPr/>
          <p:nvPr/>
        </p:nvSpPr>
        <p:spPr>
          <a:xfrm>
            <a:off x="6829654" y="6362395"/>
            <a:ext cx="9144" cy="314554"/>
          </a:xfrm>
          <a:prstGeom prst="roundRect">
            <a:avLst>
              <a:gd name="adj" fmla="val 1818182"/>
            </a:avLst>
          </a:prstGeom>
          <a:solidFill>
            <a:srgbClr val="475569"/>
          </a:solidFill>
          <a:ln w="12700">
            <a:solidFill>
              <a:srgbClr val="475569">
                <a:alpha val="0"/>
              </a:srgbClr>
            </a:solidFill>
            <a:prstDash val="solid"/>
          </a:ln>
        </p:spPr>
      </p:sp>
      <p:pic>
        <p:nvPicPr>
          <p:cNvPr id="76" name="Image 23" descr="preencoded.png">    </p:cNvPr>
          <p:cNvPicPr>
            <a:picLocks noChangeAspect="1"/>
          </p:cNvPicPr>
          <p:nvPr/>
        </p:nvPicPr>
        <p:blipFill>
          <a:blip r:embed="rId24">
            <a:alphaModFix amt="50000"/>
          </a:blip>
          <a:srcRect l="-12275" r="-12275" t="0" b="0"/>
          <a:stretch/>
        </p:blipFill>
        <p:spPr>
          <a:xfrm>
            <a:off x="6991502" y="6443777"/>
            <a:ext cx="190195" cy="152705"/>
          </a:xfrm>
          <a:prstGeom prst="rect">
            <a:avLst/>
          </a:prstGeom>
        </p:spPr>
      </p:pic>
      <p:sp>
        <p:nvSpPr>
          <p:cNvPr id="77" name="Text 51"/>
          <p:cNvSpPr txBox="1"/>
          <p:nvPr/>
        </p:nvSpPr>
        <p:spPr>
          <a:xfrm>
            <a:off x="7276795" y="6362395"/>
            <a:ext cx="981151" cy="314554"/>
          </a:xfrm>
          <a:prstGeom prst="rect">
            <a:avLst/>
          </a:prstGeom>
          <a:noFill/>
          <a:ln/>
        </p:spPr>
        <p:txBody>
          <a:bodyPr wrap="square" lIns="0" tIns="0" rIns="0" bIns="0" rtlCol="0" anchor="ctr"/>
          <a:lstStyle/>
          <a:p>
            <a:pPr algn="l" indent="0" marL="0">
              <a:buNone/>
            </a:pPr>
            <a:r>
              <a:rPr lang="en-US" sz="1000" dirty="0">
                <a:solidFill>
                  <a:srgbClr val="E2E8F0">
                    <a:alpha val="50000"/>
                  </a:srgbClr>
                </a:solidFill>
                <a:latin typeface="JetBrains Mono" pitchFamily="34" charset="0"/>
                <a:ea typeface="JetBrains Mono" pitchFamily="34" charset="-122"/>
                <a:cs typeface="JetBrains Mono" pitchFamily="34" charset="-120"/>
              </a:rPr>
              <a:t>infra_repo/</a:t>
            </a:r>
            <a:endParaRPr lang="en-US" sz="1000" dirty="0"/>
          </a:p>
        </p:txBody>
      </p:sp>
      <p:sp>
        <p:nvSpPr>
          <p:cNvPr id="78" name="Shape 52"/>
          <p:cNvSpPr/>
          <p:nvPr/>
        </p:nvSpPr>
        <p:spPr>
          <a:xfrm>
            <a:off x="6295644" y="6933895"/>
            <a:ext cx="5315407" cy="314554"/>
          </a:xfrm>
          <a:prstGeom prst="roundRect">
            <a:avLst>
              <a:gd name="adj" fmla="val 105708"/>
            </a:avLst>
          </a:prstGeom>
          <a:solidFill>
            <a:srgbClr val="0F172A"/>
          </a:solidFill>
          <a:ln/>
        </p:spPr>
      </p:sp>
      <p:sp>
        <p:nvSpPr>
          <p:cNvPr id="79" name="Shape 53"/>
          <p:cNvSpPr/>
          <p:nvPr/>
        </p:nvSpPr>
        <p:spPr>
          <a:xfrm>
            <a:off x="6295644" y="6933895"/>
            <a:ext cx="5315407" cy="9144"/>
          </a:xfrm>
          <a:prstGeom prst="roundRect">
            <a:avLst>
              <a:gd name="adj" fmla="val 3636364"/>
            </a:avLst>
          </a:prstGeom>
          <a:solidFill>
            <a:srgbClr val="334155"/>
          </a:solidFill>
          <a:ln w="12700">
            <a:solidFill>
              <a:srgbClr val="334155">
                <a:alpha val="0"/>
              </a:srgbClr>
            </a:solidFill>
            <a:prstDash val="solid"/>
          </a:ln>
        </p:spPr>
      </p:sp>
      <p:sp>
        <p:nvSpPr>
          <p:cNvPr id="80" name="Text 54"/>
          <p:cNvSpPr txBox="1"/>
          <p:nvPr/>
        </p:nvSpPr>
        <p:spPr>
          <a:xfrm>
            <a:off x="6372454" y="7019849"/>
            <a:ext cx="191110" cy="152705"/>
          </a:xfrm>
          <a:prstGeom prst="rect">
            <a:avLst/>
          </a:prstGeom>
          <a:noFill/>
          <a:ln/>
        </p:spPr>
        <p:txBody>
          <a:bodyPr wrap="square" lIns="0" tIns="0" rIns="0" bIns="0" rtlCol="0" anchor="ctr"/>
          <a:lstStyle/>
          <a:p>
            <a:pPr algn="l" indent="0" marL="0">
              <a:buNone/>
            </a:pPr>
            <a:r>
              <a:rPr lang="en-US" sz="900" dirty="0">
                <a:solidFill>
                  <a:srgbClr val="34D399"/>
                </a:solidFill>
                <a:latin typeface="JetBrains Mono" pitchFamily="34" charset="0"/>
                <a:ea typeface="JetBrains Mono" pitchFamily="34" charset="-122"/>
                <a:cs typeface="JetBrains Mono" pitchFamily="34" charset="-120"/>
              </a:rPr>
              <a:t>➜</a:t>
            </a:r>
            <a:endParaRPr lang="en-US" sz="900" dirty="0"/>
          </a:p>
        </p:txBody>
      </p:sp>
      <p:sp>
        <p:nvSpPr>
          <p:cNvPr id="81" name="Text 55"/>
          <p:cNvSpPr txBox="1"/>
          <p:nvPr/>
        </p:nvSpPr>
        <p:spPr>
          <a:xfrm>
            <a:off x="6554419" y="7019849"/>
            <a:ext cx="629107" cy="152705"/>
          </a:xfrm>
          <a:prstGeom prst="rect">
            <a:avLst/>
          </a:prstGeom>
          <a:noFill/>
          <a:ln/>
        </p:spPr>
        <p:txBody>
          <a:bodyPr wrap="square" lIns="0" tIns="0" rIns="0" bIns="0" rtlCol="0" anchor="ctr"/>
          <a:lstStyle/>
          <a:p>
            <a:pPr algn="l" indent="0" marL="0">
              <a:buNone/>
            </a:pPr>
            <a:r>
              <a:rPr lang="en-US" sz="900" dirty="0">
                <a:solidFill>
                  <a:srgbClr val="94A3B8"/>
                </a:solidFill>
                <a:latin typeface="JetBrains Mono" pitchFamily="34" charset="0"/>
                <a:ea typeface="JetBrains Mono" pitchFamily="34" charset="-122"/>
                <a:cs typeface="JetBrains Mono" pitchFamily="34" charset="-120"/>
              </a:rPr>
              <a:t>cursor .</a:t>
            </a:r>
            <a:endParaRPr lang="en-US" sz="900" dirty="0"/>
          </a:p>
        </p:txBody>
      </p:sp>
      <p:sp>
        <p:nvSpPr>
          <p:cNvPr id="82" name="Text 56"/>
          <p:cNvSpPr txBox="1"/>
          <p:nvPr/>
        </p:nvSpPr>
        <p:spPr>
          <a:xfrm>
            <a:off x="10162642" y="7019849"/>
            <a:ext cx="1457554" cy="152705"/>
          </a:xfrm>
          <a:prstGeom prst="rect">
            <a:avLst/>
          </a:prstGeom>
          <a:noFill/>
          <a:ln/>
        </p:spPr>
        <p:txBody>
          <a:bodyPr wrap="square" lIns="0" tIns="0" rIns="0" bIns="0" rtlCol="0" anchor="ctr"/>
          <a:lstStyle/>
          <a:p>
            <a:pPr algn="l" indent="0" marL="0">
              <a:buNone/>
            </a:pPr>
            <a:r>
              <a:rPr lang="en-US" sz="900" dirty="0">
                <a:solidFill>
                  <a:srgbClr val="475569"/>
                </a:solidFill>
                <a:latin typeface="JetBrains Mono" pitchFamily="34" charset="0"/>
                <a:ea typeface="JetBrains Mono" pitchFamily="34" charset="-122"/>
                <a:cs typeface="JetBrains Mono" pitchFamily="34" charset="-120"/>
              </a:rPr>
              <a:t>Opening workspace...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0F172A"/>
          </a:solidFill>
          <a:ln w="12700">
            <a:solidFill>
              <a:srgbClr val="FFFFFF">
                <a:alpha val="0"/>
              </a:srgbClr>
            </a:solidFill>
            <a:prstDash val="solid"/>
          </a:ln>
        </p:spPr>
      </p:sp>
      <p:pic>
        <p:nvPicPr>
          <p:cNvPr id="4" name="Image 0" descr="preencoded.png">    </p:cNvPr>
          <p:cNvPicPr>
            <a:picLocks noChangeAspect="1"/>
          </p:cNvPicPr>
          <p:nvPr/>
        </p:nvPicPr>
        <p:blipFill>
          <a:blip r:embed="rId1"/>
          <a:srcRect l="0" r="0" t="0" b="0"/>
          <a:stretch/>
        </p:blipFill>
        <p:spPr>
          <a:xfrm>
            <a:off x="-1904695" y="-1904695"/>
            <a:ext cx="5715000" cy="5715000"/>
          </a:xfrm>
          <a:prstGeom prst="rect">
            <a:avLst/>
          </a:prstGeom>
        </p:spPr>
      </p:pic>
      <p:pic>
        <p:nvPicPr>
          <p:cNvPr id="5" name="Image 1" descr="preencoded.png">    </p:cNvPr>
          <p:cNvPicPr>
            <a:picLocks noChangeAspect="1"/>
          </p:cNvPicPr>
          <p:nvPr/>
        </p:nvPicPr>
        <p:blipFill>
          <a:blip r:embed="rId2"/>
          <a:srcRect l="0" r="0" t="0" b="0"/>
          <a:stretch/>
        </p:blipFill>
        <p:spPr>
          <a:xfrm>
            <a:off x="8382305" y="3047695"/>
            <a:ext cx="5715000" cy="5715000"/>
          </a:xfrm>
          <a:prstGeom prst="rect">
            <a:avLst/>
          </a:prstGeom>
        </p:spPr>
      </p:pic>
      <p:sp>
        <p:nvSpPr>
          <p:cNvPr id="6" name="Shape 2"/>
          <p:cNvSpPr/>
          <p:nvPr/>
        </p:nvSpPr>
        <p:spPr>
          <a:xfrm>
            <a:off x="0" y="0"/>
            <a:ext cx="4638751" cy="6858000"/>
          </a:xfrm>
          <a:prstGeom prst="rect">
            <a:avLst/>
          </a:prstGeom>
          <a:solidFill>
            <a:srgbClr val="1E293B">
              <a:alpha val="40000"/>
            </a:srgbClr>
          </a:solidFill>
          <a:ln/>
        </p:spPr>
      </p:sp>
      <p:sp>
        <p:nvSpPr>
          <p:cNvPr id="7" name="Shape 3"/>
          <p:cNvSpPr/>
          <p:nvPr/>
        </p:nvSpPr>
        <p:spPr>
          <a:xfrm>
            <a:off x="4629607" y="0"/>
            <a:ext cx="9144" cy="6858000"/>
          </a:xfrm>
          <a:prstGeom prst="rect">
            <a:avLst/>
          </a:prstGeom>
          <a:solidFill>
            <a:srgbClr val="94A3B8">
              <a:alpha val="10000"/>
            </a:srgbClr>
          </a:solidFill>
          <a:ln w="12700">
            <a:solidFill>
              <a:srgbClr val="94A3B8">
                <a:alpha val="0"/>
              </a:srgbClr>
            </a:solidFill>
            <a:prstDash val="solid"/>
          </a:ln>
        </p:spPr>
      </p:sp>
      <p:pic>
        <p:nvPicPr>
          <p:cNvPr id="8" name="Image 2" descr="preencoded.png">    </p:cNvPr>
          <p:cNvPicPr>
            <a:picLocks noChangeAspect="1"/>
          </p:cNvPicPr>
          <p:nvPr/>
        </p:nvPicPr>
        <p:blipFill>
          <a:blip r:embed="rId3"/>
          <a:srcRect l="-4000" r="-4000" t="0" b="0"/>
          <a:stretch/>
        </p:blipFill>
        <p:spPr>
          <a:xfrm>
            <a:off x="504749" y="457200"/>
            <a:ext cx="123444" cy="114300"/>
          </a:xfrm>
          <a:prstGeom prst="rect">
            <a:avLst/>
          </a:prstGeom>
        </p:spPr>
      </p:pic>
      <p:sp>
        <p:nvSpPr>
          <p:cNvPr id="9" name="Text 4"/>
          <p:cNvSpPr txBox="1"/>
          <p:nvPr/>
        </p:nvSpPr>
        <p:spPr>
          <a:xfrm>
            <a:off x="381305" y="800100"/>
            <a:ext cx="3995928" cy="762610"/>
          </a:xfrm>
          <a:prstGeom prst="rect">
            <a:avLst/>
          </a:prstGeom>
          <a:noFill/>
          <a:ln/>
        </p:spPr>
        <p:txBody>
          <a:bodyPr wrap="square" lIns="0" tIns="0" rIns="0" bIns="0" rtlCol="0" anchor="t"/>
          <a:lstStyle/>
          <a:p>
            <a:pPr algn="l" indent="0" marL="0">
              <a:buNone/>
            </a:pPr>
            <a:r>
              <a:rPr lang="en-US" sz="2700" spc="-135" kern="0" dirty="0">
                <a:solidFill>
                  <a:srgbClr val="FFFFFF"/>
                </a:solidFill>
                <a:latin typeface="Noto Sans JP" pitchFamily="34" charset="0"/>
                <a:ea typeface="Noto Sans JP" pitchFamily="34" charset="-122"/>
                <a:cs typeface="Noto Sans JP" pitchFamily="34" charset="-120"/>
              </a:rPr>
              <a:t>開発速度の</a:t>
            </a:r>
            <a:pPr algn="l" indent="0" marL="0">
              <a:buNone/>
            </a:pPr>
            <a:endParaRPr lang="en-US" sz="2700" dirty="0"/>
          </a:p>
          <a:p>
            <a:pPr algn="l" indent="0" marL="0">
              <a:buNone/>
            </a:pPr>
            <a:r>
              <a:rPr lang="en-US" sz="2700" spc="-135" kern="0" dirty="0">
                <a:solidFill>
                  <a:srgbClr val="34D399"/>
                </a:solidFill>
                <a:latin typeface="Noto Sans JP" pitchFamily="34" charset="0"/>
                <a:ea typeface="Noto Sans JP" pitchFamily="34" charset="-122"/>
                <a:cs typeface="Noto Sans JP" pitchFamily="34" charset="-120"/>
              </a:rPr>
              <a:t>劇的向上</a:t>
            </a:r>
            <a:endParaRPr lang="en-US" sz="2700" dirty="0"/>
          </a:p>
        </p:txBody>
      </p:sp>
      <p:sp>
        <p:nvSpPr>
          <p:cNvPr id="10" name="Text 5"/>
          <p:cNvSpPr txBox="1"/>
          <p:nvPr/>
        </p:nvSpPr>
        <p:spPr>
          <a:xfrm>
            <a:off x="381305" y="1638605"/>
            <a:ext cx="3943807" cy="438912"/>
          </a:xfrm>
          <a:prstGeom prst="rect">
            <a:avLst/>
          </a:prstGeom>
          <a:noFill/>
          <a:ln/>
        </p:spPr>
        <p:txBody>
          <a:bodyPr wrap="square" lIns="0" tIns="0" rIns="0" bIns="0" rtlCol="0" anchor="t"/>
          <a:lstStyle/>
          <a:p>
            <a:pPr algn="l" indent="0" marL="0">
              <a:buNone/>
            </a:pPr>
            <a:r>
              <a:rPr lang="en-US" sz="1000" dirty="0">
                <a:solidFill>
                  <a:srgbClr val="94A3B8"/>
                </a:solidFill>
                <a:latin typeface="Noto Sans JP" pitchFamily="34" charset="0"/>
                <a:ea typeface="Noto Sans JP" pitchFamily="34" charset="-122"/>
                <a:cs typeface="Noto Sans JP" pitchFamily="34" charset="-120"/>
              </a:rPr>
              <a:t>AIエージェントによる自動実装は、エンジニアの時間を「書くこと」から「考えること」へ解放します。</a:t>
            </a:r>
            <a:endParaRPr lang="en-US" sz="1000" dirty="0"/>
          </a:p>
        </p:txBody>
      </p:sp>
      <p:sp>
        <p:nvSpPr>
          <p:cNvPr id="11" name="Shape 6"/>
          <p:cNvSpPr/>
          <p:nvPr/>
        </p:nvSpPr>
        <p:spPr>
          <a:xfrm>
            <a:off x="381305" y="5562295"/>
            <a:ext cx="304495" cy="304495"/>
          </a:xfrm>
          <a:prstGeom prst="ellipse">
            <a:avLst/>
          </a:prstGeom>
          <a:solidFill>
            <a:srgbClr val="1E3A8A">
              <a:alpha val="30000"/>
            </a:srgbClr>
          </a:solidFill>
          <a:ln w="12700">
            <a:solidFill>
              <a:srgbClr val="FFFFFF">
                <a:alpha val="0"/>
              </a:srgbClr>
            </a:solidFill>
            <a:prstDash val="solid"/>
          </a:ln>
        </p:spPr>
      </p:sp>
      <p:pic>
        <p:nvPicPr>
          <p:cNvPr id="12" name="Image 3" descr="preencoded.png">    </p:cNvPr>
          <p:cNvPicPr>
            <a:picLocks noChangeAspect="1"/>
          </p:cNvPicPr>
          <p:nvPr/>
        </p:nvPicPr>
        <p:blipFill>
          <a:blip r:embed="rId4"/>
          <a:srcRect l="0" r="0" t="0" b="0"/>
          <a:stretch/>
        </p:blipFill>
        <p:spPr>
          <a:xfrm>
            <a:off x="457200" y="5639105"/>
            <a:ext cx="152705" cy="152705"/>
          </a:xfrm>
          <a:prstGeom prst="rect">
            <a:avLst/>
          </a:prstGeom>
        </p:spPr>
      </p:pic>
      <p:sp>
        <p:nvSpPr>
          <p:cNvPr id="13" name="Text 7"/>
          <p:cNvSpPr txBox="1"/>
          <p:nvPr/>
        </p:nvSpPr>
        <p:spPr>
          <a:xfrm>
            <a:off x="800100" y="5562295"/>
            <a:ext cx="1996135"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実装時間の短縮</a:t>
            </a:r>
            <a:endParaRPr lang="en-US" sz="1000" dirty="0"/>
          </a:p>
        </p:txBody>
      </p:sp>
      <p:sp>
        <p:nvSpPr>
          <p:cNvPr id="14" name="Text 8"/>
          <p:cNvSpPr txBox="1"/>
          <p:nvPr/>
        </p:nvSpPr>
        <p:spPr>
          <a:xfrm>
            <a:off x="800100" y="5790895"/>
            <a:ext cx="1996135" cy="152705"/>
          </a:xfrm>
          <a:prstGeom prst="rect">
            <a:avLst/>
          </a:prstGeom>
          <a:noFill/>
          <a:ln/>
        </p:spPr>
        <p:txBody>
          <a:bodyPr wrap="square" lIns="0" tIns="0" rIns="0" bIns="0" rtlCol="0" anchor="ctr"/>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8時間のタスクが平均3時間で完了。</a:t>
            </a:r>
            <a:endParaRPr lang="en-US" sz="900" dirty="0"/>
          </a:p>
        </p:txBody>
      </p:sp>
      <p:sp>
        <p:nvSpPr>
          <p:cNvPr id="15" name="Shape 9"/>
          <p:cNvSpPr/>
          <p:nvPr/>
        </p:nvSpPr>
        <p:spPr>
          <a:xfrm>
            <a:off x="381305" y="6096305"/>
            <a:ext cx="304495" cy="304495"/>
          </a:xfrm>
          <a:prstGeom prst="ellipse">
            <a:avLst/>
          </a:prstGeom>
          <a:solidFill>
            <a:srgbClr val="064E3B">
              <a:alpha val="30000"/>
            </a:srgbClr>
          </a:solidFill>
          <a:ln w="12700">
            <a:solidFill>
              <a:srgbClr val="FFFFFF">
                <a:alpha val="0"/>
              </a:srgbClr>
            </a:solidFill>
            <a:prstDash val="solid"/>
          </a:ln>
        </p:spPr>
      </p:sp>
      <p:pic>
        <p:nvPicPr>
          <p:cNvPr id="16" name="Image 4" descr="preencoded.png">    </p:cNvPr>
          <p:cNvPicPr>
            <a:picLocks noChangeAspect="1"/>
          </p:cNvPicPr>
          <p:nvPr/>
        </p:nvPicPr>
        <p:blipFill>
          <a:blip r:embed="rId5"/>
          <a:srcRect l="0" r="0" t="0" b="0"/>
          <a:stretch/>
        </p:blipFill>
        <p:spPr>
          <a:xfrm>
            <a:off x="457200" y="6172200"/>
            <a:ext cx="152705" cy="152705"/>
          </a:xfrm>
          <a:prstGeom prst="rect">
            <a:avLst/>
          </a:prstGeom>
        </p:spPr>
      </p:pic>
      <p:sp>
        <p:nvSpPr>
          <p:cNvPr id="17" name="Text 10"/>
          <p:cNvSpPr txBox="1"/>
          <p:nvPr/>
        </p:nvSpPr>
        <p:spPr>
          <a:xfrm>
            <a:off x="800100" y="6096305"/>
            <a:ext cx="2345436"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UX・設計への再投資</a:t>
            </a:r>
            <a:endParaRPr lang="en-US" sz="1000" dirty="0"/>
          </a:p>
        </p:txBody>
      </p:sp>
      <p:sp>
        <p:nvSpPr>
          <p:cNvPr id="18" name="Text 11"/>
          <p:cNvSpPr txBox="1"/>
          <p:nvPr/>
        </p:nvSpPr>
        <p:spPr>
          <a:xfrm>
            <a:off x="800100" y="6324905"/>
            <a:ext cx="2345436" cy="152705"/>
          </a:xfrm>
          <a:prstGeom prst="rect">
            <a:avLst/>
          </a:prstGeom>
          <a:noFill/>
          <a:ln/>
        </p:spPr>
        <p:txBody>
          <a:bodyPr wrap="square" lIns="0" tIns="0" rIns="0" bIns="0" rtlCol="0" anchor="ctr"/>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浮いたリソースをユーザー体験の向上に。</a:t>
            </a:r>
            <a:endParaRPr lang="en-US" sz="900" dirty="0"/>
          </a:p>
        </p:txBody>
      </p:sp>
      <p:pic>
        <p:nvPicPr>
          <p:cNvPr id="19" name="Image 5" descr="preencoded.png">    </p:cNvPr>
          <p:cNvPicPr>
            <a:picLocks noChangeAspect="1"/>
          </p:cNvPicPr>
          <p:nvPr/>
        </p:nvPicPr>
        <p:blipFill>
          <a:blip r:embed="rId6"/>
          <a:stretch>
            <a:fillRect/>
          </a:stretch>
        </p:blipFill>
        <p:spPr>
          <a:xfrm>
            <a:off x="381305" y="381305"/>
            <a:ext cx="1152144" cy="267005"/>
          </a:xfrm>
          <a:prstGeom prst="rect">
            <a:avLst/>
          </a:prstGeom>
        </p:spPr>
      </p:pic>
      <p:sp>
        <p:nvSpPr>
          <p:cNvPr id="20" name="Text 12"/>
          <p:cNvSpPr/>
          <p:nvPr/>
        </p:nvSpPr>
        <p:spPr>
          <a:xfrm>
            <a:off x="705002" y="381305"/>
            <a:ext cx="829361" cy="267005"/>
          </a:xfrm>
          <a:prstGeom prst="rect">
            <a:avLst/>
          </a:prstGeom>
          <a:solidFill>
            <a:srgbClr val="FFFFFF">
              <a:alpha val="0"/>
            </a:srgbClr>
          </a:solidFill>
          <a:ln w="12700">
            <a:solidFill>
              <a:srgbClr val="10B981">
                <a:alpha val="20000"/>
              </a:srgbClr>
            </a:solidFill>
          </a:ln>
        </p:spPr>
        <p:txBody>
          <a:bodyPr wrap="square" lIns="0" tIns="0" rIns="0" bIns="0" rtlCol="0" anchor="ctr"/>
          <a:lstStyle/>
          <a:p>
            <a:pPr algn="ctr" indent="0" marL="0">
              <a:buNone/>
            </a:pPr>
            <a:r>
              <a:rPr lang="en-US" sz="900" b="1" spc="90" kern="0" dirty="0">
                <a:solidFill>
                  <a:srgbClr val="34D399"/>
                </a:solidFill>
                <a:latin typeface="Noto Sans JP" pitchFamily="34" charset="0"/>
                <a:ea typeface="Noto Sans JP" pitchFamily="34" charset="-122"/>
                <a:cs typeface="Noto Sans JP" pitchFamily="34" charset="-120"/>
              </a:rPr>
              <a:t>The Light</a:t>
            </a:r>
            <a:endParaRPr lang="en-US" sz="900" dirty="0"/>
          </a:p>
        </p:txBody>
      </p:sp>
      <p:pic>
        <p:nvPicPr>
          <p:cNvPr id="21" name="Image 6" descr="preencoded.png">    </p:cNvPr>
          <p:cNvPicPr>
            <a:picLocks noChangeAspect="1"/>
          </p:cNvPicPr>
          <p:nvPr/>
        </p:nvPicPr>
        <p:blipFill>
          <a:blip r:embed="rId7"/>
          <a:srcRect l="-114" r="-114" t="0" b="0"/>
          <a:stretch/>
        </p:blipFill>
        <p:spPr>
          <a:xfrm>
            <a:off x="381305" y="2262226"/>
            <a:ext cx="3866998" cy="2095805"/>
          </a:xfrm>
          <a:prstGeom prst="rect">
            <a:avLst/>
          </a:prstGeom>
        </p:spPr>
      </p:pic>
      <p:sp>
        <p:nvSpPr>
          <p:cNvPr id="22" name="Text 13"/>
          <p:cNvSpPr txBox="1"/>
          <p:nvPr/>
        </p:nvSpPr>
        <p:spPr>
          <a:xfrm>
            <a:off x="1952244" y="3066898"/>
            <a:ext cx="726034" cy="342900"/>
          </a:xfrm>
          <a:prstGeom prst="rect">
            <a:avLst/>
          </a:prstGeom>
          <a:noFill/>
          <a:ln/>
        </p:spPr>
        <p:txBody>
          <a:bodyPr wrap="square" lIns="0" tIns="0" rIns="0" bIns="0" rtlCol="0" anchor="ctr"/>
          <a:lstStyle/>
          <a:p>
            <a:pPr algn="ctr" indent="0" marL="0">
              <a:buNone/>
            </a:pPr>
            <a:r>
              <a:rPr lang="en-US" sz="2200" b="1" dirty="0">
                <a:solidFill>
                  <a:srgbClr val="FFFFFF"/>
                </a:solidFill>
                <a:latin typeface="Noto Sans JP" pitchFamily="34" charset="0"/>
                <a:ea typeface="Noto Sans JP" pitchFamily="34" charset="-122"/>
                <a:cs typeface="Noto Sans JP" pitchFamily="34" charset="-120"/>
              </a:rPr>
              <a:t>62</a:t>
            </a:r>
            <a:pPr algn="ctr" indent="0" marL="0">
              <a:buNone/>
            </a:pPr>
            <a:r>
              <a:rPr lang="en-US" sz="1000" b="1" dirty="0">
                <a:solidFill>
                  <a:srgbClr val="94A3B8"/>
                </a:solidFill>
                <a:latin typeface="Noto Sans JP" pitchFamily="34" charset="0"/>
                <a:ea typeface="Noto Sans JP" pitchFamily="34" charset="-122"/>
                <a:cs typeface="Noto Sans JP" pitchFamily="34" charset="-120"/>
              </a:rPr>
              <a:t>%</a:t>
            </a:r>
            <a:endParaRPr lang="en-US" sz="2200" dirty="0"/>
          </a:p>
        </p:txBody>
      </p:sp>
      <p:sp>
        <p:nvSpPr>
          <p:cNvPr id="23" name="Text 14"/>
          <p:cNvSpPr txBox="1"/>
          <p:nvPr/>
        </p:nvSpPr>
        <p:spPr>
          <a:xfrm>
            <a:off x="1971446" y="3409798"/>
            <a:ext cx="685800" cy="143561"/>
          </a:xfrm>
          <a:prstGeom prst="rect">
            <a:avLst/>
          </a:prstGeom>
          <a:noFill/>
          <a:ln/>
        </p:spPr>
        <p:txBody>
          <a:bodyPr wrap="square" lIns="0" tIns="0" rIns="0" bIns="0" rtlCol="0" anchor="ctr"/>
          <a:lstStyle/>
          <a:p>
            <a:pPr algn="ctr" indent="0" marL="0">
              <a:buNone/>
            </a:pPr>
            <a:r>
              <a:rPr lang="en-US" sz="800" b="1" spc="38" kern="0" dirty="0">
                <a:solidFill>
                  <a:srgbClr val="34D399"/>
                </a:solidFill>
                <a:latin typeface="Noto Sans JP" pitchFamily="34" charset="0"/>
                <a:ea typeface="Noto Sans JP" pitchFamily="34" charset="-122"/>
                <a:cs typeface="Noto Sans JP" pitchFamily="34" charset="-120"/>
              </a:rPr>
              <a:t>Time Saved</a:t>
            </a:r>
            <a:endParaRPr lang="en-US" sz="800" dirty="0"/>
          </a:p>
        </p:txBody>
      </p:sp>
      <p:pic>
        <p:nvPicPr>
          <p:cNvPr id="24" name="Image 7" descr="preencoded.png">    </p:cNvPr>
          <p:cNvPicPr>
            <a:picLocks noChangeAspect="1"/>
          </p:cNvPicPr>
          <p:nvPr/>
        </p:nvPicPr>
        <p:blipFill>
          <a:blip r:embed="rId8"/>
          <a:srcRect l="-5467" r="-5467" t="0" b="0"/>
          <a:stretch/>
        </p:blipFill>
        <p:spPr>
          <a:xfrm>
            <a:off x="5233111" y="457200"/>
            <a:ext cx="95098" cy="114300"/>
          </a:xfrm>
          <a:prstGeom prst="rect">
            <a:avLst/>
          </a:prstGeom>
        </p:spPr>
      </p:pic>
      <p:sp>
        <p:nvSpPr>
          <p:cNvPr id="25" name="Text 15"/>
          <p:cNvSpPr txBox="1"/>
          <p:nvPr/>
        </p:nvSpPr>
        <p:spPr>
          <a:xfrm>
            <a:off x="5108753" y="800100"/>
            <a:ext cx="2919679" cy="342900"/>
          </a:xfrm>
          <a:prstGeom prst="rect">
            <a:avLst/>
          </a:prstGeom>
          <a:noFill/>
          <a:ln/>
        </p:spPr>
        <p:txBody>
          <a:bodyPr wrap="square" lIns="0" tIns="0" rIns="0" bIns="0" rtlCol="0" anchor="ctr"/>
          <a:lstStyle/>
          <a:p>
            <a:pPr algn="l" indent="0" marL="0">
              <a:buNone/>
            </a:pPr>
            <a:r>
              <a:rPr lang="en-US" sz="2200" b="1" dirty="0">
                <a:solidFill>
                  <a:srgbClr val="FFFFFF"/>
                </a:solidFill>
                <a:latin typeface="Noto Sans JP" pitchFamily="34" charset="0"/>
                <a:ea typeface="Noto Sans JP" pitchFamily="34" charset="-122"/>
                <a:cs typeface="Noto Sans JP" pitchFamily="34" charset="-120"/>
              </a:rPr>
              <a:t>トレードオフと</a:t>
            </a:r>
            <a:pPr algn="l" indent="0" marL="0">
              <a:buNone/>
            </a:pPr>
            <a:r>
              <a:rPr lang="en-US" sz="2200" b="1" dirty="0">
                <a:solidFill>
                  <a:srgbClr val="FB7185"/>
                </a:solidFill>
                <a:latin typeface="Noto Sans JP" pitchFamily="34" charset="0"/>
                <a:ea typeface="Noto Sans JP" pitchFamily="34" charset="-122"/>
                <a:cs typeface="Noto Sans JP" pitchFamily="34" charset="-120"/>
              </a:rPr>
              <a:t>対策</a:t>
            </a:r>
            <a:endParaRPr lang="en-US" sz="2200" dirty="0"/>
          </a:p>
        </p:txBody>
      </p:sp>
      <p:sp>
        <p:nvSpPr>
          <p:cNvPr id="26" name="Text 16"/>
          <p:cNvSpPr txBox="1"/>
          <p:nvPr/>
        </p:nvSpPr>
        <p:spPr>
          <a:xfrm>
            <a:off x="9993478" y="990295"/>
            <a:ext cx="1724558" cy="152705"/>
          </a:xfrm>
          <a:prstGeom prst="rect">
            <a:avLst/>
          </a:prstGeom>
          <a:noFill/>
          <a:ln/>
        </p:spPr>
        <p:txBody>
          <a:bodyPr wrap="square" lIns="0" tIns="0" rIns="0" bIns="0" rtlCol="0" anchor="ctr"/>
          <a:lstStyle/>
          <a:p>
            <a:pPr algn="r" indent="0" marL="0">
              <a:buNone/>
            </a:pPr>
            <a:r>
              <a:rPr lang="en-US" sz="900" dirty="0">
                <a:solidFill>
                  <a:srgbClr val="64748B"/>
                </a:solidFill>
                <a:latin typeface="JetBrains Mono" pitchFamily="34" charset="0"/>
                <a:ea typeface="JetBrains Mono" pitchFamily="34" charset="-122"/>
                <a:cs typeface="JetBrains Mono" pitchFamily="34" charset="-120"/>
              </a:rPr>
              <a:t>RISK_ASSESSMENT_PROTOCOL</a:t>
            </a:r>
            <a:endParaRPr lang="en-US" sz="900" dirty="0"/>
          </a:p>
        </p:txBody>
      </p:sp>
      <p:pic>
        <p:nvPicPr>
          <p:cNvPr id="27" name="Image 8" descr="preencoded.png">    </p:cNvPr>
          <p:cNvPicPr>
            <a:picLocks noChangeAspect="1"/>
          </p:cNvPicPr>
          <p:nvPr/>
        </p:nvPicPr>
        <p:blipFill>
          <a:blip r:embed="rId9"/>
          <a:stretch>
            <a:fillRect/>
          </a:stretch>
        </p:blipFill>
        <p:spPr>
          <a:xfrm>
            <a:off x="5108753" y="381305"/>
            <a:ext cx="1295705" cy="267005"/>
          </a:xfrm>
          <a:prstGeom prst="rect">
            <a:avLst/>
          </a:prstGeom>
        </p:spPr>
      </p:pic>
      <p:sp>
        <p:nvSpPr>
          <p:cNvPr id="28" name="Text 17"/>
          <p:cNvSpPr/>
          <p:nvPr/>
        </p:nvSpPr>
        <p:spPr>
          <a:xfrm>
            <a:off x="5404104" y="381305"/>
            <a:ext cx="1000354" cy="267005"/>
          </a:xfrm>
          <a:prstGeom prst="rect">
            <a:avLst/>
          </a:prstGeom>
          <a:solidFill>
            <a:srgbClr val="FFFFFF">
              <a:alpha val="0"/>
            </a:srgbClr>
          </a:solidFill>
          <a:ln w="12700">
            <a:solidFill>
              <a:srgbClr val="F43F5E">
                <a:alpha val="20000"/>
              </a:srgbClr>
            </a:solidFill>
          </a:ln>
        </p:spPr>
        <p:txBody>
          <a:bodyPr wrap="square" lIns="0" tIns="0" rIns="0" bIns="0" rtlCol="0" anchor="ctr"/>
          <a:lstStyle/>
          <a:p>
            <a:pPr algn="ctr" indent="0" marL="0">
              <a:buNone/>
            </a:pPr>
            <a:r>
              <a:rPr lang="en-US" sz="900" b="1" spc="90" kern="0" dirty="0">
                <a:solidFill>
                  <a:srgbClr val="FB7185"/>
                </a:solidFill>
                <a:latin typeface="Noto Sans JP" pitchFamily="34" charset="0"/>
                <a:ea typeface="Noto Sans JP" pitchFamily="34" charset="-122"/>
                <a:cs typeface="Noto Sans JP" pitchFamily="34" charset="-120"/>
              </a:rPr>
              <a:t>The Shadow</a:t>
            </a:r>
            <a:endParaRPr lang="en-US" sz="900" dirty="0"/>
          </a:p>
        </p:txBody>
      </p:sp>
      <p:sp>
        <p:nvSpPr>
          <p:cNvPr id="29" name="Shape 18"/>
          <p:cNvSpPr/>
          <p:nvPr/>
        </p:nvSpPr>
        <p:spPr>
          <a:xfrm>
            <a:off x="5108753" y="1447495"/>
            <a:ext cx="6610198" cy="1705356"/>
          </a:xfrm>
          <a:prstGeom prst="roundRect">
            <a:avLst>
              <a:gd name="adj" fmla="val 3595"/>
            </a:avLst>
          </a:prstGeom>
          <a:solidFill>
            <a:srgbClr val="0F172A">
              <a:alpha val="60000"/>
            </a:srgbClr>
          </a:solidFill>
          <a:ln w="12700">
            <a:solidFill>
              <a:srgbClr val="94A3B8">
                <a:alpha val="10000"/>
              </a:srgbClr>
            </a:solidFill>
            <a:prstDash val="solid"/>
          </a:ln>
        </p:spPr>
      </p:sp>
      <p:sp>
        <p:nvSpPr>
          <p:cNvPr id="30" name="Shape 19"/>
          <p:cNvSpPr/>
          <p:nvPr/>
        </p:nvSpPr>
        <p:spPr>
          <a:xfrm>
            <a:off x="5108753" y="1447495"/>
            <a:ext cx="38405" cy="1686154"/>
          </a:xfrm>
          <a:prstGeom prst="rect">
            <a:avLst/>
          </a:prstGeom>
          <a:solidFill>
            <a:srgbClr val="FBBF24"/>
          </a:solidFill>
          <a:ln w="12700">
            <a:solidFill>
              <a:srgbClr val="FFFFFF">
                <a:alpha val="0"/>
              </a:srgbClr>
            </a:solidFill>
            <a:prstDash val="solid"/>
          </a:ln>
        </p:spPr>
      </p:sp>
      <p:pic>
        <p:nvPicPr>
          <p:cNvPr id="31" name="Image 9" descr="preencoded.png">    </p:cNvPr>
          <p:cNvPicPr>
            <a:picLocks noChangeAspect="1"/>
          </p:cNvPicPr>
          <p:nvPr/>
        </p:nvPicPr>
        <p:blipFill>
          <a:blip r:embed="rId10"/>
          <a:srcRect l="0" r="0" t="-27660" b="-27660"/>
          <a:stretch/>
        </p:blipFill>
        <p:spPr>
          <a:xfrm>
            <a:off x="5309006" y="1647749"/>
            <a:ext cx="171907" cy="267005"/>
          </a:xfrm>
          <a:prstGeom prst="rect">
            <a:avLst/>
          </a:prstGeom>
        </p:spPr>
      </p:pic>
      <p:sp>
        <p:nvSpPr>
          <p:cNvPr id="32" name="Text 20"/>
          <p:cNvSpPr txBox="1"/>
          <p:nvPr/>
        </p:nvSpPr>
        <p:spPr>
          <a:xfrm>
            <a:off x="5595214" y="1647749"/>
            <a:ext cx="1110996" cy="267005"/>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保守性の低下</a:t>
            </a:r>
            <a:endParaRPr lang="en-US" sz="1300" dirty="0"/>
          </a:p>
        </p:txBody>
      </p:sp>
      <p:pic>
        <p:nvPicPr>
          <p:cNvPr id="33" name="Image 10" descr="preencoded.png">    </p:cNvPr>
          <p:cNvPicPr>
            <a:picLocks noChangeAspect="1"/>
          </p:cNvPicPr>
          <p:nvPr/>
        </p:nvPicPr>
        <p:blipFill>
          <a:blip r:embed="rId11"/>
          <a:stretch>
            <a:fillRect/>
          </a:stretch>
        </p:blipFill>
        <p:spPr>
          <a:xfrm>
            <a:off x="10540289" y="1647749"/>
            <a:ext cx="981151" cy="228600"/>
          </a:xfrm>
          <a:prstGeom prst="rect">
            <a:avLst/>
          </a:prstGeom>
        </p:spPr>
      </p:pic>
      <p:sp>
        <p:nvSpPr>
          <p:cNvPr id="34" name="Text 21"/>
          <p:cNvSpPr/>
          <p:nvPr/>
        </p:nvSpPr>
        <p:spPr>
          <a:xfrm>
            <a:off x="10540289" y="1647749"/>
            <a:ext cx="981151" cy="2286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dirty="0">
                <a:solidFill>
                  <a:srgbClr val="FCD34D"/>
                </a:solidFill>
                <a:latin typeface="JetBrains Mono" pitchFamily="34" charset="0"/>
                <a:ea typeface="JetBrains Mono" pitchFamily="34" charset="-122"/>
                <a:cs typeface="JetBrains Mono" pitchFamily="34" charset="-120"/>
              </a:rPr>
              <a:t>Code Quality</a:t>
            </a:r>
            <a:endParaRPr lang="en-US" sz="900" dirty="0"/>
          </a:p>
        </p:txBody>
      </p:sp>
      <p:sp>
        <p:nvSpPr>
          <p:cNvPr id="35" name="Text 22"/>
          <p:cNvSpPr txBox="1"/>
          <p:nvPr/>
        </p:nvSpPr>
        <p:spPr>
          <a:xfrm>
            <a:off x="5309006" y="1990649"/>
            <a:ext cx="6286500" cy="381305"/>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AIはワンライナーや高度な記法を好み、人間が後から読むと解読不能に陥る「黒魔術コード」になりがち。</a:t>
            </a:r>
            <a:endParaRPr lang="en-US" sz="1000" dirty="0"/>
          </a:p>
        </p:txBody>
      </p:sp>
      <p:sp>
        <p:nvSpPr>
          <p:cNvPr id="36" name="Shape 23"/>
          <p:cNvSpPr/>
          <p:nvPr/>
        </p:nvSpPr>
        <p:spPr>
          <a:xfrm>
            <a:off x="5309006" y="2486254"/>
            <a:ext cx="6210605" cy="466344"/>
          </a:xfrm>
          <a:prstGeom prst="rect">
            <a:avLst/>
          </a:prstGeom>
          <a:solidFill>
            <a:srgbClr val="1E293B">
              <a:alpha val="50000"/>
            </a:srgbClr>
          </a:solidFill>
          <a:ln/>
        </p:spPr>
      </p:sp>
      <p:sp>
        <p:nvSpPr>
          <p:cNvPr id="37" name="Shape 24"/>
          <p:cNvSpPr/>
          <p:nvPr/>
        </p:nvSpPr>
        <p:spPr>
          <a:xfrm>
            <a:off x="5309006" y="2486254"/>
            <a:ext cx="6210605" cy="9144"/>
          </a:xfrm>
          <a:prstGeom prst="rect">
            <a:avLst/>
          </a:prstGeom>
          <a:solidFill>
            <a:srgbClr val="94A3B8">
              <a:alpha val="10000"/>
            </a:srgbClr>
          </a:solidFill>
          <a:ln w="12700">
            <a:solidFill>
              <a:srgbClr val="94A3B8">
                <a:alpha val="0"/>
              </a:srgbClr>
            </a:solidFill>
            <a:prstDash val="solid"/>
          </a:ln>
        </p:spPr>
      </p:sp>
      <p:pic>
        <p:nvPicPr>
          <p:cNvPr id="38" name="Image 11" descr="preencoded.png">    </p:cNvPr>
          <p:cNvPicPr>
            <a:picLocks noChangeAspect="1"/>
          </p:cNvPicPr>
          <p:nvPr/>
        </p:nvPicPr>
        <p:blipFill>
          <a:blip r:embed="rId12"/>
          <a:srcRect l="0" r="0" t="-21233" b="-21233"/>
          <a:stretch/>
        </p:blipFill>
        <p:spPr>
          <a:xfrm>
            <a:off x="5309006" y="2648102"/>
            <a:ext cx="133502" cy="190195"/>
          </a:xfrm>
          <a:prstGeom prst="rect">
            <a:avLst/>
          </a:prstGeom>
        </p:spPr>
      </p:pic>
      <p:sp>
        <p:nvSpPr>
          <p:cNvPr id="39" name="Text 25"/>
          <p:cNvSpPr txBox="1"/>
          <p:nvPr/>
        </p:nvSpPr>
        <p:spPr>
          <a:xfrm>
            <a:off x="5556809" y="2609698"/>
            <a:ext cx="5600700" cy="152705"/>
          </a:xfrm>
          <a:prstGeom prst="rect">
            <a:avLst/>
          </a:prstGeom>
          <a:noFill/>
          <a:ln/>
        </p:spPr>
        <p:txBody>
          <a:bodyPr wrap="square" lIns="0" tIns="0" rIns="0" bIns="0" rtlCol="0" anchor="ctr"/>
          <a:lstStyle/>
          <a:p>
            <a:pPr algn="l" indent="0" marL="0">
              <a:buNone/>
            </a:pPr>
            <a:r>
              <a:rPr lang="en-US" sz="900" b="1" dirty="0">
                <a:solidFill>
                  <a:srgbClr val="6EE7B7"/>
                </a:solidFill>
                <a:latin typeface="Noto Sans JP" pitchFamily="34" charset="0"/>
                <a:ea typeface="Noto Sans JP" pitchFamily="34" charset="-122"/>
                <a:cs typeface="Noto Sans JP" pitchFamily="34" charset="-120"/>
              </a:rPr>
              <a:t>COUNTERMEASURE</a:t>
            </a:r>
            <a:endParaRPr lang="en-US" sz="900" dirty="0"/>
          </a:p>
        </p:txBody>
      </p:sp>
      <p:sp>
        <p:nvSpPr>
          <p:cNvPr id="40" name="Text 26"/>
          <p:cNvSpPr txBox="1"/>
          <p:nvPr/>
        </p:nvSpPr>
        <p:spPr>
          <a:xfrm>
            <a:off x="5556809" y="2800807"/>
            <a:ext cx="5677510" cy="152705"/>
          </a:xfrm>
          <a:prstGeom prst="rect">
            <a:avLst/>
          </a:prstGeom>
          <a:noFill/>
          <a:ln/>
        </p:spPr>
        <p:txBody>
          <a:bodyPr wrap="square" lIns="0" tIns="0" rIns="0" bIns="0" rtlCol="0" anchor="ctr"/>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「人間が読みやすいように書け」というプロンプト制約を必須化し、命名規則やコメント付与を強制する。</a:t>
            </a:r>
            <a:endParaRPr lang="en-US" sz="900" dirty="0"/>
          </a:p>
        </p:txBody>
      </p:sp>
      <p:sp>
        <p:nvSpPr>
          <p:cNvPr id="41" name="Shape 27"/>
          <p:cNvSpPr/>
          <p:nvPr/>
        </p:nvSpPr>
        <p:spPr>
          <a:xfrm>
            <a:off x="5108753" y="3534156"/>
            <a:ext cx="6610198" cy="1705356"/>
          </a:xfrm>
          <a:prstGeom prst="roundRect">
            <a:avLst>
              <a:gd name="adj" fmla="val 3595"/>
            </a:avLst>
          </a:prstGeom>
          <a:solidFill>
            <a:srgbClr val="0F172A">
              <a:alpha val="60000"/>
            </a:srgbClr>
          </a:solidFill>
          <a:ln w="12700">
            <a:solidFill>
              <a:srgbClr val="94A3B8">
                <a:alpha val="10000"/>
              </a:srgbClr>
            </a:solidFill>
            <a:prstDash val="solid"/>
          </a:ln>
        </p:spPr>
      </p:sp>
      <p:sp>
        <p:nvSpPr>
          <p:cNvPr id="42" name="Shape 28"/>
          <p:cNvSpPr/>
          <p:nvPr/>
        </p:nvSpPr>
        <p:spPr>
          <a:xfrm>
            <a:off x="5108753" y="3534156"/>
            <a:ext cx="38405" cy="1686154"/>
          </a:xfrm>
          <a:prstGeom prst="rect">
            <a:avLst/>
          </a:prstGeom>
          <a:solidFill>
            <a:srgbClr val="F87171"/>
          </a:solidFill>
          <a:ln w="12700">
            <a:solidFill>
              <a:srgbClr val="FFFFFF">
                <a:alpha val="0"/>
              </a:srgbClr>
            </a:solidFill>
            <a:prstDash val="solid"/>
          </a:ln>
        </p:spPr>
      </p:sp>
      <p:pic>
        <p:nvPicPr>
          <p:cNvPr id="43" name="Image 12" descr="preencoded.png">    </p:cNvPr>
          <p:cNvPicPr>
            <a:picLocks noChangeAspect="1"/>
          </p:cNvPicPr>
          <p:nvPr/>
        </p:nvPicPr>
        <p:blipFill>
          <a:blip r:embed="rId13"/>
          <a:srcRect l="0" r="0" t="-26497" b="-26497"/>
          <a:stretch/>
        </p:blipFill>
        <p:spPr>
          <a:xfrm>
            <a:off x="5309006" y="3733495"/>
            <a:ext cx="152705" cy="267005"/>
          </a:xfrm>
          <a:prstGeom prst="rect">
            <a:avLst/>
          </a:prstGeom>
        </p:spPr>
      </p:pic>
      <p:sp>
        <p:nvSpPr>
          <p:cNvPr id="44" name="Text 29"/>
          <p:cNvSpPr txBox="1"/>
          <p:nvPr/>
        </p:nvSpPr>
        <p:spPr>
          <a:xfrm>
            <a:off x="5576011" y="3733495"/>
            <a:ext cx="2211934" cy="267005"/>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セキュリティインシデント</a:t>
            </a:r>
            <a:endParaRPr lang="en-US" sz="1300" dirty="0"/>
          </a:p>
        </p:txBody>
      </p:sp>
      <p:pic>
        <p:nvPicPr>
          <p:cNvPr id="45" name="Image 13" descr="preencoded.png">    </p:cNvPr>
          <p:cNvPicPr>
            <a:picLocks noChangeAspect="1"/>
          </p:cNvPicPr>
          <p:nvPr/>
        </p:nvPicPr>
        <p:blipFill>
          <a:blip r:embed="rId14"/>
          <a:stretch>
            <a:fillRect/>
          </a:stretch>
        </p:blipFill>
        <p:spPr>
          <a:xfrm>
            <a:off x="10540289" y="3733495"/>
            <a:ext cx="981151" cy="228600"/>
          </a:xfrm>
          <a:prstGeom prst="rect">
            <a:avLst/>
          </a:prstGeom>
        </p:spPr>
      </p:pic>
      <p:sp>
        <p:nvSpPr>
          <p:cNvPr id="46" name="Text 30"/>
          <p:cNvSpPr/>
          <p:nvPr/>
        </p:nvSpPr>
        <p:spPr>
          <a:xfrm>
            <a:off x="10540289" y="3733495"/>
            <a:ext cx="981151" cy="2286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dirty="0">
                <a:solidFill>
                  <a:srgbClr val="FDA4AF"/>
                </a:solidFill>
                <a:latin typeface="JetBrains Mono" pitchFamily="34" charset="0"/>
                <a:ea typeface="JetBrains Mono" pitchFamily="34" charset="-122"/>
                <a:cs typeface="JetBrains Mono" pitchFamily="34" charset="-120"/>
              </a:rPr>
              <a:t>Data Privacy</a:t>
            </a:r>
            <a:endParaRPr lang="en-US" sz="900" dirty="0"/>
          </a:p>
        </p:txBody>
      </p:sp>
      <p:sp>
        <p:nvSpPr>
          <p:cNvPr id="47" name="Text 31"/>
          <p:cNvSpPr txBox="1"/>
          <p:nvPr/>
        </p:nvSpPr>
        <p:spPr>
          <a:xfrm>
            <a:off x="5309006" y="4076395"/>
            <a:ext cx="6286500" cy="381305"/>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AIはビジネス上の「機密」を理解しない。PII（個人情報）を平文でログ出力する実装を提案するリスクがある。</a:t>
            </a:r>
            <a:endParaRPr lang="en-US" sz="1000" dirty="0"/>
          </a:p>
        </p:txBody>
      </p:sp>
      <p:sp>
        <p:nvSpPr>
          <p:cNvPr id="48" name="Shape 32"/>
          <p:cNvSpPr/>
          <p:nvPr/>
        </p:nvSpPr>
        <p:spPr>
          <a:xfrm>
            <a:off x="5309006" y="4572000"/>
            <a:ext cx="6210605" cy="466344"/>
          </a:xfrm>
          <a:prstGeom prst="rect">
            <a:avLst/>
          </a:prstGeom>
          <a:solidFill>
            <a:srgbClr val="1E293B">
              <a:alpha val="50000"/>
            </a:srgbClr>
          </a:solidFill>
          <a:ln/>
        </p:spPr>
      </p:sp>
      <p:sp>
        <p:nvSpPr>
          <p:cNvPr id="49" name="Shape 33"/>
          <p:cNvSpPr/>
          <p:nvPr/>
        </p:nvSpPr>
        <p:spPr>
          <a:xfrm>
            <a:off x="5309006" y="4572000"/>
            <a:ext cx="6210605" cy="9144"/>
          </a:xfrm>
          <a:prstGeom prst="rect">
            <a:avLst/>
          </a:prstGeom>
          <a:solidFill>
            <a:srgbClr val="94A3B8">
              <a:alpha val="10000"/>
            </a:srgbClr>
          </a:solidFill>
          <a:ln w="12700">
            <a:solidFill>
              <a:srgbClr val="94A3B8">
                <a:alpha val="0"/>
              </a:srgbClr>
            </a:solidFill>
            <a:prstDash val="solid"/>
          </a:ln>
        </p:spPr>
      </p:sp>
      <p:pic>
        <p:nvPicPr>
          <p:cNvPr id="50" name="Image 14" descr="preencoded.png">    </p:cNvPr>
          <p:cNvPicPr>
            <a:picLocks noChangeAspect="1"/>
          </p:cNvPicPr>
          <p:nvPr/>
        </p:nvPicPr>
        <p:blipFill>
          <a:blip r:embed="rId15"/>
          <a:srcRect l="0" r="0" t="-21233" b="-21233"/>
          <a:stretch/>
        </p:blipFill>
        <p:spPr>
          <a:xfrm>
            <a:off x="5309006" y="4733849"/>
            <a:ext cx="133502" cy="190195"/>
          </a:xfrm>
          <a:prstGeom prst="rect">
            <a:avLst/>
          </a:prstGeom>
        </p:spPr>
      </p:pic>
      <p:sp>
        <p:nvSpPr>
          <p:cNvPr id="51" name="Text 34"/>
          <p:cNvSpPr txBox="1"/>
          <p:nvPr/>
        </p:nvSpPr>
        <p:spPr>
          <a:xfrm>
            <a:off x="5556809" y="4695444"/>
            <a:ext cx="4839005" cy="152705"/>
          </a:xfrm>
          <a:prstGeom prst="rect">
            <a:avLst/>
          </a:prstGeom>
          <a:noFill/>
          <a:ln/>
        </p:spPr>
        <p:txBody>
          <a:bodyPr wrap="square" lIns="0" tIns="0" rIns="0" bIns="0" rtlCol="0" anchor="ctr"/>
          <a:lstStyle/>
          <a:p>
            <a:pPr algn="l" indent="0" marL="0">
              <a:buNone/>
            </a:pPr>
            <a:r>
              <a:rPr lang="en-US" sz="900" b="1" dirty="0">
                <a:solidFill>
                  <a:srgbClr val="6EE7B7"/>
                </a:solidFill>
                <a:latin typeface="Noto Sans JP" pitchFamily="34" charset="0"/>
                <a:ea typeface="Noto Sans JP" pitchFamily="34" charset="-122"/>
                <a:cs typeface="Noto Sans JP" pitchFamily="34" charset="-120"/>
              </a:rPr>
              <a:t>COUNTERMEASURE</a:t>
            </a:r>
            <a:endParaRPr lang="en-US" sz="900" dirty="0"/>
          </a:p>
        </p:txBody>
      </p:sp>
      <p:sp>
        <p:nvSpPr>
          <p:cNvPr id="52" name="Text 35"/>
          <p:cNvSpPr txBox="1"/>
          <p:nvPr/>
        </p:nvSpPr>
        <p:spPr>
          <a:xfrm>
            <a:off x="5556809" y="4886554"/>
            <a:ext cx="4914900" cy="152705"/>
          </a:xfrm>
          <a:prstGeom prst="rect">
            <a:avLst/>
          </a:prstGeom>
          <a:noFill/>
          <a:ln/>
        </p:spPr>
        <p:txBody>
          <a:bodyPr wrap="square" lIns="0" tIns="0" rIns="0" bIns="0" rtlCol="0" anchor="ctr"/>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自動シークレットスキャンの導入と、ログ/マスキングに関する厳格なガイドラインの適用。</a:t>
            </a:r>
            <a:endParaRPr lang="en-US" sz="900" dirty="0"/>
          </a:p>
        </p:txBody>
      </p:sp>
      <p:sp>
        <p:nvSpPr>
          <p:cNvPr id="53" name="Shape 36"/>
          <p:cNvSpPr/>
          <p:nvPr/>
        </p:nvSpPr>
        <p:spPr>
          <a:xfrm>
            <a:off x="5108753" y="5429707"/>
            <a:ext cx="6610198" cy="1705356"/>
          </a:xfrm>
          <a:prstGeom prst="roundRect">
            <a:avLst>
              <a:gd name="adj" fmla="val 3595"/>
            </a:avLst>
          </a:prstGeom>
          <a:solidFill>
            <a:srgbClr val="0F172A">
              <a:alpha val="60000"/>
            </a:srgbClr>
          </a:solidFill>
          <a:ln w="12700">
            <a:solidFill>
              <a:srgbClr val="94A3B8">
                <a:alpha val="10000"/>
              </a:srgbClr>
            </a:solidFill>
            <a:prstDash val="solid"/>
          </a:ln>
        </p:spPr>
      </p:sp>
      <p:sp>
        <p:nvSpPr>
          <p:cNvPr id="54" name="Shape 37"/>
          <p:cNvSpPr/>
          <p:nvPr/>
        </p:nvSpPr>
        <p:spPr>
          <a:xfrm>
            <a:off x="5108753" y="5429707"/>
            <a:ext cx="38405" cy="1686154"/>
          </a:xfrm>
          <a:prstGeom prst="rect">
            <a:avLst/>
          </a:prstGeom>
          <a:solidFill>
            <a:srgbClr val="C084FC"/>
          </a:solidFill>
          <a:ln w="12700">
            <a:solidFill>
              <a:srgbClr val="FFFFFF">
                <a:alpha val="0"/>
              </a:srgbClr>
            </a:solidFill>
            <a:prstDash val="solid"/>
          </a:ln>
        </p:spPr>
      </p:sp>
      <p:pic>
        <p:nvPicPr>
          <p:cNvPr id="55" name="Image 15" descr="preencoded.png">    </p:cNvPr>
          <p:cNvPicPr>
            <a:picLocks noChangeAspect="1"/>
          </p:cNvPicPr>
          <p:nvPr/>
        </p:nvPicPr>
        <p:blipFill>
          <a:blip r:embed="rId16"/>
          <a:srcRect l="0" r="0" t="-27660" b="-27660"/>
          <a:stretch/>
        </p:blipFill>
        <p:spPr>
          <a:xfrm>
            <a:off x="5309006" y="5629046"/>
            <a:ext cx="171907" cy="267005"/>
          </a:xfrm>
          <a:prstGeom prst="rect">
            <a:avLst/>
          </a:prstGeom>
        </p:spPr>
      </p:pic>
      <p:sp>
        <p:nvSpPr>
          <p:cNvPr id="56" name="Text 38"/>
          <p:cNvSpPr txBox="1"/>
          <p:nvPr/>
        </p:nvSpPr>
        <p:spPr>
          <a:xfrm>
            <a:off x="5595214" y="5629046"/>
            <a:ext cx="1481328" cy="267005"/>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コンテキスト爆発</a:t>
            </a:r>
            <a:endParaRPr lang="en-US" sz="1300" dirty="0"/>
          </a:p>
        </p:txBody>
      </p:sp>
      <p:pic>
        <p:nvPicPr>
          <p:cNvPr id="57" name="Image 16" descr="preencoded.png">    </p:cNvPr>
          <p:cNvPicPr>
            <a:picLocks noChangeAspect="1"/>
          </p:cNvPicPr>
          <p:nvPr/>
        </p:nvPicPr>
        <p:blipFill>
          <a:blip r:embed="rId17"/>
          <a:stretch>
            <a:fillRect/>
          </a:stretch>
        </p:blipFill>
        <p:spPr>
          <a:xfrm>
            <a:off x="10471709" y="5629046"/>
            <a:ext cx="1047902" cy="228600"/>
          </a:xfrm>
          <a:prstGeom prst="rect">
            <a:avLst/>
          </a:prstGeom>
        </p:spPr>
      </p:pic>
      <p:sp>
        <p:nvSpPr>
          <p:cNvPr id="58" name="Text 39"/>
          <p:cNvSpPr/>
          <p:nvPr/>
        </p:nvSpPr>
        <p:spPr>
          <a:xfrm>
            <a:off x="10471709" y="5629046"/>
            <a:ext cx="1047902" cy="2286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dirty="0">
                <a:solidFill>
                  <a:srgbClr val="D8B4FE"/>
                </a:solidFill>
                <a:latin typeface="JetBrains Mono" pitchFamily="34" charset="0"/>
                <a:ea typeface="JetBrains Mono" pitchFamily="34" charset="-122"/>
                <a:cs typeface="JetBrains Mono" pitchFamily="34" charset="-120"/>
              </a:rPr>
              <a:t>Mental Health</a:t>
            </a:r>
            <a:endParaRPr lang="en-US" sz="900" dirty="0"/>
          </a:p>
        </p:txBody>
      </p:sp>
      <p:sp>
        <p:nvSpPr>
          <p:cNvPr id="59" name="Text 40"/>
          <p:cNvSpPr txBox="1"/>
          <p:nvPr/>
        </p:nvSpPr>
        <p:spPr>
          <a:xfrm>
            <a:off x="5309006" y="5971946"/>
            <a:ext cx="6286500" cy="381305"/>
          </a:xfrm>
          <a:prstGeom prst="rect">
            <a:avLst/>
          </a:prstGeom>
          <a:noFill/>
          <a:ln/>
        </p:spPr>
        <p:txBody>
          <a:bodyPr wrap="square" lIns="0" tIns="0" rIns="0" bIns="0" rtlCol="0" anchor="t"/>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複数エージェントが非同期で大量のPRを上げてくるため、人間のレビュアーが処理しきれず「脳の疲労」を起こす。</a:t>
            </a:r>
            <a:endParaRPr lang="en-US" sz="1000" dirty="0"/>
          </a:p>
        </p:txBody>
      </p:sp>
      <p:sp>
        <p:nvSpPr>
          <p:cNvPr id="60" name="Shape 41"/>
          <p:cNvSpPr/>
          <p:nvPr/>
        </p:nvSpPr>
        <p:spPr>
          <a:xfrm>
            <a:off x="5309006" y="6467551"/>
            <a:ext cx="6210605" cy="466344"/>
          </a:xfrm>
          <a:prstGeom prst="rect">
            <a:avLst/>
          </a:prstGeom>
          <a:solidFill>
            <a:srgbClr val="1E293B">
              <a:alpha val="50000"/>
            </a:srgbClr>
          </a:solidFill>
          <a:ln/>
        </p:spPr>
      </p:sp>
      <p:sp>
        <p:nvSpPr>
          <p:cNvPr id="61" name="Shape 42"/>
          <p:cNvSpPr/>
          <p:nvPr/>
        </p:nvSpPr>
        <p:spPr>
          <a:xfrm>
            <a:off x="5309006" y="6467551"/>
            <a:ext cx="6210605" cy="9144"/>
          </a:xfrm>
          <a:prstGeom prst="rect">
            <a:avLst/>
          </a:prstGeom>
          <a:solidFill>
            <a:srgbClr val="94A3B8">
              <a:alpha val="10000"/>
            </a:srgbClr>
          </a:solidFill>
          <a:ln w="12700">
            <a:solidFill>
              <a:srgbClr val="94A3B8">
                <a:alpha val="0"/>
              </a:srgbClr>
            </a:solidFill>
            <a:prstDash val="solid"/>
          </a:ln>
        </p:spPr>
      </p:sp>
      <p:pic>
        <p:nvPicPr>
          <p:cNvPr id="62" name="Image 17" descr="preencoded.png">    </p:cNvPr>
          <p:cNvPicPr>
            <a:picLocks noChangeAspect="1"/>
          </p:cNvPicPr>
          <p:nvPr/>
        </p:nvPicPr>
        <p:blipFill>
          <a:blip r:embed="rId18"/>
          <a:srcRect l="0" r="0" t="-21233" b="-21233"/>
          <a:stretch/>
        </p:blipFill>
        <p:spPr>
          <a:xfrm>
            <a:off x="5309006" y="6629400"/>
            <a:ext cx="133502" cy="190195"/>
          </a:xfrm>
          <a:prstGeom prst="rect">
            <a:avLst/>
          </a:prstGeom>
        </p:spPr>
      </p:pic>
      <p:sp>
        <p:nvSpPr>
          <p:cNvPr id="63" name="Text 43"/>
          <p:cNvSpPr txBox="1"/>
          <p:nvPr/>
        </p:nvSpPr>
        <p:spPr>
          <a:xfrm>
            <a:off x="5556809" y="6590995"/>
            <a:ext cx="5362956" cy="152705"/>
          </a:xfrm>
          <a:prstGeom prst="rect">
            <a:avLst/>
          </a:prstGeom>
          <a:noFill/>
          <a:ln/>
        </p:spPr>
        <p:txBody>
          <a:bodyPr wrap="square" lIns="0" tIns="0" rIns="0" bIns="0" rtlCol="0" anchor="ctr"/>
          <a:lstStyle/>
          <a:p>
            <a:pPr algn="l" indent="0" marL="0">
              <a:buNone/>
            </a:pPr>
            <a:r>
              <a:rPr lang="en-US" sz="900" b="1" dirty="0">
                <a:solidFill>
                  <a:srgbClr val="6EE7B7"/>
                </a:solidFill>
                <a:latin typeface="Noto Sans JP" pitchFamily="34" charset="0"/>
                <a:ea typeface="Noto Sans JP" pitchFamily="34" charset="-122"/>
                <a:cs typeface="Noto Sans JP" pitchFamily="34" charset="-120"/>
              </a:rPr>
              <a:t>COUNTERMEASURE</a:t>
            </a:r>
            <a:endParaRPr lang="en-US" sz="900" dirty="0"/>
          </a:p>
        </p:txBody>
      </p:sp>
      <p:sp>
        <p:nvSpPr>
          <p:cNvPr id="64" name="Text 44"/>
          <p:cNvSpPr txBox="1"/>
          <p:nvPr/>
        </p:nvSpPr>
        <p:spPr>
          <a:xfrm>
            <a:off x="5556809" y="6782105"/>
            <a:ext cx="5438851" cy="152705"/>
          </a:xfrm>
          <a:prstGeom prst="rect">
            <a:avLst/>
          </a:prstGeom>
          <a:noFill/>
          <a:ln/>
        </p:spPr>
        <p:txBody>
          <a:bodyPr wrap="square" lIns="0" tIns="0" rIns="0" bIns="0" rtlCol="0" anchor="ctr"/>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WIP（仕掛中タスク）の厳格な制限。PRのバッチ化と、AIによるレビュー要約で認知的負担を下げる。</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0F172A"/>
          </a:solidFill>
          <a:ln w="12700">
            <a:solidFill>
              <a:srgbClr val="FFFFFF">
                <a:alpha val="0"/>
              </a:srgbClr>
            </a:solidFill>
            <a:prstDash val="solid"/>
          </a:ln>
        </p:spPr>
      </p:sp>
      <p:pic>
        <p:nvPicPr>
          <p:cNvPr id="4" name="Image 0" descr="preencoded.png">    </p:cNvPr>
          <p:cNvPicPr>
            <a:picLocks noChangeAspect="1"/>
          </p:cNvPicPr>
          <p:nvPr/>
        </p:nvPicPr>
        <p:blipFill>
          <a:blip r:embed="rId1">
            <a:alphaModFix amt="20000"/>
          </a:blip>
          <a:srcRect l="0" r="0" t="-1" b="-1"/>
          <a:stretch/>
        </p:blipFill>
        <p:spPr>
          <a:xfrm>
            <a:off x="0" y="0"/>
            <a:ext cx="12191695" cy="6858000"/>
          </a:xfrm>
          <a:prstGeom prst="rect">
            <a:avLst/>
          </a:prstGeom>
        </p:spPr>
      </p:pic>
      <p:pic>
        <p:nvPicPr>
          <p:cNvPr id="5" name="Image 1" descr="preencoded.png">    </p:cNvPr>
          <p:cNvPicPr>
            <a:picLocks noChangeAspect="1"/>
          </p:cNvPicPr>
          <p:nvPr/>
        </p:nvPicPr>
        <p:blipFill>
          <a:blip r:embed="rId2"/>
          <a:stretch>
            <a:fillRect/>
          </a:stretch>
        </p:blipFill>
        <p:spPr>
          <a:xfrm>
            <a:off x="476402" y="381305"/>
            <a:ext cx="1733702" cy="247802"/>
          </a:xfrm>
          <a:prstGeom prst="rect">
            <a:avLst/>
          </a:prstGeom>
        </p:spPr>
      </p:pic>
      <p:sp>
        <p:nvSpPr>
          <p:cNvPr id="6" name="Text 2"/>
          <p:cNvSpPr/>
          <p:nvPr/>
        </p:nvSpPr>
        <p:spPr>
          <a:xfrm>
            <a:off x="800100" y="381305"/>
            <a:ext cx="1410005" cy="247802"/>
          </a:xfrm>
          <a:prstGeom prst="rect">
            <a:avLst/>
          </a:prstGeom>
          <a:solidFill>
            <a:srgbClr val="FFFFFF">
              <a:alpha val="0"/>
            </a:srgbClr>
          </a:solidFill>
          <a:ln w="12700">
            <a:solidFill>
              <a:srgbClr val="881337">
                <a:alpha val="50000"/>
              </a:srgbClr>
            </a:solidFill>
          </a:ln>
        </p:spPr>
        <p:txBody>
          <a:bodyPr wrap="square" lIns="0" tIns="0" rIns="0" bIns="0" rtlCol="0" anchor="ctr"/>
          <a:lstStyle/>
          <a:p>
            <a:pPr algn="ctr" indent="0" marL="0">
              <a:buNone/>
            </a:pPr>
            <a:r>
              <a:rPr lang="en-US" sz="900" b="1" spc="45" kern="0" dirty="0">
                <a:solidFill>
                  <a:srgbClr val="FB7185"/>
                </a:solidFill>
                <a:latin typeface="Noto Sans JP" pitchFamily="34" charset="0"/>
                <a:ea typeface="Noto Sans JP" pitchFamily="34" charset="-122"/>
                <a:cs typeface="Noto Sans JP" pitchFamily="34" charset="-120"/>
              </a:rPr>
              <a:t>QUALITY ASSURANCE</a:t>
            </a:r>
            <a:endParaRPr lang="en-US" sz="900" dirty="0"/>
          </a:p>
        </p:txBody>
      </p:sp>
      <p:sp>
        <p:nvSpPr>
          <p:cNvPr id="7" name="Text 3"/>
          <p:cNvSpPr txBox="1"/>
          <p:nvPr/>
        </p:nvSpPr>
        <p:spPr>
          <a:xfrm>
            <a:off x="476402" y="705002"/>
            <a:ext cx="5670194" cy="381305"/>
          </a:xfrm>
          <a:prstGeom prst="rect">
            <a:avLst/>
          </a:prstGeom>
          <a:noFill/>
          <a:ln/>
        </p:spPr>
        <p:txBody>
          <a:bodyPr wrap="square" lIns="0" tIns="0" rIns="0" bIns="0" rtlCol="0" anchor="ctr"/>
          <a:lstStyle/>
          <a:p>
            <a:pPr algn="l" indent="0" marL="0">
              <a:buNone/>
            </a:pPr>
            <a:r>
              <a:rPr lang="en-US" sz="2700" b="1" spc="-67" kern="0" dirty="0">
                <a:solidFill>
                  <a:srgbClr val="FFFFFF"/>
                </a:solidFill>
                <a:latin typeface="Noto Sans JP" pitchFamily="34" charset="0"/>
                <a:ea typeface="Noto Sans JP" pitchFamily="34" charset="-122"/>
                <a:cs typeface="Noto Sans JP" pitchFamily="34" charset="-120"/>
              </a:rPr>
              <a:t> テストの空洞化と</a:t>
            </a:r>
            <a:pPr algn="l" indent="0" marL="0">
              <a:buNone/>
            </a:pPr>
            <a:r>
              <a:rPr lang="en-US" sz="2700" b="1" spc="-67" kern="0" dirty="0">
                <a:solidFill>
                  <a:srgbClr val="FB7185"/>
                </a:solidFill>
                <a:latin typeface="Noto Sans JP" pitchFamily="34" charset="0"/>
                <a:ea typeface="Noto Sans JP" pitchFamily="34" charset="-122"/>
                <a:cs typeface="Noto Sans JP" pitchFamily="34" charset="-120"/>
              </a:rPr>
              <a:t>「最後の砦」</a:t>
            </a:r>
            <a:endParaRPr lang="en-US" sz="2700" dirty="0"/>
          </a:p>
        </p:txBody>
      </p:sp>
      <p:sp>
        <p:nvSpPr>
          <p:cNvPr id="8" name="Text 4"/>
          <p:cNvSpPr txBox="1"/>
          <p:nvPr/>
        </p:nvSpPr>
        <p:spPr>
          <a:xfrm>
            <a:off x="8451799" y="705002"/>
            <a:ext cx="3267151" cy="191110"/>
          </a:xfrm>
          <a:prstGeom prst="rect">
            <a:avLst/>
          </a:prstGeom>
          <a:noFill/>
          <a:ln/>
        </p:spPr>
        <p:txBody>
          <a:bodyPr wrap="square" lIns="0" tIns="0" rIns="0" bIns="0" rtlCol="0" anchor="ctr"/>
          <a:lstStyle/>
          <a:p>
            <a:pPr algn="r" indent="0" marL="0">
              <a:buNone/>
            </a:pPr>
            <a:r>
              <a:rPr lang="en-US" sz="1000" dirty="0">
                <a:solidFill>
                  <a:srgbClr val="94A3B8"/>
                </a:solidFill>
                <a:latin typeface="Noto Sans JP" pitchFamily="34" charset="0"/>
                <a:ea typeface="Noto Sans JP" pitchFamily="34" charset="-122"/>
                <a:cs typeface="Noto Sans JP" pitchFamily="34" charset="-120"/>
              </a:rPr>
              <a:t>AI時代の品質保証戦略：Green Illusionからの脱却</a:t>
            </a:r>
            <a:endParaRPr lang="en-US" sz="1000" dirty="0"/>
          </a:p>
        </p:txBody>
      </p:sp>
      <p:sp>
        <p:nvSpPr>
          <p:cNvPr id="9" name="Text 5"/>
          <p:cNvSpPr txBox="1"/>
          <p:nvPr/>
        </p:nvSpPr>
        <p:spPr>
          <a:xfrm>
            <a:off x="10550347" y="933602"/>
            <a:ext cx="1248156" cy="152705"/>
          </a:xfrm>
          <a:prstGeom prst="rect">
            <a:avLst/>
          </a:prstGeom>
          <a:noFill/>
          <a:ln/>
        </p:spPr>
        <p:txBody>
          <a:bodyPr wrap="square" lIns="0" tIns="0" rIns="0" bIns="0" rtlCol="0" anchor="ctr"/>
          <a:lstStyle/>
          <a:p>
            <a:pPr algn="l" indent="0" marL="0">
              <a:buNone/>
            </a:pPr>
            <a:r>
              <a:rPr lang="en-US" sz="900" dirty="0">
                <a:solidFill>
                  <a:srgbClr val="64748B"/>
                </a:solidFill>
                <a:latin typeface="JetBrains Mono" pitchFamily="34" charset="0"/>
                <a:ea typeface="JetBrains Mono" pitchFamily="34" charset="-122"/>
                <a:cs typeface="JetBrains Mono" pitchFamily="34" charset="-120"/>
              </a:rPr>
              <a:t>HUMAN_IN_THE_LOOP</a:t>
            </a:r>
            <a:endParaRPr lang="en-US" sz="900" dirty="0"/>
          </a:p>
        </p:txBody>
      </p:sp>
      <p:pic>
        <p:nvPicPr>
          <p:cNvPr id="10" name="Image 2" descr="preencoded.png">    </p:cNvPr>
          <p:cNvPicPr>
            <a:picLocks noChangeAspect="1"/>
          </p:cNvPicPr>
          <p:nvPr/>
        </p:nvPicPr>
        <p:blipFill>
          <a:blip r:embed="rId3"/>
          <a:srcRect l="-4000" r="-4000" t="0" b="0"/>
          <a:stretch/>
        </p:blipFill>
        <p:spPr>
          <a:xfrm>
            <a:off x="599846" y="452628"/>
            <a:ext cx="123444" cy="114300"/>
          </a:xfrm>
          <a:prstGeom prst="rect">
            <a:avLst/>
          </a:prstGeom>
        </p:spPr>
      </p:pic>
      <p:pic>
        <p:nvPicPr>
          <p:cNvPr id="11" name="Image 3" descr="preencoded.png">    </p:cNvPr>
          <p:cNvPicPr>
            <a:picLocks noChangeAspect="1"/>
          </p:cNvPicPr>
          <p:nvPr/>
        </p:nvPicPr>
        <p:blipFill>
          <a:blip r:embed="rId4"/>
          <a:srcRect l="0" r="0" t="0" b="0"/>
          <a:stretch/>
        </p:blipFill>
        <p:spPr>
          <a:xfrm>
            <a:off x="10397642" y="947318"/>
            <a:ext cx="114300" cy="114300"/>
          </a:xfrm>
          <a:prstGeom prst="rect">
            <a:avLst/>
          </a:prstGeom>
        </p:spPr>
      </p:pic>
      <p:pic>
        <p:nvPicPr>
          <p:cNvPr id="12" name="Image 4" descr="preencoded.png">    </p:cNvPr>
          <p:cNvPicPr>
            <a:picLocks noChangeAspect="1"/>
          </p:cNvPicPr>
          <p:nvPr/>
        </p:nvPicPr>
        <p:blipFill>
          <a:blip r:embed="rId5"/>
          <a:srcRect l="0" r="0" t="-18" b="-18"/>
          <a:stretch/>
        </p:blipFill>
        <p:spPr>
          <a:xfrm>
            <a:off x="476402" y="1390802"/>
            <a:ext cx="11239805" cy="826618"/>
          </a:xfrm>
          <a:prstGeom prst="rect">
            <a:avLst/>
          </a:prstGeom>
        </p:spPr>
      </p:pic>
      <p:sp>
        <p:nvSpPr>
          <p:cNvPr id="13" name="Text 6"/>
          <p:cNvSpPr txBox="1"/>
          <p:nvPr/>
        </p:nvSpPr>
        <p:spPr>
          <a:xfrm>
            <a:off x="1152144" y="1543507"/>
            <a:ext cx="8772754" cy="267005"/>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The Green Illusion（成功の錯覚）</a:t>
            </a:r>
            <a:endParaRPr lang="en-US" sz="1300" dirty="0"/>
          </a:p>
        </p:txBody>
      </p:sp>
      <p:sp>
        <p:nvSpPr>
          <p:cNvPr id="14" name="Text 7"/>
          <p:cNvSpPr txBox="1"/>
          <p:nvPr/>
        </p:nvSpPr>
        <p:spPr>
          <a:xfrm>
            <a:off x="1152144" y="1848002"/>
            <a:ext cx="8849563" cy="219456"/>
          </a:xfrm>
          <a:prstGeom prst="rect">
            <a:avLst/>
          </a:prstGeom>
          <a:noFill/>
          <a:ln/>
        </p:spPr>
        <p:txBody>
          <a:bodyPr wrap="square" lIns="0" tIns="0" rIns="0" bIns="0" rtlCol="0" anchor="ctr"/>
          <a:lstStyle/>
          <a:p>
            <a:pPr algn="l" indent="0" marL="0">
              <a:buNone/>
            </a:pPr>
            <a:r>
              <a:rPr lang="en-US" sz="1000" dirty="0">
                <a:solidFill>
                  <a:srgbClr val="CBD5E1"/>
                </a:solidFill>
                <a:latin typeface="Noto Sans JP" pitchFamily="34" charset="0"/>
                <a:ea typeface="Noto Sans JP" pitchFamily="34" charset="-122"/>
                <a:cs typeface="Noto Sans JP" pitchFamily="34" charset="-120"/>
              </a:rPr>
              <a:t>AIが書いたロジックテストが「All Green (Pass)」でも、人間が触って初めて気づく観点が抜け落ち、本番障害に直結するリスクが高まっている。</a:t>
            </a:r>
            <a:endParaRPr lang="en-US" sz="1000" dirty="0"/>
          </a:p>
        </p:txBody>
      </p:sp>
      <p:pic>
        <p:nvPicPr>
          <p:cNvPr id="15" name="Image 5" descr="preencoded.png">    </p:cNvPr>
          <p:cNvPicPr>
            <a:picLocks noChangeAspect="1"/>
          </p:cNvPicPr>
          <p:nvPr/>
        </p:nvPicPr>
        <p:blipFill>
          <a:blip r:embed="rId6"/>
          <a:srcRect l="0" r="0" t="-45" b="-45"/>
          <a:stretch/>
        </p:blipFill>
        <p:spPr>
          <a:xfrm>
            <a:off x="743407" y="1628546"/>
            <a:ext cx="256946" cy="228600"/>
          </a:xfrm>
          <a:prstGeom prst="rect">
            <a:avLst/>
          </a:prstGeom>
        </p:spPr>
      </p:pic>
      <p:sp>
        <p:nvSpPr>
          <p:cNvPr id="16" name="Text 8"/>
          <p:cNvSpPr txBox="1"/>
          <p:nvPr/>
        </p:nvSpPr>
        <p:spPr>
          <a:xfrm>
            <a:off x="743407" y="2445106"/>
            <a:ext cx="11162995" cy="152705"/>
          </a:xfrm>
          <a:prstGeom prst="rect">
            <a:avLst/>
          </a:prstGeom>
          <a:noFill/>
          <a:ln/>
        </p:spPr>
        <p:txBody>
          <a:bodyPr wrap="square" lIns="0" tIns="0" rIns="0" bIns="0" rtlCol="0" anchor="ctr"/>
          <a:lstStyle/>
          <a:p>
            <a:pPr algn="l" indent="0" marL="0">
              <a:buNone/>
            </a:pPr>
            <a:r>
              <a:rPr lang="en-US" sz="900" b="1" spc="45" kern="0" dirty="0">
                <a:solidFill>
                  <a:srgbClr val="94A3B8"/>
                </a:solidFill>
                <a:latin typeface="Noto Sans JP" pitchFamily="34" charset="0"/>
                <a:ea typeface="Noto Sans JP" pitchFamily="34" charset="-122"/>
                <a:cs typeface="Noto Sans JP" pitchFamily="34" charset="-120"/>
              </a:rPr>
              <a:t>抜け落ちがちな4つのブラックボックス</a:t>
            </a:r>
            <a:endParaRPr lang="en-US" sz="900" dirty="0"/>
          </a:p>
        </p:txBody>
      </p:sp>
      <p:pic>
        <p:nvPicPr>
          <p:cNvPr id="17" name="Image 6" descr="preencoded.png">    </p:cNvPr>
          <p:cNvPicPr>
            <a:picLocks noChangeAspect="1"/>
          </p:cNvPicPr>
          <p:nvPr/>
        </p:nvPicPr>
        <p:blipFill>
          <a:blip r:embed="rId7"/>
          <a:srcRect l="-3440" r="-3440" t="0" b="0"/>
          <a:stretch/>
        </p:blipFill>
        <p:spPr>
          <a:xfrm>
            <a:off x="514807" y="2469794"/>
            <a:ext cx="152705" cy="114300"/>
          </a:xfrm>
          <a:prstGeom prst="rect">
            <a:avLst/>
          </a:prstGeom>
        </p:spPr>
      </p:pic>
      <p:sp>
        <p:nvSpPr>
          <p:cNvPr id="18" name="Shape 9"/>
          <p:cNvSpPr/>
          <p:nvPr/>
        </p:nvSpPr>
        <p:spPr>
          <a:xfrm>
            <a:off x="476402" y="2712110"/>
            <a:ext cx="2695651" cy="1399946"/>
          </a:xfrm>
          <a:prstGeom prst="roundRect">
            <a:avLst>
              <a:gd name="adj" fmla="val 5332"/>
            </a:avLst>
          </a:prstGeom>
          <a:solidFill>
            <a:srgbClr val="1E293B">
              <a:alpha val="60000"/>
            </a:srgbClr>
          </a:solidFill>
          <a:ln w="12700">
            <a:solidFill>
              <a:srgbClr val="94A3B8">
                <a:alpha val="10000"/>
              </a:srgbClr>
            </a:solidFill>
            <a:prstDash val="solid"/>
          </a:ln>
        </p:spPr>
      </p:sp>
      <p:sp>
        <p:nvSpPr>
          <p:cNvPr id="19" name="Shape 10"/>
          <p:cNvSpPr/>
          <p:nvPr/>
        </p:nvSpPr>
        <p:spPr>
          <a:xfrm>
            <a:off x="2771546" y="2712110"/>
            <a:ext cx="381305" cy="381305"/>
          </a:xfrm>
          <a:prstGeom prst="roundRect">
            <a:avLst>
              <a:gd name="adj" fmla="val 239808"/>
            </a:avLst>
          </a:prstGeom>
          <a:solidFill>
            <a:srgbClr val="000000">
              <a:alpha val="20000"/>
            </a:srgbClr>
          </a:solidFill>
          <a:ln w="12700">
            <a:solidFill>
              <a:srgbClr val="FFFFFF">
                <a:alpha val="0"/>
              </a:srgbClr>
            </a:solidFill>
            <a:prstDash val="solid"/>
          </a:ln>
        </p:spPr>
      </p:sp>
      <p:sp>
        <p:nvSpPr>
          <p:cNvPr id="20" name="Shape 11"/>
          <p:cNvSpPr/>
          <p:nvPr/>
        </p:nvSpPr>
        <p:spPr>
          <a:xfrm>
            <a:off x="638251" y="2873959"/>
            <a:ext cx="381305" cy="381305"/>
          </a:xfrm>
          <a:prstGeom prst="roundRect">
            <a:avLst>
              <a:gd name="adj" fmla="val 47962"/>
            </a:avLst>
          </a:prstGeom>
          <a:solidFill>
            <a:srgbClr val="0F172A">
              <a:alpha val="50000"/>
            </a:srgbClr>
          </a:solidFill>
          <a:ln w="12700">
            <a:solidFill>
              <a:srgbClr val="A855F7">
                <a:alpha val="30000"/>
              </a:srgbClr>
            </a:solidFill>
            <a:prstDash val="solid"/>
          </a:ln>
        </p:spPr>
      </p:sp>
      <p:pic>
        <p:nvPicPr>
          <p:cNvPr id="21" name="Image 7" descr="preencoded.png">    </p:cNvPr>
          <p:cNvPicPr>
            <a:picLocks noChangeAspect="1"/>
          </p:cNvPicPr>
          <p:nvPr/>
        </p:nvPicPr>
        <p:blipFill>
          <a:blip r:embed="rId8"/>
          <a:srcRect l="0" r="0" t="0" b="0"/>
          <a:stretch/>
        </p:blipFill>
        <p:spPr>
          <a:xfrm>
            <a:off x="743407" y="2979115"/>
            <a:ext cx="171907" cy="171907"/>
          </a:xfrm>
          <a:prstGeom prst="rect">
            <a:avLst/>
          </a:prstGeom>
        </p:spPr>
      </p:pic>
      <p:sp>
        <p:nvSpPr>
          <p:cNvPr id="22" name="Text 12"/>
          <p:cNvSpPr txBox="1"/>
          <p:nvPr/>
        </p:nvSpPr>
        <p:spPr>
          <a:xfrm>
            <a:off x="638251" y="3369564"/>
            <a:ext cx="2562149"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感性・UXの違和感</a:t>
            </a:r>
            <a:endParaRPr lang="en-US" sz="1000" dirty="0"/>
          </a:p>
        </p:txBody>
      </p:sp>
      <p:sp>
        <p:nvSpPr>
          <p:cNvPr id="23" name="Text 13"/>
          <p:cNvSpPr txBox="1"/>
          <p:nvPr/>
        </p:nvSpPr>
        <p:spPr>
          <a:xfrm>
            <a:off x="638251" y="3636569"/>
            <a:ext cx="2448763" cy="314554"/>
          </a:xfrm>
          <a:prstGeom prst="rect">
            <a:avLst/>
          </a:prstGeom>
          <a:noFill/>
          <a:ln/>
        </p:spPr>
        <p:txBody>
          <a:bodyPr wrap="square" lIns="0" tIns="0" rIns="0" bIns="0" rtlCol="0" anchor="t"/>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「ボタンが押しにくい」「エラー文言が冷たい」。数値化できない体験の劣化。</a:t>
            </a:r>
            <a:endParaRPr lang="en-US" sz="900" dirty="0"/>
          </a:p>
        </p:txBody>
      </p:sp>
      <p:sp>
        <p:nvSpPr>
          <p:cNvPr id="24" name="Shape 14"/>
          <p:cNvSpPr/>
          <p:nvPr/>
        </p:nvSpPr>
        <p:spPr>
          <a:xfrm>
            <a:off x="3323844" y="2712110"/>
            <a:ext cx="2695651" cy="1399946"/>
          </a:xfrm>
          <a:prstGeom prst="roundRect">
            <a:avLst>
              <a:gd name="adj" fmla="val 5332"/>
            </a:avLst>
          </a:prstGeom>
          <a:solidFill>
            <a:srgbClr val="1E293B">
              <a:alpha val="60000"/>
            </a:srgbClr>
          </a:solidFill>
          <a:ln w="12700">
            <a:solidFill>
              <a:srgbClr val="94A3B8">
                <a:alpha val="10000"/>
              </a:srgbClr>
            </a:solidFill>
            <a:prstDash val="solid"/>
          </a:ln>
        </p:spPr>
      </p:sp>
      <p:sp>
        <p:nvSpPr>
          <p:cNvPr id="25" name="Shape 15"/>
          <p:cNvSpPr/>
          <p:nvPr/>
        </p:nvSpPr>
        <p:spPr>
          <a:xfrm>
            <a:off x="5619902" y="2712110"/>
            <a:ext cx="381305" cy="381305"/>
          </a:xfrm>
          <a:prstGeom prst="roundRect">
            <a:avLst>
              <a:gd name="adj" fmla="val 239808"/>
            </a:avLst>
          </a:prstGeom>
          <a:solidFill>
            <a:srgbClr val="000000">
              <a:alpha val="20000"/>
            </a:srgbClr>
          </a:solidFill>
          <a:ln w="12700">
            <a:solidFill>
              <a:srgbClr val="FFFFFF">
                <a:alpha val="0"/>
              </a:srgbClr>
            </a:solidFill>
            <a:prstDash val="solid"/>
          </a:ln>
        </p:spPr>
      </p:sp>
      <p:sp>
        <p:nvSpPr>
          <p:cNvPr id="26" name="Shape 16"/>
          <p:cNvSpPr/>
          <p:nvPr/>
        </p:nvSpPr>
        <p:spPr>
          <a:xfrm>
            <a:off x="3486607" y="2873959"/>
            <a:ext cx="381305" cy="381305"/>
          </a:xfrm>
          <a:prstGeom prst="roundRect">
            <a:avLst>
              <a:gd name="adj" fmla="val 47962"/>
            </a:avLst>
          </a:prstGeom>
          <a:solidFill>
            <a:srgbClr val="0F172A">
              <a:alpha val="50000"/>
            </a:srgbClr>
          </a:solidFill>
          <a:ln w="12700">
            <a:solidFill>
              <a:srgbClr val="F59E0B">
                <a:alpha val="30000"/>
              </a:srgbClr>
            </a:solidFill>
            <a:prstDash val="solid"/>
          </a:ln>
        </p:spPr>
      </p:sp>
      <p:pic>
        <p:nvPicPr>
          <p:cNvPr id="27" name="Image 8" descr="preencoded.png">    </p:cNvPr>
          <p:cNvPicPr>
            <a:picLocks noChangeAspect="1"/>
          </p:cNvPicPr>
          <p:nvPr/>
        </p:nvPicPr>
        <p:blipFill>
          <a:blip r:embed="rId9"/>
          <a:srcRect l="-760" r="-760" t="0" b="0"/>
          <a:stretch/>
        </p:blipFill>
        <p:spPr>
          <a:xfrm>
            <a:off x="3600907" y="2979115"/>
            <a:ext cx="152705" cy="171907"/>
          </a:xfrm>
          <a:prstGeom prst="rect">
            <a:avLst/>
          </a:prstGeom>
        </p:spPr>
      </p:pic>
      <p:sp>
        <p:nvSpPr>
          <p:cNvPr id="28" name="Text 17"/>
          <p:cNvSpPr txBox="1"/>
          <p:nvPr/>
        </p:nvSpPr>
        <p:spPr>
          <a:xfrm>
            <a:off x="3486607" y="3369564"/>
            <a:ext cx="2562149"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本番データのエッジ</a:t>
            </a:r>
            <a:endParaRPr lang="en-US" sz="1000" dirty="0"/>
          </a:p>
        </p:txBody>
      </p:sp>
      <p:sp>
        <p:nvSpPr>
          <p:cNvPr id="29" name="Text 18"/>
          <p:cNvSpPr txBox="1"/>
          <p:nvPr/>
        </p:nvSpPr>
        <p:spPr>
          <a:xfrm>
            <a:off x="3486607" y="3636569"/>
            <a:ext cx="2448763" cy="314554"/>
          </a:xfrm>
          <a:prstGeom prst="rect">
            <a:avLst/>
          </a:prstGeom>
          <a:noFill/>
          <a:ln/>
        </p:spPr>
        <p:txBody>
          <a:bodyPr wrap="square" lIns="0" tIns="0" rIns="0" bIns="0" rtlCol="0" anchor="t"/>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「長すぎる法人名」「特殊文字」「Nullだらけのレコード」によるレイアウト崩れ。</a:t>
            </a:r>
            <a:endParaRPr lang="en-US" sz="900" dirty="0"/>
          </a:p>
        </p:txBody>
      </p:sp>
      <p:sp>
        <p:nvSpPr>
          <p:cNvPr id="30" name="Shape 19"/>
          <p:cNvSpPr/>
          <p:nvPr/>
        </p:nvSpPr>
        <p:spPr>
          <a:xfrm>
            <a:off x="6172200" y="2712110"/>
            <a:ext cx="2695651" cy="1399946"/>
          </a:xfrm>
          <a:prstGeom prst="roundRect">
            <a:avLst>
              <a:gd name="adj" fmla="val 5332"/>
            </a:avLst>
          </a:prstGeom>
          <a:solidFill>
            <a:srgbClr val="1E293B">
              <a:alpha val="60000"/>
            </a:srgbClr>
          </a:solidFill>
          <a:ln w="12700">
            <a:solidFill>
              <a:srgbClr val="94A3B8">
                <a:alpha val="10000"/>
              </a:srgbClr>
            </a:solidFill>
            <a:prstDash val="solid"/>
          </a:ln>
        </p:spPr>
      </p:sp>
      <p:sp>
        <p:nvSpPr>
          <p:cNvPr id="31" name="Shape 20"/>
          <p:cNvSpPr/>
          <p:nvPr/>
        </p:nvSpPr>
        <p:spPr>
          <a:xfrm>
            <a:off x="8467344" y="2712110"/>
            <a:ext cx="381305" cy="381305"/>
          </a:xfrm>
          <a:prstGeom prst="roundRect">
            <a:avLst>
              <a:gd name="adj" fmla="val 239808"/>
            </a:avLst>
          </a:prstGeom>
          <a:solidFill>
            <a:srgbClr val="000000">
              <a:alpha val="20000"/>
            </a:srgbClr>
          </a:solidFill>
          <a:ln w="12700">
            <a:solidFill>
              <a:srgbClr val="FFFFFF">
                <a:alpha val="0"/>
              </a:srgbClr>
            </a:solidFill>
            <a:prstDash val="solid"/>
          </a:ln>
        </p:spPr>
      </p:sp>
      <p:sp>
        <p:nvSpPr>
          <p:cNvPr id="32" name="Shape 21"/>
          <p:cNvSpPr/>
          <p:nvPr/>
        </p:nvSpPr>
        <p:spPr>
          <a:xfrm>
            <a:off x="6334049" y="2873959"/>
            <a:ext cx="381305" cy="381305"/>
          </a:xfrm>
          <a:prstGeom prst="roundRect">
            <a:avLst>
              <a:gd name="adj" fmla="val 47962"/>
            </a:avLst>
          </a:prstGeom>
          <a:solidFill>
            <a:srgbClr val="0F172A">
              <a:alpha val="50000"/>
            </a:srgbClr>
          </a:solidFill>
          <a:ln w="12700">
            <a:solidFill>
              <a:srgbClr val="3B82F6">
                <a:alpha val="30000"/>
              </a:srgbClr>
            </a:solidFill>
            <a:prstDash val="solid"/>
          </a:ln>
        </p:spPr>
      </p:sp>
      <p:pic>
        <p:nvPicPr>
          <p:cNvPr id="33" name="Image 9" descr="preencoded.png">    </p:cNvPr>
          <p:cNvPicPr>
            <a:picLocks noChangeAspect="1"/>
          </p:cNvPicPr>
          <p:nvPr/>
        </p:nvPicPr>
        <p:blipFill>
          <a:blip r:embed="rId10"/>
          <a:srcRect l="0" r="0" t="0" b="0"/>
          <a:stretch/>
        </p:blipFill>
        <p:spPr>
          <a:xfrm>
            <a:off x="6439205" y="2979115"/>
            <a:ext cx="171907" cy="171907"/>
          </a:xfrm>
          <a:prstGeom prst="rect">
            <a:avLst/>
          </a:prstGeom>
        </p:spPr>
      </p:pic>
      <p:sp>
        <p:nvSpPr>
          <p:cNvPr id="34" name="Text 22"/>
          <p:cNvSpPr txBox="1"/>
          <p:nvPr/>
        </p:nvSpPr>
        <p:spPr>
          <a:xfrm>
            <a:off x="6334049" y="3369564"/>
            <a:ext cx="2562149"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業務プロセスの横断</a:t>
            </a:r>
            <a:endParaRPr lang="en-US" sz="1000" dirty="0"/>
          </a:p>
        </p:txBody>
      </p:sp>
      <p:sp>
        <p:nvSpPr>
          <p:cNvPr id="35" name="Text 23"/>
          <p:cNvSpPr txBox="1"/>
          <p:nvPr/>
        </p:nvSpPr>
        <p:spPr>
          <a:xfrm>
            <a:off x="6334049" y="3636569"/>
            <a:ext cx="2448763" cy="314554"/>
          </a:xfrm>
          <a:prstGeom prst="rect">
            <a:avLst/>
          </a:prstGeom>
          <a:noFill/>
          <a:ln/>
        </p:spPr>
        <p:txBody>
          <a:bodyPr wrap="square" lIns="0" tIns="0" rIns="0" bIns="0" rtlCol="0" anchor="t"/>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「申請→承認→差戻し」のような、複数画面・アクターをまたぐ状態遷移の矛盾。</a:t>
            </a:r>
            <a:endParaRPr lang="en-US" sz="900" dirty="0"/>
          </a:p>
        </p:txBody>
      </p:sp>
      <p:sp>
        <p:nvSpPr>
          <p:cNvPr id="36" name="Shape 24"/>
          <p:cNvSpPr/>
          <p:nvPr/>
        </p:nvSpPr>
        <p:spPr>
          <a:xfrm>
            <a:off x="9020556" y="2712110"/>
            <a:ext cx="2695651" cy="1399946"/>
          </a:xfrm>
          <a:prstGeom prst="roundRect">
            <a:avLst>
              <a:gd name="adj" fmla="val 5332"/>
            </a:avLst>
          </a:prstGeom>
          <a:solidFill>
            <a:srgbClr val="1E293B">
              <a:alpha val="60000"/>
            </a:srgbClr>
          </a:solidFill>
          <a:ln w="12700">
            <a:solidFill>
              <a:srgbClr val="94A3B8">
                <a:alpha val="10000"/>
              </a:srgbClr>
            </a:solidFill>
            <a:prstDash val="solid"/>
          </a:ln>
        </p:spPr>
      </p:sp>
      <p:sp>
        <p:nvSpPr>
          <p:cNvPr id="37" name="Shape 25"/>
          <p:cNvSpPr/>
          <p:nvPr/>
        </p:nvSpPr>
        <p:spPr>
          <a:xfrm>
            <a:off x="11315700" y="2712110"/>
            <a:ext cx="381305" cy="381305"/>
          </a:xfrm>
          <a:prstGeom prst="roundRect">
            <a:avLst>
              <a:gd name="adj" fmla="val 239808"/>
            </a:avLst>
          </a:prstGeom>
          <a:solidFill>
            <a:srgbClr val="000000">
              <a:alpha val="20000"/>
            </a:srgbClr>
          </a:solidFill>
          <a:ln w="12700">
            <a:solidFill>
              <a:srgbClr val="FFFFFF">
                <a:alpha val="0"/>
              </a:srgbClr>
            </a:solidFill>
            <a:prstDash val="solid"/>
          </a:ln>
        </p:spPr>
      </p:sp>
      <p:sp>
        <p:nvSpPr>
          <p:cNvPr id="38" name="Shape 26"/>
          <p:cNvSpPr/>
          <p:nvPr/>
        </p:nvSpPr>
        <p:spPr>
          <a:xfrm>
            <a:off x="9182405" y="2873959"/>
            <a:ext cx="381305" cy="381305"/>
          </a:xfrm>
          <a:prstGeom prst="roundRect">
            <a:avLst>
              <a:gd name="adj" fmla="val 47962"/>
            </a:avLst>
          </a:prstGeom>
          <a:solidFill>
            <a:srgbClr val="0F172A">
              <a:alpha val="50000"/>
            </a:srgbClr>
          </a:solidFill>
          <a:ln w="12700">
            <a:solidFill>
              <a:srgbClr val="F43F5E">
                <a:alpha val="30000"/>
              </a:srgbClr>
            </a:solidFill>
            <a:prstDash val="solid"/>
          </a:ln>
        </p:spPr>
      </p:sp>
      <p:pic>
        <p:nvPicPr>
          <p:cNvPr id="39" name="Image 10" descr="preencoded.png">    </p:cNvPr>
          <p:cNvPicPr>
            <a:picLocks noChangeAspect="1"/>
          </p:cNvPicPr>
          <p:nvPr/>
        </p:nvPicPr>
        <p:blipFill>
          <a:blip r:embed="rId11"/>
          <a:srcRect l="-1064" r="-1064" t="0" b="0"/>
          <a:stretch/>
        </p:blipFill>
        <p:spPr>
          <a:xfrm>
            <a:off x="9262872" y="2979115"/>
            <a:ext cx="219456" cy="171907"/>
          </a:xfrm>
          <a:prstGeom prst="rect">
            <a:avLst/>
          </a:prstGeom>
        </p:spPr>
      </p:pic>
      <p:sp>
        <p:nvSpPr>
          <p:cNvPr id="40" name="Text 27"/>
          <p:cNvSpPr txBox="1"/>
          <p:nvPr/>
        </p:nvSpPr>
        <p:spPr>
          <a:xfrm>
            <a:off x="9182405" y="3369564"/>
            <a:ext cx="2562149"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権限と運用のギャップ</a:t>
            </a:r>
            <a:endParaRPr lang="en-US" sz="1000" dirty="0"/>
          </a:p>
        </p:txBody>
      </p:sp>
      <p:sp>
        <p:nvSpPr>
          <p:cNvPr id="41" name="Text 28"/>
          <p:cNvSpPr txBox="1"/>
          <p:nvPr/>
        </p:nvSpPr>
        <p:spPr>
          <a:xfrm>
            <a:off x="9182405" y="3636569"/>
            <a:ext cx="2448763" cy="314554"/>
          </a:xfrm>
          <a:prstGeom prst="rect">
            <a:avLst/>
          </a:prstGeom>
          <a:noFill/>
          <a:ln/>
        </p:spPr>
        <p:txBody>
          <a:bodyPr wrap="square" lIns="0" tIns="0" rIns="0" bIns="0" rtlCol="0" anchor="t"/>
          <a:lstStyle/>
          <a:p>
            <a:pPr algn="l" indent="0" marL="0">
              <a:buNone/>
            </a:pPr>
            <a:r>
              <a:rPr lang="en-US" sz="900" dirty="0">
                <a:solidFill>
                  <a:srgbClr val="94A3B8"/>
                </a:solidFill>
                <a:latin typeface="Noto Sans JP" pitchFamily="34" charset="0"/>
                <a:ea typeface="Noto Sans JP" pitchFamily="34" charset="-122"/>
                <a:cs typeface="Noto Sans JP" pitchFamily="34" charset="-120"/>
              </a:rPr>
              <a:t>「システム上は可能だが、業務ルールでは禁止」といった権限境界の不整合。</a:t>
            </a:r>
            <a:endParaRPr lang="en-US" sz="900" dirty="0"/>
          </a:p>
        </p:txBody>
      </p:sp>
      <p:sp>
        <p:nvSpPr>
          <p:cNvPr id="42" name="Text 29"/>
          <p:cNvSpPr txBox="1"/>
          <p:nvPr/>
        </p:nvSpPr>
        <p:spPr>
          <a:xfrm>
            <a:off x="695858" y="4340657"/>
            <a:ext cx="11134649" cy="152705"/>
          </a:xfrm>
          <a:prstGeom prst="rect">
            <a:avLst/>
          </a:prstGeom>
          <a:noFill/>
          <a:ln/>
        </p:spPr>
        <p:txBody>
          <a:bodyPr wrap="square" lIns="0" tIns="0" rIns="0" bIns="0" rtlCol="0" anchor="ctr"/>
          <a:lstStyle/>
          <a:p>
            <a:pPr algn="l" indent="0" marL="0">
              <a:buNone/>
            </a:pPr>
            <a:r>
              <a:rPr lang="en-US" sz="900" b="1" spc="45" kern="0" dirty="0">
                <a:solidFill>
                  <a:srgbClr val="34D399"/>
                </a:solidFill>
                <a:latin typeface="Noto Sans JP" pitchFamily="34" charset="0"/>
                <a:ea typeface="Noto Sans JP" pitchFamily="34" charset="-122"/>
                <a:cs typeface="Noto Sans JP" pitchFamily="34" charset="-120"/>
              </a:rPr>
              <a:t>STRATEGIC ACTIONS</a:t>
            </a:r>
            <a:endParaRPr lang="en-US" sz="900" dirty="0"/>
          </a:p>
        </p:txBody>
      </p:sp>
      <p:pic>
        <p:nvPicPr>
          <p:cNvPr id="43" name="Image 11" descr="preencoded.png">    </p:cNvPr>
          <p:cNvPicPr>
            <a:picLocks noChangeAspect="1"/>
          </p:cNvPicPr>
          <p:nvPr/>
        </p:nvPicPr>
        <p:blipFill>
          <a:blip r:embed="rId12"/>
          <a:srcRect l="-2571" r="-2571" t="0" b="0"/>
          <a:stretch/>
        </p:blipFill>
        <p:spPr>
          <a:xfrm>
            <a:off x="514807" y="4364431"/>
            <a:ext cx="105156" cy="114300"/>
          </a:xfrm>
          <a:prstGeom prst="rect">
            <a:avLst/>
          </a:prstGeom>
        </p:spPr>
      </p:pic>
      <p:sp>
        <p:nvSpPr>
          <p:cNvPr id="44" name="Shape 30"/>
          <p:cNvSpPr/>
          <p:nvPr/>
        </p:nvSpPr>
        <p:spPr>
          <a:xfrm>
            <a:off x="476402" y="4607662"/>
            <a:ext cx="3619195" cy="1257300"/>
          </a:xfrm>
          <a:prstGeom prst="roundRect">
            <a:avLst>
              <a:gd name="adj" fmla="val 6612"/>
            </a:avLst>
          </a:prstGeom>
          <a:solidFill>
            <a:srgbClr val="10B981">
              <a:alpha val="5000"/>
            </a:srgbClr>
          </a:solidFill>
          <a:ln w="12700">
            <a:solidFill>
              <a:srgbClr val="10B981">
                <a:alpha val="20000"/>
              </a:srgbClr>
            </a:solidFill>
            <a:prstDash val="solid"/>
          </a:ln>
        </p:spPr>
      </p:sp>
      <p:pic>
        <p:nvPicPr>
          <p:cNvPr id="45" name="Image 12" descr="preencoded.png">    </p:cNvPr>
          <p:cNvPicPr>
            <a:picLocks noChangeAspect="1"/>
          </p:cNvPicPr>
          <p:nvPr/>
        </p:nvPicPr>
        <p:blipFill>
          <a:blip r:embed="rId13"/>
          <a:stretch>
            <a:fillRect/>
          </a:stretch>
        </p:blipFill>
        <p:spPr>
          <a:xfrm>
            <a:off x="638251" y="4769510"/>
            <a:ext cx="228600" cy="228600"/>
          </a:xfrm>
          <a:prstGeom prst="rect">
            <a:avLst/>
          </a:prstGeom>
        </p:spPr>
      </p:pic>
      <p:sp>
        <p:nvSpPr>
          <p:cNvPr id="46" name="Text 31"/>
          <p:cNvSpPr/>
          <p:nvPr/>
        </p:nvSpPr>
        <p:spPr>
          <a:xfrm>
            <a:off x="638251" y="4769510"/>
            <a:ext cx="228600" cy="2286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b="1" dirty="0">
                <a:solidFill>
                  <a:srgbClr val="34D399"/>
                </a:solidFill>
                <a:latin typeface="JetBrains Mono" pitchFamily="34" charset="0"/>
                <a:ea typeface="JetBrains Mono" pitchFamily="34" charset="-122"/>
                <a:cs typeface="JetBrains Mono" pitchFamily="34" charset="-120"/>
              </a:rPr>
              <a:t>1</a:t>
            </a:r>
            <a:endParaRPr lang="en-US" sz="900" dirty="0"/>
          </a:p>
        </p:txBody>
      </p:sp>
      <p:sp>
        <p:nvSpPr>
          <p:cNvPr id="47" name="Text 32"/>
          <p:cNvSpPr txBox="1"/>
          <p:nvPr/>
        </p:nvSpPr>
        <p:spPr>
          <a:xfrm>
            <a:off x="961949" y="4784141"/>
            <a:ext cx="1440180" cy="200254"/>
          </a:xfrm>
          <a:prstGeom prst="rect">
            <a:avLst/>
          </a:prstGeom>
          <a:noFill/>
          <a:ln/>
        </p:spPr>
        <p:txBody>
          <a:bodyPr wrap="square" lIns="0" tIns="0" rIns="0" bIns="0" rtlCol="0" anchor="ctr"/>
          <a:lstStyle/>
          <a:p>
            <a:pPr algn="l" indent="0" marL="0">
              <a:buNone/>
            </a:pPr>
            <a:r>
              <a:rPr lang="en-US" sz="1000" b="1" dirty="0">
                <a:solidFill>
                  <a:srgbClr val="34D399"/>
                </a:solidFill>
                <a:latin typeface="Noto Sans JP" pitchFamily="34" charset="0"/>
                <a:ea typeface="Noto Sans JP" pitchFamily="34" charset="-122"/>
                <a:cs typeface="Noto Sans JP" pitchFamily="34" charset="-120"/>
              </a:rPr>
              <a:t>探索的テストへ全振り</a:t>
            </a:r>
            <a:endParaRPr lang="en-US" sz="1000" dirty="0"/>
          </a:p>
        </p:txBody>
      </p:sp>
      <p:sp>
        <p:nvSpPr>
          <p:cNvPr id="48" name="Text 33"/>
          <p:cNvSpPr txBox="1"/>
          <p:nvPr/>
        </p:nvSpPr>
        <p:spPr>
          <a:xfrm>
            <a:off x="638251" y="5093208"/>
            <a:ext cx="3372307" cy="305410"/>
          </a:xfrm>
          <a:prstGeom prst="rect">
            <a:avLst/>
          </a:prstGeom>
          <a:noFill/>
          <a:ln/>
        </p:spPr>
        <p:txBody>
          <a:bodyPr wrap="square" lIns="0" tIns="0" rIns="0" bIns="0" rtlCol="0" anchor="t"/>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 AIが単体テストを担う分、人間は</a:t>
            </a:r>
            <a:pPr algn="l" indent="0" marL="0">
              <a:buNone/>
            </a:pPr>
            <a:r>
              <a:rPr lang="en-US" sz="900" b="1" dirty="0">
                <a:solidFill>
                  <a:srgbClr val="6EE7B7"/>
                </a:solidFill>
                <a:latin typeface="Noto Sans JP" pitchFamily="34" charset="0"/>
                <a:ea typeface="Noto Sans JP" pitchFamily="34" charset="-122"/>
                <a:cs typeface="Noto Sans JP" pitchFamily="34" charset="-120"/>
              </a:rPr>
              <a:t>「意地悪な操作」と「ドッグフーディング」</a:t>
            </a:r>
            <a:pPr algn="l" indent="0" marL="0">
              <a:buNone/>
            </a:pPr>
            <a:r>
              <a:rPr lang="en-US" sz="900" dirty="0">
                <a:solidFill>
                  <a:srgbClr val="CBD5E1"/>
                </a:solidFill>
                <a:latin typeface="Noto Sans JP" pitchFamily="34" charset="0"/>
                <a:ea typeface="Noto Sans JP" pitchFamily="34" charset="-122"/>
                <a:cs typeface="Noto Sans JP" pitchFamily="34" charset="-120"/>
              </a:rPr>
              <a:t>に時間を投資する。 </a:t>
            </a:r>
            <a:endParaRPr lang="en-US" sz="900" dirty="0"/>
          </a:p>
        </p:txBody>
      </p:sp>
      <p:sp>
        <p:nvSpPr>
          <p:cNvPr id="49" name="Shape 34"/>
          <p:cNvSpPr/>
          <p:nvPr/>
        </p:nvSpPr>
        <p:spPr>
          <a:xfrm>
            <a:off x="638251" y="5474513"/>
            <a:ext cx="3295498" cy="9144"/>
          </a:xfrm>
          <a:prstGeom prst="rect">
            <a:avLst/>
          </a:prstGeom>
          <a:solidFill>
            <a:srgbClr val="10B981">
              <a:alpha val="20000"/>
            </a:srgbClr>
          </a:solidFill>
          <a:ln w="12700">
            <a:solidFill>
              <a:srgbClr val="10B981">
                <a:alpha val="0"/>
              </a:srgbClr>
            </a:solidFill>
            <a:prstDash val="solid"/>
          </a:ln>
        </p:spPr>
      </p:sp>
      <p:sp>
        <p:nvSpPr>
          <p:cNvPr id="50" name="Text 35"/>
          <p:cNvSpPr txBox="1"/>
          <p:nvPr/>
        </p:nvSpPr>
        <p:spPr>
          <a:xfrm>
            <a:off x="638251" y="5559552"/>
            <a:ext cx="3372307" cy="143561"/>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800" dirty="0">
                <a:solidFill>
                  <a:srgbClr val="64748B"/>
                </a:solidFill>
                <a:latin typeface="JetBrains Mono" pitchFamily="34" charset="0"/>
                <a:ea typeface="JetBrains Mono" pitchFamily="34" charset="-122"/>
                <a:cs typeface="JetBrains Mono" pitchFamily="34" charset="-120"/>
              </a:rPr>
              <a:t>&gt; Human Focus: UX &amp; Scenarios</a:t>
            </a:r>
            <a:endParaRPr lang="en-US" sz="800" dirty="0"/>
          </a:p>
        </p:txBody>
      </p:sp>
      <p:sp>
        <p:nvSpPr>
          <p:cNvPr id="51" name="Shape 36"/>
          <p:cNvSpPr/>
          <p:nvPr/>
        </p:nvSpPr>
        <p:spPr>
          <a:xfrm>
            <a:off x="4286707" y="4607662"/>
            <a:ext cx="3619195" cy="1257300"/>
          </a:xfrm>
          <a:prstGeom prst="roundRect">
            <a:avLst>
              <a:gd name="adj" fmla="val 6612"/>
            </a:avLst>
          </a:prstGeom>
          <a:solidFill>
            <a:srgbClr val="10B981">
              <a:alpha val="5000"/>
            </a:srgbClr>
          </a:solidFill>
          <a:ln w="12700">
            <a:solidFill>
              <a:srgbClr val="10B981">
                <a:alpha val="20000"/>
              </a:srgbClr>
            </a:solidFill>
            <a:prstDash val="solid"/>
          </a:ln>
        </p:spPr>
      </p:sp>
      <p:pic>
        <p:nvPicPr>
          <p:cNvPr id="52" name="Image 13" descr="preencoded.png">    </p:cNvPr>
          <p:cNvPicPr>
            <a:picLocks noChangeAspect="1"/>
          </p:cNvPicPr>
          <p:nvPr/>
        </p:nvPicPr>
        <p:blipFill>
          <a:blip r:embed="rId14"/>
          <a:stretch>
            <a:fillRect/>
          </a:stretch>
        </p:blipFill>
        <p:spPr>
          <a:xfrm>
            <a:off x="4448556" y="4769510"/>
            <a:ext cx="228600" cy="228600"/>
          </a:xfrm>
          <a:prstGeom prst="rect">
            <a:avLst/>
          </a:prstGeom>
        </p:spPr>
      </p:pic>
      <p:sp>
        <p:nvSpPr>
          <p:cNvPr id="53" name="Text 37"/>
          <p:cNvSpPr/>
          <p:nvPr/>
        </p:nvSpPr>
        <p:spPr>
          <a:xfrm>
            <a:off x="4448556" y="4769510"/>
            <a:ext cx="228600" cy="2286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b="1" dirty="0">
                <a:solidFill>
                  <a:srgbClr val="34D399"/>
                </a:solidFill>
                <a:latin typeface="JetBrains Mono" pitchFamily="34" charset="0"/>
                <a:ea typeface="JetBrains Mono" pitchFamily="34" charset="-122"/>
                <a:cs typeface="JetBrains Mono" pitchFamily="34" charset="-120"/>
              </a:rPr>
              <a:t>2</a:t>
            </a:r>
            <a:endParaRPr lang="en-US" sz="900" dirty="0"/>
          </a:p>
        </p:txBody>
      </p:sp>
      <p:sp>
        <p:nvSpPr>
          <p:cNvPr id="54" name="Text 38"/>
          <p:cNvSpPr txBox="1"/>
          <p:nvPr/>
        </p:nvSpPr>
        <p:spPr>
          <a:xfrm>
            <a:off x="4772254" y="4784141"/>
            <a:ext cx="1217066" cy="200254"/>
          </a:xfrm>
          <a:prstGeom prst="rect">
            <a:avLst/>
          </a:prstGeom>
          <a:noFill/>
          <a:ln/>
        </p:spPr>
        <p:txBody>
          <a:bodyPr wrap="square" lIns="0" tIns="0" rIns="0" bIns="0" rtlCol="0" anchor="ctr"/>
          <a:lstStyle/>
          <a:p>
            <a:pPr algn="l" indent="0" marL="0">
              <a:buNone/>
            </a:pPr>
            <a:r>
              <a:rPr lang="en-US" sz="1000" b="1" dirty="0">
                <a:solidFill>
                  <a:srgbClr val="34D399"/>
                </a:solidFill>
                <a:latin typeface="Noto Sans JP" pitchFamily="34" charset="0"/>
                <a:ea typeface="Noto Sans JP" pitchFamily="34" charset="-122"/>
                <a:cs typeface="Noto Sans JP" pitchFamily="34" charset="-120"/>
              </a:rPr>
              <a:t>E2E &amp; VRTのAI化</a:t>
            </a:r>
            <a:endParaRPr lang="en-US" sz="1000" dirty="0"/>
          </a:p>
        </p:txBody>
      </p:sp>
      <p:sp>
        <p:nvSpPr>
          <p:cNvPr id="55" name="Text 39"/>
          <p:cNvSpPr txBox="1"/>
          <p:nvPr/>
        </p:nvSpPr>
        <p:spPr>
          <a:xfrm>
            <a:off x="4448556" y="5093208"/>
            <a:ext cx="3372307" cy="305410"/>
          </a:xfrm>
          <a:prstGeom prst="rect">
            <a:avLst/>
          </a:prstGeom>
          <a:noFill/>
          <a:ln/>
        </p:spPr>
        <p:txBody>
          <a:bodyPr wrap="square" lIns="0" tIns="0" rIns="0" bIns="0" rtlCol="0" anchor="t"/>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 PlaywrightコードをAIに書かせ、Devin等に画面を操作させてスクショで</a:t>
            </a:r>
            <a:pPr algn="l" indent="0" marL="0">
              <a:buNone/>
            </a:pPr>
            <a:r>
              <a:rPr lang="en-US" sz="900" b="1" dirty="0">
                <a:solidFill>
                  <a:srgbClr val="6EE7B7"/>
                </a:solidFill>
                <a:latin typeface="Noto Sans JP" pitchFamily="34" charset="0"/>
                <a:ea typeface="Noto Sans JP" pitchFamily="34" charset="-122"/>
                <a:cs typeface="Noto Sans JP" pitchFamily="34" charset="-120"/>
              </a:rPr>
              <a:t>視覚的な崩れ</a:t>
            </a:r>
            <a:pPr algn="l" indent="0" marL="0">
              <a:buNone/>
            </a:pPr>
            <a:r>
              <a:rPr lang="en-US" sz="900" dirty="0">
                <a:solidFill>
                  <a:srgbClr val="CBD5E1"/>
                </a:solidFill>
                <a:latin typeface="Noto Sans JP" pitchFamily="34" charset="0"/>
                <a:ea typeface="Noto Sans JP" pitchFamily="34" charset="-122"/>
                <a:cs typeface="Noto Sans JP" pitchFamily="34" charset="-120"/>
              </a:rPr>
              <a:t>を検知する。 </a:t>
            </a:r>
            <a:endParaRPr lang="en-US" sz="900" dirty="0"/>
          </a:p>
        </p:txBody>
      </p:sp>
      <p:sp>
        <p:nvSpPr>
          <p:cNvPr id="56" name="Shape 40"/>
          <p:cNvSpPr/>
          <p:nvPr/>
        </p:nvSpPr>
        <p:spPr>
          <a:xfrm>
            <a:off x="4448556" y="5474513"/>
            <a:ext cx="3295498" cy="9144"/>
          </a:xfrm>
          <a:prstGeom prst="rect">
            <a:avLst/>
          </a:prstGeom>
          <a:solidFill>
            <a:srgbClr val="10B981">
              <a:alpha val="20000"/>
            </a:srgbClr>
          </a:solidFill>
          <a:ln w="12700">
            <a:solidFill>
              <a:srgbClr val="10B981">
                <a:alpha val="0"/>
              </a:srgbClr>
            </a:solidFill>
            <a:prstDash val="solid"/>
          </a:ln>
        </p:spPr>
      </p:sp>
      <p:sp>
        <p:nvSpPr>
          <p:cNvPr id="57" name="Text 41"/>
          <p:cNvSpPr txBox="1"/>
          <p:nvPr/>
        </p:nvSpPr>
        <p:spPr>
          <a:xfrm>
            <a:off x="4448556" y="5559552"/>
            <a:ext cx="3372307" cy="143561"/>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800" dirty="0">
                <a:solidFill>
                  <a:srgbClr val="64748B"/>
                </a:solidFill>
                <a:latin typeface="JetBrains Mono" pitchFamily="34" charset="0"/>
                <a:ea typeface="JetBrains Mono" pitchFamily="34" charset="-122"/>
                <a:cs typeface="JetBrains Mono" pitchFamily="34" charset="-120"/>
              </a:rPr>
              <a:t>&gt; Tool: Playwright + Visual Regression</a:t>
            </a:r>
            <a:endParaRPr lang="en-US" sz="800" dirty="0"/>
          </a:p>
        </p:txBody>
      </p:sp>
      <p:sp>
        <p:nvSpPr>
          <p:cNvPr id="58" name="Shape 42"/>
          <p:cNvSpPr/>
          <p:nvPr/>
        </p:nvSpPr>
        <p:spPr>
          <a:xfrm>
            <a:off x="8096098" y="4607662"/>
            <a:ext cx="3619195" cy="1257300"/>
          </a:xfrm>
          <a:prstGeom prst="roundRect">
            <a:avLst>
              <a:gd name="adj" fmla="val 6612"/>
            </a:avLst>
          </a:prstGeom>
          <a:solidFill>
            <a:srgbClr val="10B981">
              <a:alpha val="5000"/>
            </a:srgbClr>
          </a:solidFill>
          <a:ln w="12700">
            <a:solidFill>
              <a:srgbClr val="10B981">
                <a:alpha val="20000"/>
              </a:srgbClr>
            </a:solidFill>
            <a:prstDash val="solid"/>
          </a:ln>
        </p:spPr>
      </p:sp>
      <p:pic>
        <p:nvPicPr>
          <p:cNvPr id="59" name="Image 14" descr="preencoded.png">    </p:cNvPr>
          <p:cNvPicPr>
            <a:picLocks noChangeAspect="1"/>
          </p:cNvPicPr>
          <p:nvPr/>
        </p:nvPicPr>
        <p:blipFill>
          <a:blip r:embed="rId15"/>
          <a:stretch>
            <a:fillRect/>
          </a:stretch>
        </p:blipFill>
        <p:spPr>
          <a:xfrm>
            <a:off x="8257946" y="4769510"/>
            <a:ext cx="228600" cy="228600"/>
          </a:xfrm>
          <a:prstGeom prst="rect">
            <a:avLst/>
          </a:prstGeom>
        </p:spPr>
      </p:pic>
      <p:sp>
        <p:nvSpPr>
          <p:cNvPr id="60" name="Text 43"/>
          <p:cNvSpPr/>
          <p:nvPr/>
        </p:nvSpPr>
        <p:spPr>
          <a:xfrm>
            <a:off x="8257946" y="4769510"/>
            <a:ext cx="228600" cy="2286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900" b="1" dirty="0">
                <a:solidFill>
                  <a:srgbClr val="34D399"/>
                </a:solidFill>
                <a:latin typeface="JetBrains Mono" pitchFamily="34" charset="0"/>
                <a:ea typeface="JetBrains Mono" pitchFamily="34" charset="-122"/>
                <a:cs typeface="JetBrains Mono" pitchFamily="34" charset="-120"/>
              </a:rPr>
              <a:t>3</a:t>
            </a:r>
            <a:endParaRPr lang="en-US" sz="900" dirty="0"/>
          </a:p>
        </p:txBody>
      </p:sp>
      <p:sp>
        <p:nvSpPr>
          <p:cNvPr id="61" name="Text 44"/>
          <p:cNvSpPr txBox="1"/>
          <p:nvPr/>
        </p:nvSpPr>
        <p:spPr>
          <a:xfrm>
            <a:off x="8581644" y="4784141"/>
            <a:ext cx="1584655" cy="200254"/>
          </a:xfrm>
          <a:prstGeom prst="rect">
            <a:avLst/>
          </a:prstGeom>
          <a:noFill/>
          <a:ln/>
        </p:spPr>
        <p:txBody>
          <a:bodyPr wrap="square" lIns="0" tIns="0" rIns="0" bIns="0" rtlCol="0" anchor="ctr"/>
          <a:lstStyle/>
          <a:p>
            <a:pPr algn="l" indent="0" marL="0">
              <a:buNone/>
            </a:pPr>
            <a:r>
              <a:rPr lang="en-US" sz="1000" b="1" dirty="0">
                <a:solidFill>
                  <a:srgbClr val="34D399"/>
                </a:solidFill>
                <a:latin typeface="Noto Sans JP" pitchFamily="34" charset="0"/>
                <a:ea typeface="Noto Sans JP" pitchFamily="34" charset="-122"/>
                <a:cs typeface="Noto Sans JP" pitchFamily="34" charset="-120"/>
              </a:rPr>
              <a:t>権限マトリクスの明文化</a:t>
            </a:r>
            <a:endParaRPr lang="en-US" sz="1000" dirty="0"/>
          </a:p>
        </p:txBody>
      </p:sp>
      <p:sp>
        <p:nvSpPr>
          <p:cNvPr id="62" name="Text 45"/>
          <p:cNvSpPr txBox="1"/>
          <p:nvPr/>
        </p:nvSpPr>
        <p:spPr>
          <a:xfrm>
            <a:off x="8257946" y="5093208"/>
            <a:ext cx="3372307" cy="305410"/>
          </a:xfrm>
          <a:prstGeom prst="rect">
            <a:avLst/>
          </a:prstGeom>
          <a:noFill/>
          <a:ln/>
        </p:spPr>
        <p:txBody>
          <a:bodyPr wrap="square" lIns="0" tIns="0" rIns="0" bIns="0" rtlCol="0" anchor="t"/>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 docs/ に明確な</a:t>
            </a:r>
            <a:pPr algn="l" indent="0" marL="0">
              <a:buNone/>
            </a:pPr>
            <a:r>
              <a:rPr lang="en-US" sz="900" b="1" dirty="0">
                <a:solidFill>
                  <a:srgbClr val="6EE7B7"/>
                </a:solidFill>
                <a:latin typeface="Noto Sans JP" pitchFamily="34" charset="0"/>
                <a:ea typeface="Noto Sans JP" pitchFamily="34" charset="-122"/>
                <a:cs typeface="Noto Sans JP" pitchFamily="34" charset="-120"/>
              </a:rPr>
              <a:t>権限表とカオスデータ仕様</a:t>
            </a:r>
            <a:pPr algn="l" indent="0" marL="0">
              <a:buNone/>
            </a:pPr>
            <a:r>
              <a:rPr lang="en-US" sz="900" dirty="0">
                <a:solidFill>
                  <a:srgbClr val="CBD5E1"/>
                </a:solidFill>
                <a:latin typeface="Noto Sans JP" pitchFamily="34" charset="0"/>
                <a:ea typeface="Noto Sans JP" pitchFamily="34" charset="-122"/>
                <a:cs typeface="Noto Sans JP" pitchFamily="34" charset="-120"/>
              </a:rPr>
              <a:t>を定義し、境界値テストを自動生成させる。 </a:t>
            </a:r>
            <a:endParaRPr lang="en-US" sz="900" dirty="0"/>
          </a:p>
        </p:txBody>
      </p:sp>
      <p:sp>
        <p:nvSpPr>
          <p:cNvPr id="63" name="Shape 46"/>
          <p:cNvSpPr/>
          <p:nvPr/>
        </p:nvSpPr>
        <p:spPr>
          <a:xfrm>
            <a:off x="8257946" y="5474513"/>
            <a:ext cx="3295498" cy="9144"/>
          </a:xfrm>
          <a:prstGeom prst="rect">
            <a:avLst/>
          </a:prstGeom>
          <a:solidFill>
            <a:srgbClr val="10B981">
              <a:alpha val="20000"/>
            </a:srgbClr>
          </a:solidFill>
          <a:ln w="12700">
            <a:solidFill>
              <a:srgbClr val="10B981">
                <a:alpha val="0"/>
              </a:srgbClr>
            </a:solidFill>
            <a:prstDash val="solid"/>
          </a:ln>
        </p:spPr>
      </p:sp>
      <p:sp>
        <p:nvSpPr>
          <p:cNvPr id="64" name="Text 47"/>
          <p:cNvSpPr txBox="1"/>
          <p:nvPr/>
        </p:nvSpPr>
        <p:spPr>
          <a:xfrm>
            <a:off x="8257946" y="5559552"/>
            <a:ext cx="3372307" cy="143561"/>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800" dirty="0">
                <a:solidFill>
                  <a:srgbClr val="64748B"/>
                </a:solidFill>
                <a:latin typeface="JetBrains Mono" pitchFamily="34" charset="0"/>
                <a:ea typeface="JetBrains Mono" pitchFamily="34" charset="-122"/>
                <a:cs typeface="JetBrains Mono" pitchFamily="34" charset="-120"/>
              </a:rPr>
              <a:t>&gt; Input: Chaos Data Spec</a:t>
            </a:r>
            <a:endParaRPr lang="en-US" sz="800" dirty="0"/>
          </a:p>
        </p:txBody>
      </p:sp>
      <p:pic>
        <p:nvPicPr>
          <p:cNvPr id="65" name="Image 15" descr="preencoded.png">    </p:cNvPr>
          <p:cNvPicPr>
            <a:picLocks noChangeAspect="1"/>
          </p:cNvPicPr>
          <p:nvPr/>
        </p:nvPicPr>
        <p:blipFill>
          <a:blip r:embed="rId16"/>
          <a:srcRect l="0" r="0" t="-5" b="-5"/>
          <a:stretch/>
        </p:blipFill>
        <p:spPr>
          <a:xfrm>
            <a:off x="476402" y="6055157"/>
            <a:ext cx="11239805" cy="638251"/>
          </a:xfrm>
          <a:prstGeom prst="rect">
            <a:avLst/>
          </a:prstGeom>
        </p:spPr>
      </p:pic>
      <p:sp>
        <p:nvSpPr>
          <p:cNvPr id="66" name="Text 48"/>
          <p:cNvSpPr txBox="1"/>
          <p:nvPr/>
        </p:nvSpPr>
        <p:spPr>
          <a:xfrm>
            <a:off x="963778" y="6279185"/>
            <a:ext cx="4847234" cy="191110"/>
          </a:xfrm>
          <a:prstGeom prst="rect">
            <a:avLst/>
          </a:prstGeom>
          <a:noFill/>
          <a:ln/>
        </p:spPr>
        <p:txBody>
          <a:bodyPr wrap="square" lIns="0" tIns="0" rIns="0" bIns="0" rtlCol="0" anchor="ctr"/>
          <a:lstStyle/>
          <a:p>
            <a:pPr algn="l" indent="0" marL="0">
              <a:buNone/>
            </a:pPr>
            <a:r>
              <a:rPr lang="en-US" sz="1000" i="1" dirty="0">
                <a:solidFill>
                  <a:srgbClr val="CBD5E1"/>
                </a:solidFill>
                <a:latin typeface="Noto Sans JP" pitchFamily="34" charset="0"/>
                <a:ea typeface="Noto Sans JP" pitchFamily="34" charset="-122"/>
                <a:cs typeface="Noto Sans JP" pitchFamily="34" charset="-120"/>
              </a:rPr>
              <a:t> AIは「正しく作る」ことはできるが、</a:t>
            </a:r>
            <a:pPr algn="l" indent="0" marL="0">
              <a:buNone/>
            </a:pPr>
            <a:r>
              <a:rPr lang="en-US" sz="1000" b="1" i="1" dirty="0">
                <a:solidFill>
                  <a:srgbClr val="FBBF24"/>
                </a:solidFill>
                <a:latin typeface="Noto Sans JP" pitchFamily="34" charset="0"/>
                <a:ea typeface="Noto Sans JP" pitchFamily="34" charset="-122"/>
                <a:cs typeface="Noto Sans JP" pitchFamily="34" charset="-120"/>
              </a:rPr>
              <a:t>「正しいものを作る」</a:t>
            </a:r>
            <a:pPr algn="l" indent="0" marL="0">
              <a:buNone/>
            </a:pPr>
            <a:r>
              <a:rPr lang="en-US" sz="1000" i="1" dirty="0">
                <a:solidFill>
                  <a:srgbClr val="CBD5E1"/>
                </a:solidFill>
                <a:latin typeface="Noto Sans JP" pitchFamily="34" charset="0"/>
                <a:ea typeface="Noto Sans JP" pitchFamily="34" charset="-122"/>
                <a:cs typeface="Noto Sans JP" pitchFamily="34" charset="-120"/>
              </a:rPr>
              <a:t>ことはできない。 </a:t>
            </a:r>
            <a:endParaRPr lang="en-US" sz="1000" dirty="0"/>
          </a:p>
        </p:txBody>
      </p:sp>
      <p:sp>
        <p:nvSpPr>
          <p:cNvPr id="67" name="Shape 49"/>
          <p:cNvSpPr/>
          <p:nvPr/>
        </p:nvSpPr>
        <p:spPr>
          <a:xfrm>
            <a:off x="8586216" y="6207862"/>
            <a:ext cx="9144" cy="333756"/>
          </a:xfrm>
          <a:prstGeom prst="rect">
            <a:avLst/>
          </a:prstGeom>
          <a:solidFill>
            <a:srgbClr val="334155"/>
          </a:solidFill>
          <a:ln w="12700">
            <a:solidFill>
              <a:srgbClr val="334155">
                <a:alpha val="0"/>
              </a:srgbClr>
            </a:solidFill>
            <a:prstDash val="solid"/>
          </a:ln>
        </p:spPr>
      </p:sp>
      <p:sp>
        <p:nvSpPr>
          <p:cNvPr id="68" name="Text 50"/>
          <p:cNvSpPr txBox="1"/>
          <p:nvPr/>
        </p:nvSpPr>
        <p:spPr>
          <a:xfrm>
            <a:off x="8734349" y="6207862"/>
            <a:ext cx="2338121" cy="143561"/>
          </a:xfrm>
          <a:prstGeom prst="rect">
            <a:avLst/>
          </a:prstGeom>
          <a:noFill/>
          <a:ln/>
        </p:spPr>
        <p:txBody>
          <a:bodyPr wrap="square" lIns="0" tIns="0" rIns="0" bIns="0" rtlCol="0" anchor="ctr"/>
          <a:lstStyle/>
          <a:p>
            <a:pPr algn="r" indent="0" marL="0">
              <a:buNone/>
            </a:pPr>
            <a:r>
              <a:rPr lang="en-US" sz="800" spc="75" kern="0" dirty="0">
                <a:solidFill>
                  <a:srgbClr val="64748B"/>
                </a:solidFill>
                <a:latin typeface="Noto Sans JP" pitchFamily="34" charset="0"/>
                <a:ea typeface="Noto Sans JP" pitchFamily="34" charset="-122"/>
                <a:cs typeface="Noto Sans JP" pitchFamily="34" charset="-120"/>
              </a:rPr>
              <a:t>OUR APPROACH</a:t>
            </a:r>
            <a:endParaRPr lang="en-US" sz="800" dirty="0"/>
          </a:p>
        </p:txBody>
      </p:sp>
      <p:sp>
        <p:nvSpPr>
          <p:cNvPr id="69" name="Text 51"/>
          <p:cNvSpPr txBox="1"/>
          <p:nvPr/>
        </p:nvSpPr>
        <p:spPr>
          <a:xfrm>
            <a:off x="8539582" y="6388913"/>
            <a:ext cx="2532888" cy="152705"/>
          </a:xfrm>
          <a:prstGeom prst="rect">
            <a:avLst/>
          </a:prstGeom>
          <a:noFill/>
          <a:ln/>
        </p:spPr>
        <p:txBody>
          <a:bodyPr wrap="square" lIns="0" tIns="0" rIns="0" bIns="0" rtlCol="0" anchor="ctr"/>
          <a:lstStyle/>
          <a:p>
            <a:pPr algn="r" indent="0" marL="0">
              <a:buNone/>
            </a:pPr>
            <a:r>
              <a:rPr lang="en-US" sz="900" b="1" dirty="0">
                <a:solidFill>
                  <a:srgbClr val="FFFFFF"/>
                </a:solidFill>
                <a:latin typeface="Noto Sans JP" pitchFamily="34" charset="0"/>
                <a:ea typeface="Noto Sans JP" pitchFamily="34" charset="-122"/>
                <a:cs typeface="Noto Sans JP" pitchFamily="34" charset="-120"/>
              </a:rPr>
              <a:t>E2E自動化 / 本番データ合成による品質保証</a:t>
            </a:r>
            <a:endParaRPr lang="en-US" sz="900" dirty="0"/>
          </a:p>
        </p:txBody>
      </p:sp>
      <p:sp>
        <p:nvSpPr>
          <p:cNvPr id="70" name="Shape 52"/>
          <p:cNvSpPr/>
          <p:nvPr/>
        </p:nvSpPr>
        <p:spPr>
          <a:xfrm>
            <a:off x="11182198" y="6222492"/>
            <a:ext cx="304495" cy="304495"/>
          </a:xfrm>
          <a:prstGeom prst="roundRect">
            <a:avLst>
              <a:gd name="adj" fmla="val 37538"/>
            </a:avLst>
          </a:prstGeom>
          <a:solidFill>
            <a:srgbClr val="1E293B"/>
          </a:solidFill>
          <a:ln w="12700">
            <a:solidFill>
              <a:srgbClr val="FFFFFF">
                <a:alpha val="0"/>
              </a:srgbClr>
            </a:solidFill>
            <a:prstDash val="solid"/>
          </a:ln>
        </p:spPr>
      </p:sp>
      <p:pic>
        <p:nvPicPr>
          <p:cNvPr id="71" name="Image 16" descr="preencoded.png">    </p:cNvPr>
          <p:cNvPicPr>
            <a:picLocks noChangeAspect="1"/>
          </p:cNvPicPr>
          <p:nvPr/>
        </p:nvPicPr>
        <p:blipFill>
          <a:blip r:embed="rId17"/>
          <a:srcRect l="-33" r="-33" t="0" b="0"/>
          <a:stretch/>
        </p:blipFill>
        <p:spPr>
          <a:xfrm>
            <a:off x="11248949" y="6298387"/>
            <a:ext cx="171907" cy="152705"/>
          </a:xfrm>
          <a:prstGeom prst="rect">
            <a:avLst/>
          </a:prstGeom>
        </p:spPr>
      </p:pic>
      <p:pic>
        <p:nvPicPr>
          <p:cNvPr id="72" name="Image 17" descr="preencoded.png">    </p:cNvPr>
          <p:cNvPicPr>
            <a:picLocks noChangeAspect="1"/>
          </p:cNvPicPr>
          <p:nvPr/>
        </p:nvPicPr>
        <p:blipFill>
          <a:blip r:embed="rId18"/>
          <a:srcRect l="0" r="0" t="-1100" b="-1100"/>
          <a:stretch/>
        </p:blipFill>
        <p:spPr>
          <a:xfrm>
            <a:off x="743407" y="6314846"/>
            <a:ext cx="114300" cy="1335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0F172A"/>
          </a:solidFill>
          <a:ln w="12700">
            <a:solidFill>
              <a:srgbClr val="FFFFFF">
                <a:alpha val="0"/>
              </a:srgbClr>
            </a:solidFill>
            <a:prstDash val="solid"/>
          </a:ln>
        </p:spPr>
      </p:sp>
      <p:sp>
        <p:nvSpPr>
          <p:cNvPr id="4" name="Shape 2"/>
          <p:cNvSpPr/>
          <p:nvPr/>
        </p:nvSpPr>
        <p:spPr>
          <a:xfrm>
            <a:off x="-952805" y="952805"/>
            <a:ext cx="3810305" cy="3810305"/>
          </a:xfrm>
          <a:prstGeom prst="ellipse">
            <a:avLst/>
          </a:prstGeom>
          <a:solidFill>
            <a:srgbClr val="475569">
              <a:alpha val="10000"/>
            </a:srgbClr>
          </a:solidFill>
          <a:ln w="12700">
            <a:solidFill>
              <a:srgbClr val="FFFFFF">
                <a:alpha val="0"/>
              </a:srgbClr>
            </a:solidFill>
            <a:prstDash val="solid"/>
          </a:ln>
        </p:spPr>
      </p:sp>
      <p:sp>
        <p:nvSpPr>
          <p:cNvPr id="5" name="Shape 3"/>
          <p:cNvSpPr/>
          <p:nvPr/>
        </p:nvSpPr>
        <p:spPr>
          <a:xfrm>
            <a:off x="8382305" y="1619402"/>
            <a:ext cx="4762195" cy="4762195"/>
          </a:xfrm>
          <a:prstGeom prst="ellipse">
            <a:avLst/>
          </a:prstGeom>
          <a:solidFill>
            <a:srgbClr val="7C3AED">
              <a:alpha val="5000"/>
            </a:srgbClr>
          </a:solidFill>
          <a:ln w="12700">
            <a:solidFill>
              <a:srgbClr val="FFFFFF">
                <a:alpha val="0"/>
              </a:srgbClr>
            </a:solidFill>
            <a:prstDash val="solid"/>
          </a:ln>
        </p:spPr>
      </p:sp>
      <p:pic>
        <p:nvPicPr>
          <p:cNvPr id="6" name="Image 0" descr="preencoded.png">    </p:cNvPr>
          <p:cNvPicPr>
            <a:picLocks noChangeAspect="1"/>
          </p:cNvPicPr>
          <p:nvPr/>
        </p:nvPicPr>
        <p:blipFill>
          <a:blip r:embed="rId1"/>
          <a:stretch>
            <a:fillRect/>
          </a:stretch>
        </p:blipFill>
        <p:spPr>
          <a:xfrm>
            <a:off x="476402" y="286207"/>
            <a:ext cx="1495044" cy="200254"/>
          </a:xfrm>
          <a:prstGeom prst="rect">
            <a:avLst/>
          </a:prstGeom>
        </p:spPr>
      </p:pic>
      <p:sp>
        <p:nvSpPr>
          <p:cNvPr id="7" name="Text 4"/>
          <p:cNvSpPr/>
          <p:nvPr/>
        </p:nvSpPr>
        <p:spPr>
          <a:xfrm>
            <a:off x="724205" y="286207"/>
            <a:ext cx="1248156" cy="200254"/>
          </a:xfrm>
          <a:prstGeom prst="rect">
            <a:avLst/>
          </a:prstGeom>
          <a:solidFill>
            <a:srgbClr val="FFFFFF">
              <a:alpha val="0"/>
            </a:srgbClr>
          </a:solidFill>
          <a:ln w="12700">
            <a:solidFill>
              <a:srgbClr val="581C87">
                <a:alpha val="50000"/>
              </a:srgbClr>
            </a:solidFill>
          </a:ln>
        </p:spPr>
        <p:txBody>
          <a:bodyPr wrap="square" lIns="0" tIns="0" rIns="0" bIns="0" rtlCol="0" anchor="ctr"/>
          <a:lstStyle/>
          <a:p>
            <a:pPr algn="ctr" indent="0" marL="0">
              <a:buNone/>
            </a:pPr>
            <a:r>
              <a:rPr lang="en-US" sz="800" b="1" spc="38" kern="0" dirty="0">
                <a:solidFill>
                  <a:srgbClr val="C084FC"/>
                </a:solidFill>
                <a:latin typeface="Noto Sans JP" pitchFamily="34" charset="0"/>
                <a:ea typeface="Noto Sans JP" pitchFamily="34" charset="-122"/>
                <a:cs typeface="Noto Sans JP" pitchFamily="34" charset="-120"/>
              </a:rPr>
              <a:t>ROLE PARADIGM SHIFT</a:t>
            </a:r>
            <a:endParaRPr lang="en-US" sz="800" dirty="0"/>
          </a:p>
        </p:txBody>
      </p:sp>
      <p:sp>
        <p:nvSpPr>
          <p:cNvPr id="8" name="Text 5"/>
          <p:cNvSpPr txBox="1"/>
          <p:nvPr/>
        </p:nvSpPr>
        <p:spPr>
          <a:xfrm>
            <a:off x="476402" y="523951"/>
            <a:ext cx="4512564" cy="342900"/>
          </a:xfrm>
          <a:prstGeom prst="rect">
            <a:avLst/>
          </a:prstGeom>
          <a:noFill/>
          <a:ln/>
        </p:spPr>
        <p:txBody>
          <a:bodyPr wrap="square" lIns="0" tIns="0" rIns="0" bIns="0" rtlCol="0" anchor="ctr"/>
          <a:lstStyle/>
          <a:p>
            <a:pPr algn="l" indent="0" marL="0">
              <a:buNone/>
            </a:pPr>
            <a:r>
              <a:rPr lang="en-US" sz="2200" b="1" spc="-56" kern="0" dirty="0">
                <a:solidFill>
                  <a:srgbClr val="FFFFFF"/>
                </a:solidFill>
                <a:latin typeface="Noto Sans JP" pitchFamily="34" charset="0"/>
                <a:ea typeface="Noto Sans JP" pitchFamily="34" charset="-122"/>
                <a:cs typeface="Noto Sans JP" pitchFamily="34" charset="-120"/>
              </a:rPr>
              <a:t> 新しいエンジニア像の</a:t>
            </a:r>
            <a:pPr algn="l" indent="0" marL="0">
              <a:buNone/>
            </a:pPr>
            <a:r>
              <a:rPr lang="en-US" sz="2200" b="1" spc="-56" kern="0" dirty="0">
                <a:solidFill>
                  <a:srgbClr val="C084FC"/>
                </a:solidFill>
                <a:latin typeface="Noto Sans JP" pitchFamily="34" charset="0"/>
                <a:ea typeface="Noto Sans JP" pitchFamily="34" charset="-122"/>
                <a:cs typeface="Noto Sans JP" pitchFamily="34" charset="-120"/>
              </a:rPr>
              <a:t>パラダイム</a:t>
            </a:r>
            <a:endParaRPr lang="en-US" sz="2200" dirty="0"/>
          </a:p>
        </p:txBody>
      </p:sp>
      <p:sp>
        <p:nvSpPr>
          <p:cNvPr id="9" name="Text 6"/>
          <p:cNvSpPr txBox="1"/>
          <p:nvPr/>
        </p:nvSpPr>
        <p:spPr>
          <a:xfrm>
            <a:off x="8910828" y="533095"/>
            <a:ext cx="2809951" cy="152705"/>
          </a:xfrm>
          <a:prstGeom prst="rect">
            <a:avLst/>
          </a:prstGeom>
          <a:noFill/>
          <a:ln/>
        </p:spPr>
        <p:txBody>
          <a:bodyPr wrap="square" lIns="0" tIns="0" rIns="0" bIns="0" rtlCol="0" anchor="ctr"/>
          <a:lstStyle/>
          <a:p>
            <a:pPr algn="r" indent="0" marL="0">
              <a:buNone/>
            </a:pPr>
            <a:r>
              <a:rPr lang="en-US" sz="900" dirty="0">
                <a:solidFill>
                  <a:srgbClr val="94A3B8"/>
                </a:solidFill>
                <a:latin typeface="Noto Sans JP" pitchFamily="34" charset="0"/>
                <a:ea typeface="Noto Sans JP" pitchFamily="34" charset="-122"/>
                <a:cs typeface="Noto Sans JP" pitchFamily="34" charset="-120"/>
              </a:rPr>
              <a:t>全員が「テックリード」としてAIを指揮する時代へ</a:t>
            </a:r>
            <a:endParaRPr lang="en-US" sz="900" dirty="0"/>
          </a:p>
        </p:txBody>
      </p:sp>
      <p:sp>
        <p:nvSpPr>
          <p:cNvPr id="10" name="Text 7"/>
          <p:cNvSpPr txBox="1"/>
          <p:nvPr/>
        </p:nvSpPr>
        <p:spPr>
          <a:xfrm>
            <a:off x="10401300" y="724205"/>
            <a:ext cx="1390802" cy="143561"/>
          </a:xfrm>
          <a:prstGeom prst="rect">
            <a:avLst/>
          </a:prstGeom>
          <a:noFill/>
          <a:ln/>
        </p:spPr>
        <p:txBody>
          <a:bodyPr wrap="square" lIns="0" tIns="0" rIns="0" bIns="0" rtlCol="0" anchor="ctr"/>
          <a:lstStyle/>
          <a:p>
            <a:pPr algn="l" indent="0" marL="0">
              <a:buNone/>
            </a:pPr>
            <a:r>
              <a:rPr lang="en-US" sz="800" dirty="0">
                <a:solidFill>
                  <a:srgbClr val="64748B"/>
                </a:solidFill>
                <a:latin typeface="JetBrains Mono" pitchFamily="34" charset="0"/>
                <a:ea typeface="JetBrains Mono" pitchFamily="34" charset="-122"/>
                <a:cs typeface="JetBrains Mono" pitchFamily="34" charset="-120"/>
              </a:rPr>
              <a:t>FROM_CODER_TO_ARCHITECT</a:t>
            </a:r>
            <a:endParaRPr lang="en-US" sz="800" dirty="0"/>
          </a:p>
        </p:txBody>
      </p:sp>
      <p:pic>
        <p:nvPicPr>
          <p:cNvPr id="11" name="Image 1" descr="preencoded.png">    </p:cNvPr>
          <p:cNvPicPr>
            <a:picLocks noChangeAspect="1"/>
          </p:cNvPicPr>
          <p:nvPr/>
        </p:nvPicPr>
        <p:blipFill>
          <a:blip r:embed="rId2"/>
          <a:srcRect l="-1923" r="-1923" t="0" b="0"/>
          <a:stretch/>
        </p:blipFill>
        <p:spPr>
          <a:xfrm>
            <a:off x="562356" y="345643"/>
            <a:ext cx="123444" cy="95098"/>
          </a:xfrm>
          <a:prstGeom prst="rect">
            <a:avLst/>
          </a:prstGeom>
        </p:spPr>
      </p:pic>
      <p:pic>
        <p:nvPicPr>
          <p:cNvPr id="12" name="Image 2" descr="preencoded.png">    </p:cNvPr>
          <p:cNvPicPr>
            <a:picLocks noChangeAspect="1"/>
          </p:cNvPicPr>
          <p:nvPr/>
        </p:nvPicPr>
        <p:blipFill>
          <a:blip r:embed="rId3"/>
          <a:srcRect l="0" r="0" t="-1587" b="-1587"/>
          <a:stretch/>
        </p:blipFill>
        <p:spPr>
          <a:xfrm>
            <a:off x="10306202" y="745236"/>
            <a:ext cx="57607" cy="95098"/>
          </a:xfrm>
          <a:prstGeom prst="rect">
            <a:avLst/>
          </a:prstGeom>
        </p:spPr>
      </p:pic>
      <p:pic>
        <p:nvPicPr>
          <p:cNvPr id="13" name="Image 3" descr="preencoded.png">    </p:cNvPr>
          <p:cNvPicPr>
            <a:picLocks noChangeAspect="1"/>
          </p:cNvPicPr>
          <p:nvPr/>
        </p:nvPicPr>
        <p:blipFill>
          <a:blip r:embed="rId4"/>
          <a:srcRect l="0" r="0" t="-4" b="-4"/>
          <a:stretch/>
        </p:blipFill>
        <p:spPr>
          <a:xfrm>
            <a:off x="476402" y="1057046"/>
            <a:ext cx="5615330" cy="2095805"/>
          </a:xfrm>
          <a:prstGeom prst="rect">
            <a:avLst/>
          </a:prstGeom>
        </p:spPr>
      </p:pic>
      <p:sp>
        <p:nvSpPr>
          <p:cNvPr id="14" name="Text 8"/>
          <p:cNvSpPr txBox="1"/>
          <p:nvPr/>
        </p:nvSpPr>
        <p:spPr>
          <a:xfrm>
            <a:off x="924458" y="1257300"/>
            <a:ext cx="5048402" cy="171907"/>
          </a:xfrm>
          <a:prstGeom prst="rect">
            <a:avLst/>
          </a:prstGeom>
          <a:noFill/>
          <a:ln/>
        </p:spPr>
        <p:txBody>
          <a:bodyPr wrap="square" lIns="0" tIns="0" rIns="0" bIns="0" rtlCol="0" anchor="ctr"/>
          <a:lstStyle/>
          <a:p>
            <a:pPr algn="l" indent="0" marL="0">
              <a:buNone/>
            </a:pPr>
            <a:r>
              <a:rPr lang="en-US" sz="900" b="1" spc="90" kern="0" dirty="0">
                <a:solidFill>
                  <a:srgbClr val="94A3B8"/>
                </a:solidFill>
                <a:latin typeface="Noto Sans JP" pitchFamily="34" charset="0"/>
                <a:ea typeface="Noto Sans JP" pitchFamily="34" charset="-122"/>
                <a:cs typeface="Noto Sans JP" pitchFamily="34" charset="-120"/>
              </a:rPr>
              <a:t> Until 2025 </a:t>
            </a:r>
            <a:endParaRPr lang="en-US" sz="900" dirty="0"/>
          </a:p>
        </p:txBody>
      </p:sp>
      <p:pic>
        <p:nvPicPr>
          <p:cNvPr id="15" name="Image 4" descr="preencoded.png">    </p:cNvPr>
          <p:cNvPicPr>
            <a:picLocks noChangeAspect="1"/>
          </p:cNvPicPr>
          <p:nvPr/>
        </p:nvPicPr>
        <p:blipFill>
          <a:blip r:embed="rId5"/>
          <a:srcRect l="-4000" r="-4000" t="0" b="0"/>
          <a:stretch/>
        </p:blipFill>
        <p:spPr>
          <a:xfrm>
            <a:off x="724205" y="1285646"/>
            <a:ext cx="123444" cy="114300"/>
          </a:xfrm>
          <a:prstGeom prst="rect">
            <a:avLst/>
          </a:prstGeom>
        </p:spPr>
      </p:pic>
      <p:sp>
        <p:nvSpPr>
          <p:cNvPr id="16" name="Text 9"/>
          <p:cNvSpPr txBox="1"/>
          <p:nvPr/>
        </p:nvSpPr>
        <p:spPr>
          <a:xfrm>
            <a:off x="724205" y="1505102"/>
            <a:ext cx="5220310" cy="534010"/>
          </a:xfrm>
          <a:prstGeom prst="rect">
            <a:avLst/>
          </a:prstGeom>
          <a:noFill/>
          <a:ln/>
        </p:spPr>
        <p:txBody>
          <a:bodyPr wrap="square" lIns="0" tIns="0" rIns="0" bIns="0" rtlCol="0" anchor="t"/>
          <a:lstStyle/>
          <a:p>
            <a:pPr algn="l" indent="0" marL="0">
              <a:buNone/>
            </a:pPr>
            <a:r>
              <a:rPr lang="en-US" sz="1800" b="1" dirty="0">
                <a:solidFill>
                  <a:srgbClr val="94A3B8"/>
                </a:solidFill>
                <a:latin typeface="Noto Sans JP" pitchFamily="34" charset="0"/>
                <a:ea typeface="Noto Sans JP" pitchFamily="34" charset="-122"/>
                <a:cs typeface="Noto Sans JP" pitchFamily="34" charset="-120"/>
              </a:rPr>
              <a:t> Solo Coder</a:t>
            </a:r>
            <a:pPr algn="l" indent="0" marL="0">
              <a:buNone/>
            </a:pPr>
            <a:endParaRPr lang="en-US" sz="1800" dirty="0"/>
          </a:p>
          <a:p>
            <a:pPr algn="l" indent="0" marL="0">
              <a:buNone/>
            </a:pPr>
            <a:r>
              <a:rPr lang="en-US" sz="1300" b="1" dirty="0">
                <a:solidFill>
                  <a:srgbClr val="64748B"/>
                </a:solidFill>
                <a:latin typeface="Noto Sans JP" pitchFamily="34" charset="0"/>
                <a:ea typeface="Noto Sans JP" pitchFamily="34" charset="-122"/>
                <a:cs typeface="Noto Sans JP" pitchFamily="34" charset="-120"/>
              </a:rPr>
              <a:t>実装者・作業者</a:t>
            </a:r>
            <a:endParaRPr lang="en-US" sz="1800" dirty="0"/>
          </a:p>
        </p:txBody>
      </p:sp>
      <p:sp>
        <p:nvSpPr>
          <p:cNvPr id="17" name="Shape 10"/>
          <p:cNvSpPr/>
          <p:nvPr/>
        </p:nvSpPr>
        <p:spPr>
          <a:xfrm>
            <a:off x="724205" y="2147011"/>
            <a:ext cx="228600" cy="228600"/>
          </a:xfrm>
          <a:prstGeom prst="roundRect">
            <a:avLst>
              <a:gd name="adj" fmla="val 100000"/>
            </a:avLst>
          </a:prstGeom>
          <a:solidFill>
            <a:srgbClr val="475569">
              <a:alpha val="30000"/>
            </a:srgbClr>
          </a:solidFill>
          <a:ln w="12700">
            <a:solidFill>
              <a:srgbClr val="FFFFFF">
                <a:alpha val="0"/>
              </a:srgbClr>
            </a:solidFill>
            <a:prstDash val="solid"/>
          </a:ln>
        </p:spPr>
      </p:sp>
      <p:pic>
        <p:nvPicPr>
          <p:cNvPr id="18" name="Image 5" descr="preencoded.png">    </p:cNvPr>
          <p:cNvPicPr>
            <a:picLocks noChangeAspect="1"/>
          </p:cNvPicPr>
          <p:nvPr/>
        </p:nvPicPr>
        <p:blipFill>
          <a:blip r:embed="rId6"/>
          <a:srcRect l="-783" r="-783" t="0" b="0"/>
          <a:stretch/>
        </p:blipFill>
        <p:spPr>
          <a:xfrm>
            <a:off x="771754" y="2209190"/>
            <a:ext cx="133502" cy="105156"/>
          </a:xfrm>
          <a:prstGeom prst="rect">
            <a:avLst/>
          </a:prstGeom>
        </p:spPr>
      </p:pic>
      <p:sp>
        <p:nvSpPr>
          <p:cNvPr id="19" name="Text 11"/>
          <p:cNvSpPr txBox="1"/>
          <p:nvPr/>
        </p:nvSpPr>
        <p:spPr>
          <a:xfrm>
            <a:off x="1047902" y="2168042"/>
            <a:ext cx="2021738" cy="191110"/>
          </a:xfrm>
          <a:prstGeom prst="rect">
            <a:avLst/>
          </a:prstGeom>
          <a:noFill/>
          <a:ln/>
        </p:spPr>
        <p:txBody>
          <a:bodyPr wrap="square" lIns="0" tIns="0" rIns="0" bIns="0" rtlCol="0" anchor="ctr"/>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優れたコードを素早く書く (How)</a:t>
            </a:r>
            <a:endParaRPr lang="en-US" sz="900" dirty="0"/>
          </a:p>
        </p:txBody>
      </p:sp>
      <p:sp>
        <p:nvSpPr>
          <p:cNvPr id="20" name="Shape 12"/>
          <p:cNvSpPr/>
          <p:nvPr/>
        </p:nvSpPr>
        <p:spPr>
          <a:xfrm>
            <a:off x="724205" y="2451506"/>
            <a:ext cx="228600" cy="228600"/>
          </a:xfrm>
          <a:prstGeom prst="roundRect">
            <a:avLst>
              <a:gd name="adj" fmla="val 100000"/>
            </a:avLst>
          </a:prstGeom>
          <a:solidFill>
            <a:srgbClr val="475569">
              <a:alpha val="30000"/>
            </a:srgbClr>
          </a:solidFill>
          <a:ln w="12700">
            <a:solidFill>
              <a:srgbClr val="FFFFFF">
                <a:alpha val="0"/>
              </a:srgbClr>
            </a:solidFill>
            <a:prstDash val="solid"/>
          </a:ln>
        </p:spPr>
      </p:sp>
      <p:pic>
        <p:nvPicPr>
          <p:cNvPr id="21" name="Image 6" descr="preencoded.png">    </p:cNvPr>
          <p:cNvPicPr>
            <a:picLocks noChangeAspect="1"/>
          </p:cNvPicPr>
          <p:nvPr/>
        </p:nvPicPr>
        <p:blipFill>
          <a:blip r:embed="rId7"/>
          <a:srcRect l="-1677" r="-1677" t="0" b="0"/>
          <a:stretch/>
        </p:blipFill>
        <p:spPr>
          <a:xfrm>
            <a:off x="790956" y="2513686"/>
            <a:ext cx="95098" cy="105156"/>
          </a:xfrm>
          <a:prstGeom prst="rect">
            <a:avLst/>
          </a:prstGeom>
        </p:spPr>
      </p:pic>
      <p:sp>
        <p:nvSpPr>
          <p:cNvPr id="22" name="Text 13"/>
          <p:cNvSpPr txBox="1"/>
          <p:nvPr/>
        </p:nvSpPr>
        <p:spPr>
          <a:xfrm>
            <a:off x="1047902" y="2473452"/>
            <a:ext cx="1749247" cy="191110"/>
          </a:xfrm>
          <a:prstGeom prst="rect">
            <a:avLst/>
          </a:prstGeom>
          <a:noFill/>
          <a:ln/>
        </p:spPr>
        <p:txBody>
          <a:bodyPr wrap="square" lIns="0" tIns="0" rIns="0" bIns="0" rtlCol="0" anchor="ctr"/>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個人の実装力がボトルネック</a:t>
            </a:r>
            <a:endParaRPr lang="en-US" sz="900" dirty="0"/>
          </a:p>
        </p:txBody>
      </p:sp>
      <p:sp>
        <p:nvSpPr>
          <p:cNvPr id="23" name="Shape 14"/>
          <p:cNvSpPr/>
          <p:nvPr/>
        </p:nvSpPr>
        <p:spPr>
          <a:xfrm>
            <a:off x="724205" y="2756916"/>
            <a:ext cx="228600" cy="228600"/>
          </a:xfrm>
          <a:prstGeom prst="roundRect">
            <a:avLst>
              <a:gd name="adj" fmla="val 100000"/>
            </a:avLst>
          </a:prstGeom>
          <a:solidFill>
            <a:srgbClr val="475569">
              <a:alpha val="30000"/>
            </a:srgbClr>
          </a:solidFill>
          <a:ln w="12700">
            <a:solidFill>
              <a:srgbClr val="FFFFFF">
                <a:alpha val="0"/>
              </a:srgbClr>
            </a:solidFill>
            <a:prstDash val="solid"/>
          </a:ln>
        </p:spPr>
      </p:sp>
      <p:pic>
        <p:nvPicPr>
          <p:cNvPr id="24" name="Image 7" descr="preencoded.png">    </p:cNvPr>
          <p:cNvPicPr>
            <a:picLocks noChangeAspect="1"/>
          </p:cNvPicPr>
          <p:nvPr/>
        </p:nvPicPr>
        <p:blipFill>
          <a:blip r:embed="rId8"/>
          <a:srcRect l="0" r="0" t="0" b="0"/>
          <a:stretch/>
        </p:blipFill>
        <p:spPr>
          <a:xfrm>
            <a:off x="785470" y="2818181"/>
            <a:ext cx="105156" cy="105156"/>
          </a:xfrm>
          <a:prstGeom prst="rect">
            <a:avLst/>
          </a:prstGeom>
        </p:spPr>
      </p:pic>
      <p:sp>
        <p:nvSpPr>
          <p:cNvPr id="25" name="Text 15"/>
          <p:cNvSpPr txBox="1"/>
          <p:nvPr/>
        </p:nvSpPr>
        <p:spPr>
          <a:xfrm>
            <a:off x="1047902" y="2777947"/>
            <a:ext cx="1777594" cy="191110"/>
          </a:xfrm>
          <a:prstGeom prst="rect">
            <a:avLst/>
          </a:prstGeom>
          <a:noFill/>
          <a:ln/>
        </p:spPr>
        <p:txBody>
          <a:bodyPr wrap="square" lIns="0" tIns="0" rIns="0" bIns="0" rtlCol="0" anchor="ctr"/>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仕様書通りに作る (指示待ち)</a:t>
            </a:r>
            <a:endParaRPr lang="en-US" sz="900" dirty="0"/>
          </a:p>
        </p:txBody>
      </p:sp>
      <p:pic>
        <p:nvPicPr>
          <p:cNvPr id="26" name="Image 8" descr="preencoded.png">    </p:cNvPr>
          <p:cNvPicPr>
            <a:picLocks noChangeAspect="1"/>
          </p:cNvPicPr>
          <p:nvPr/>
        </p:nvPicPr>
        <p:blipFill>
          <a:blip r:embed="rId9"/>
          <a:srcRect l="0" r="0" t="-8" b="-8"/>
          <a:stretch/>
        </p:blipFill>
        <p:spPr>
          <a:xfrm>
            <a:off x="6090818" y="1057046"/>
            <a:ext cx="5624474" cy="2095805"/>
          </a:xfrm>
          <a:prstGeom prst="rect">
            <a:avLst/>
          </a:prstGeom>
        </p:spPr>
      </p:pic>
      <p:sp>
        <p:nvSpPr>
          <p:cNvPr id="27" name="Text 16"/>
          <p:cNvSpPr txBox="1"/>
          <p:nvPr/>
        </p:nvSpPr>
        <p:spPr>
          <a:xfrm>
            <a:off x="6567221" y="1257300"/>
            <a:ext cx="5020056" cy="171907"/>
          </a:xfrm>
          <a:prstGeom prst="rect">
            <a:avLst/>
          </a:prstGeom>
          <a:noFill/>
          <a:ln/>
        </p:spPr>
        <p:txBody>
          <a:bodyPr wrap="square" lIns="0" tIns="0" rIns="0" bIns="0" rtlCol="0" anchor="ctr"/>
          <a:lstStyle/>
          <a:p>
            <a:pPr algn="l" indent="0" marL="0">
              <a:buNone/>
            </a:pPr>
            <a:r>
              <a:rPr lang="en-US" sz="900" b="1" spc="90" kern="0" dirty="0">
                <a:solidFill>
                  <a:srgbClr val="A78BFA"/>
                </a:solidFill>
                <a:latin typeface="Noto Sans JP" pitchFamily="34" charset="0"/>
                <a:ea typeface="Noto Sans JP" pitchFamily="34" charset="-122"/>
                <a:cs typeface="Noto Sans JP" pitchFamily="34" charset="-120"/>
              </a:rPr>
              <a:t> AI Era 2026+ </a:t>
            </a:r>
            <a:endParaRPr lang="en-US" sz="900" dirty="0"/>
          </a:p>
        </p:txBody>
      </p:sp>
      <p:pic>
        <p:nvPicPr>
          <p:cNvPr id="28" name="Image 9" descr="preencoded.png">    </p:cNvPr>
          <p:cNvPicPr>
            <a:picLocks noChangeAspect="1"/>
          </p:cNvPicPr>
          <p:nvPr/>
        </p:nvPicPr>
        <p:blipFill>
          <a:blip r:embed="rId10"/>
          <a:srcRect l="-3440" r="-3440" t="0" b="0"/>
          <a:stretch/>
        </p:blipFill>
        <p:spPr>
          <a:xfrm>
            <a:off x="6338621" y="1285646"/>
            <a:ext cx="152705" cy="114300"/>
          </a:xfrm>
          <a:prstGeom prst="rect">
            <a:avLst/>
          </a:prstGeom>
        </p:spPr>
      </p:pic>
      <p:sp>
        <p:nvSpPr>
          <p:cNvPr id="29" name="Text 17"/>
          <p:cNvSpPr txBox="1"/>
          <p:nvPr/>
        </p:nvSpPr>
        <p:spPr>
          <a:xfrm>
            <a:off x="6338621" y="1505102"/>
            <a:ext cx="5220310" cy="534010"/>
          </a:xfrm>
          <a:prstGeom prst="rect">
            <a:avLst/>
          </a:prstGeom>
          <a:noFill/>
          <a:ln/>
        </p:spPr>
        <p:txBody>
          <a:bodyPr wrap="square" lIns="0" tIns="0" rIns="0" bIns="0" rtlCol="0" anchor="t"/>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 Tech Lead</a:t>
            </a:r>
            <a:pPr algn="l" indent="0" marL="0">
              <a:buNone/>
            </a:pPr>
            <a:endParaRPr lang="en-US" sz="1800" dirty="0"/>
          </a:p>
          <a:p>
            <a:pPr algn="l" indent="0" marL="0">
              <a:buNone/>
            </a:pPr>
            <a:r>
              <a:rPr lang="en-US" sz="1300" b="1" dirty="0">
                <a:solidFill>
                  <a:srgbClr val="D8B4FE"/>
                </a:solidFill>
                <a:latin typeface="Noto Sans JP" pitchFamily="34" charset="0"/>
                <a:ea typeface="Noto Sans JP" pitchFamily="34" charset="-122"/>
                <a:cs typeface="Noto Sans JP" pitchFamily="34" charset="-120"/>
              </a:rPr>
              <a:t>指揮者・マネージャー</a:t>
            </a:r>
            <a:endParaRPr lang="en-US" sz="1800" dirty="0"/>
          </a:p>
        </p:txBody>
      </p:sp>
      <p:sp>
        <p:nvSpPr>
          <p:cNvPr id="30" name="Shape 18"/>
          <p:cNvSpPr/>
          <p:nvPr/>
        </p:nvSpPr>
        <p:spPr>
          <a:xfrm>
            <a:off x="6338621" y="2147011"/>
            <a:ext cx="228600" cy="228600"/>
          </a:xfrm>
          <a:prstGeom prst="roundRect">
            <a:avLst>
              <a:gd name="adj" fmla="val 100000"/>
            </a:avLst>
          </a:prstGeom>
          <a:solidFill>
            <a:srgbClr val="8B5CF6">
              <a:alpha val="20000"/>
            </a:srgbClr>
          </a:solidFill>
          <a:ln w="12700">
            <a:solidFill>
              <a:srgbClr val="8B5CF6">
                <a:alpha val="30000"/>
              </a:srgbClr>
            </a:solidFill>
            <a:prstDash val="solid"/>
          </a:ln>
        </p:spPr>
      </p:sp>
      <p:pic>
        <p:nvPicPr>
          <p:cNvPr id="31" name="Image 10" descr="preencoded.png">    </p:cNvPr>
          <p:cNvPicPr>
            <a:picLocks noChangeAspect="1"/>
          </p:cNvPicPr>
          <p:nvPr/>
        </p:nvPicPr>
        <p:blipFill>
          <a:blip r:embed="rId11"/>
          <a:srcRect l="0" r="0" t="0" b="0"/>
          <a:stretch/>
        </p:blipFill>
        <p:spPr>
          <a:xfrm>
            <a:off x="6400800" y="2209190"/>
            <a:ext cx="105156" cy="105156"/>
          </a:xfrm>
          <a:prstGeom prst="rect">
            <a:avLst/>
          </a:prstGeom>
        </p:spPr>
      </p:pic>
      <p:sp>
        <p:nvSpPr>
          <p:cNvPr id="32" name="Text 19"/>
          <p:cNvSpPr txBox="1"/>
          <p:nvPr/>
        </p:nvSpPr>
        <p:spPr>
          <a:xfrm>
            <a:off x="6662318" y="2168042"/>
            <a:ext cx="1987906" cy="191110"/>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仕様と言語化能力 (What / Why)</a:t>
            </a:r>
            <a:endParaRPr lang="en-US" sz="900" dirty="0"/>
          </a:p>
        </p:txBody>
      </p:sp>
      <p:sp>
        <p:nvSpPr>
          <p:cNvPr id="33" name="Shape 20"/>
          <p:cNvSpPr/>
          <p:nvPr/>
        </p:nvSpPr>
        <p:spPr>
          <a:xfrm>
            <a:off x="6338621" y="2451506"/>
            <a:ext cx="228600" cy="228600"/>
          </a:xfrm>
          <a:prstGeom prst="roundRect">
            <a:avLst>
              <a:gd name="adj" fmla="val 100000"/>
            </a:avLst>
          </a:prstGeom>
          <a:solidFill>
            <a:srgbClr val="8B5CF6">
              <a:alpha val="20000"/>
            </a:srgbClr>
          </a:solidFill>
          <a:ln w="12700">
            <a:solidFill>
              <a:srgbClr val="8B5CF6">
                <a:alpha val="30000"/>
              </a:srgbClr>
            </a:solidFill>
            <a:prstDash val="solid"/>
          </a:ln>
        </p:spPr>
      </p:sp>
      <p:pic>
        <p:nvPicPr>
          <p:cNvPr id="34" name="Image 11" descr="preencoded.png">    </p:cNvPr>
          <p:cNvPicPr>
            <a:picLocks noChangeAspect="1"/>
          </p:cNvPicPr>
          <p:nvPr/>
        </p:nvPicPr>
        <p:blipFill>
          <a:blip r:embed="rId12"/>
          <a:srcRect l="-783" r="-783" t="0" b="0"/>
          <a:stretch/>
        </p:blipFill>
        <p:spPr>
          <a:xfrm>
            <a:off x="6386170" y="2513686"/>
            <a:ext cx="133502" cy="105156"/>
          </a:xfrm>
          <a:prstGeom prst="rect">
            <a:avLst/>
          </a:prstGeom>
        </p:spPr>
      </p:pic>
      <p:sp>
        <p:nvSpPr>
          <p:cNvPr id="35" name="Text 21"/>
          <p:cNvSpPr txBox="1"/>
          <p:nvPr/>
        </p:nvSpPr>
        <p:spPr>
          <a:xfrm>
            <a:off x="6662318" y="2473452"/>
            <a:ext cx="1996135" cy="191110"/>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複数AIエージェントの統率・指揮</a:t>
            </a:r>
            <a:endParaRPr lang="en-US" sz="900" dirty="0"/>
          </a:p>
        </p:txBody>
      </p:sp>
      <p:sp>
        <p:nvSpPr>
          <p:cNvPr id="36" name="Shape 22"/>
          <p:cNvSpPr/>
          <p:nvPr/>
        </p:nvSpPr>
        <p:spPr>
          <a:xfrm>
            <a:off x="6338621" y="2756916"/>
            <a:ext cx="228600" cy="228600"/>
          </a:xfrm>
          <a:prstGeom prst="roundRect">
            <a:avLst>
              <a:gd name="adj" fmla="val 100000"/>
            </a:avLst>
          </a:prstGeom>
          <a:solidFill>
            <a:srgbClr val="8B5CF6">
              <a:alpha val="20000"/>
            </a:srgbClr>
          </a:solidFill>
          <a:ln w="12700">
            <a:solidFill>
              <a:srgbClr val="8B5CF6">
                <a:alpha val="30000"/>
              </a:srgbClr>
            </a:solidFill>
            <a:prstDash val="solid"/>
          </a:ln>
        </p:spPr>
      </p:sp>
      <p:pic>
        <p:nvPicPr>
          <p:cNvPr id="37" name="Image 12" descr="preencoded.png">    </p:cNvPr>
          <p:cNvPicPr>
            <a:picLocks noChangeAspect="1"/>
          </p:cNvPicPr>
          <p:nvPr/>
        </p:nvPicPr>
        <p:blipFill>
          <a:blip r:embed="rId13"/>
          <a:srcRect l="-783" r="-783" t="0" b="0"/>
          <a:stretch/>
        </p:blipFill>
        <p:spPr>
          <a:xfrm>
            <a:off x="6386170" y="2818181"/>
            <a:ext cx="133502" cy="105156"/>
          </a:xfrm>
          <a:prstGeom prst="rect">
            <a:avLst/>
          </a:prstGeom>
        </p:spPr>
      </p:pic>
      <p:sp>
        <p:nvSpPr>
          <p:cNvPr id="38" name="Text 23"/>
          <p:cNvSpPr txBox="1"/>
          <p:nvPr/>
        </p:nvSpPr>
        <p:spPr>
          <a:xfrm>
            <a:off x="6662318" y="2777947"/>
            <a:ext cx="1471270" cy="191110"/>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チームへの貢献と利他性</a:t>
            </a:r>
            <a:endParaRPr lang="en-US" sz="900" dirty="0"/>
          </a:p>
        </p:txBody>
      </p:sp>
      <p:pic>
        <p:nvPicPr>
          <p:cNvPr id="39" name="Image 13" descr="preencoded.png">    </p:cNvPr>
          <p:cNvPicPr>
            <a:picLocks noChangeAspect="1"/>
          </p:cNvPicPr>
          <p:nvPr/>
        </p:nvPicPr>
        <p:blipFill>
          <a:blip r:embed="rId14"/>
          <a:srcRect l="0" r="0" t="0" b="0"/>
          <a:stretch/>
        </p:blipFill>
        <p:spPr>
          <a:xfrm>
            <a:off x="5905195" y="1914754"/>
            <a:ext cx="381305" cy="381305"/>
          </a:xfrm>
          <a:prstGeom prst="rect">
            <a:avLst/>
          </a:prstGeom>
        </p:spPr>
      </p:pic>
      <p:pic>
        <p:nvPicPr>
          <p:cNvPr id="40" name="Image 14" descr="preencoded.png">    </p:cNvPr>
          <p:cNvPicPr>
            <a:picLocks noChangeAspect="1"/>
          </p:cNvPicPr>
          <p:nvPr/>
        </p:nvPicPr>
        <p:blipFill>
          <a:blip r:embed="rId15"/>
          <a:srcRect l="0" r="0" t="-43" b="-43"/>
          <a:stretch/>
        </p:blipFill>
        <p:spPr>
          <a:xfrm>
            <a:off x="6029554" y="2029054"/>
            <a:ext cx="133502" cy="152705"/>
          </a:xfrm>
          <a:prstGeom prst="rect">
            <a:avLst/>
          </a:prstGeom>
        </p:spPr>
      </p:pic>
      <p:pic>
        <p:nvPicPr>
          <p:cNvPr id="41" name="Image 15" descr="preencoded.png">    </p:cNvPr>
          <p:cNvPicPr>
            <a:picLocks noChangeAspect="1"/>
          </p:cNvPicPr>
          <p:nvPr/>
        </p:nvPicPr>
        <p:blipFill>
          <a:blip r:embed="rId16"/>
          <a:srcRect l="-31" r="-31" t="0" b="0"/>
          <a:stretch/>
        </p:blipFill>
        <p:spPr>
          <a:xfrm>
            <a:off x="476402" y="3295498"/>
            <a:ext cx="11239805" cy="718718"/>
          </a:xfrm>
          <a:prstGeom prst="rect">
            <a:avLst/>
          </a:prstGeom>
        </p:spPr>
      </p:pic>
      <p:pic>
        <p:nvPicPr>
          <p:cNvPr id="42" name="Image 16" descr="preencoded.png">    </p:cNvPr>
          <p:cNvPicPr>
            <a:picLocks noChangeAspect="1"/>
          </p:cNvPicPr>
          <p:nvPr/>
        </p:nvPicPr>
        <p:blipFill>
          <a:blip r:embed="rId17"/>
          <a:stretch>
            <a:fillRect/>
          </a:stretch>
        </p:blipFill>
        <p:spPr>
          <a:xfrm>
            <a:off x="752551" y="3433572"/>
            <a:ext cx="1524305" cy="181051"/>
          </a:xfrm>
          <a:prstGeom prst="rect">
            <a:avLst/>
          </a:prstGeom>
        </p:spPr>
      </p:pic>
      <p:sp>
        <p:nvSpPr>
          <p:cNvPr id="43" name="Text 24"/>
          <p:cNvSpPr/>
          <p:nvPr/>
        </p:nvSpPr>
        <p:spPr>
          <a:xfrm>
            <a:off x="1003097" y="3433572"/>
            <a:ext cx="1273759" cy="181051"/>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800" b="1" spc="75" kern="0" dirty="0">
                <a:solidFill>
                  <a:srgbClr val="FBBF24"/>
                </a:solidFill>
                <a:latin typeface="Noto Sans JP" pitchFamily="34" charset="0"/>
                <a:ea typeface="Noto Sans JP" pitchFamily="34" charset="-122"/>
                <a:cs typeface="Noto Sans JP" pitchFamily="34" charset="-120"/>
              </a:rPr>
              <a:t>MOST CRITICAL SKILL</a:t>
            </a:r>
            <a:endParaRPr lang="en-US" sz="800" dirty="0"/>
          </a:p>
        </p:txBody>
      </p:sp>
      <p:sp>
        <p:nvSpPr>
          <p:cNvPr id="44" name="Text 25"/>
          <p:cNvSpPr txBox="1"/>
          <p:nvPr/>
        </p:nvSpPr>
        <p:spPr>
          <a:xfrm>
            <a:off x="2345436" y="3409798"/>
            <a:ext cx="3600907" cy="267005"/>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 「課題を提起する力」 </a:t>
            </a:r>
            <a:pPr algn="l" indent="0" marL="0">
              <a:buNone/>
            </a:pPr>
            <a:r>
              <a:rPr lang="en-US" sz="1000" b="1" dirty="0">
                <a:solidFill>
                  <a:srgbClr val="FBBF24"/>
                </a:solidFill>
                <a:latin typeface="JetBrains Mono" pitchFamily="34" charset="0"/>
                <a:ea typeface="JetBrains Mono" pitchFamily="34" charset="-122"/>
                <a:cs typeface="JetBrains Mono" pitchFamily="34" charset="-120"/>
              </a:rPr>
              <a:t>(Problem Finding)</a:t>
            </a:r>
            <a:endParaRPr lang="en-US" sz="1300" dirty="0"/>
          </a:p>
        </p:txBody>
      </p:sp>
      <p:sp>
        <p:nvSpPr>
          <p:cNvPr id="45" name="Text 26"/>
          <p:cNvSpPr txBox="1"/>
          <p:nvPr/>
        </p:nvSpPr>
        <p:spPr>
          <a:xfrm>
            <a:off x="752551" y="3715207"/>
            <a:ext cx="10392156" cy="191110"/>
          </a:xfrm>
          <a:prstGeom prst="rect">
            <a:avLst/>
          </a:prstGeom>
          <a:noFill/>
          <a:ln/>
        </p:spPr>
        <p:txBody>
          <a:bodyPr wrap="square" lIns="0" tIns="0" rIns="0" bIns="0" rtlCol="0" anchor="ctr"/>
          <a:lstStyle/>
          <a:p>
            <a:pPr algn="l" indent="0" marL="0">
              <a:buNone/>
            </a:pPr>
            <a:r>
              <a:rPr lang="en-US" sz="900" dirty="0">
                <a:solidFill>
                  <a:srgbClr val="CBD5E1"/>
                </a:solidFill>
                <a:latin typeface="Noto Sans JP" pitchFamily="34" charset="0"/>
                <a:ea typeface="Noto Sans JP" pitchFamily="34" charset="-122"/>
                <a:cs typeface="Noto Sans JP" pitchFamily="34" charset="-120"/>
              </a:rPr>
              <a:t> AIは</a:t>
            </a:r>
            <a:pPr algn="l" indent="0" marL="0">
              <a:buNone/>
            </a:pPr>
            <a:r>
              <a:rPr lang="en-US" sz="900" b="1" dirty="0">
                <a:solidFill>
                  <a:srgbClr val="FFFFFF"/>
                </a:solidFill>
                <a:latin typeface="Noto Sans JP" pitchFamily="34" charset="0"/>
                <a:ea typeface="Noto Sans JP" pitchFamily="34" charset="-122"/>
                <a:cs typeface="Noto Sans JP" pitchFamily="34" charset="-120"/>
              </a:rPr>
              <a:t>「今、何を解決すべきか」「なぜそれをやるのか」</a:t>
            </a:r>
            <a:pPr algn="l" indent="0" marL="0">
              <a:buNone/>
            </a:pPr>
            <a:r>
              <a:rPr lang="en-US" sz="900" dirty="0">
                <a:solidFill>
                  <a:srgbClr val="CBD5E1"/>
                </a:solidFill>
                <a:latin typeface="Noto Sans JP" pitchFamily="34" charset="0"/>
                <a:ea typeface="Noto Sans JP" pitchFamily="34" charset="-122"/>
                <a:cs typeface="Noto Sans JP" pitchFamily="34" charset="-120"/>
              </a:rPr>
              <a:t>という問いを生み出せない。エンジニアの価値は、Solution（解法）からIssue（課題発見）へシフトする。 </a:t>
            </a:r>
            <a:endParaRPr lang="en-US" sz="900" dirty="0"/>
          </a:p>
        </p:txBody>
      </p:sp>
      <p:sp>
        <p:nvSpPr>
          <p:cNvPr id="46" name="Shape 27"/>
          <p:cNvSpPr/>
          <p:nvPr/>
        </p:nvSpPr>
        <p:spPr>
          <a:xfrm>
            <a:off x="11106302" y="3464662"/>
            <a:ext cx="381305" cy="381305"/>
          </a:xfrm>
          <a:prstGeom prst="ellipse">
            <a:avLst/>
          </a:prstGeom>
          <a:solidFill>
            <a:srgbClr val="F59E0B">
              <a:alpha val="10000"/>
            </a:srgbClr>
          </a:solidFill>
          <a:ln w="12700">
            <a:solidFill>
              <a:srgbClr val="F59E0B">
                <a:alpha val="50000"/>
              </a:srgbClr>
            </a:solidFill>
            <a:prstDash val="solid"/>
          </a:ln>
        </p:spPr>
      </p:sp>
      <p:pic>
        <p:nvPicPr>
          <p:cNvPr id="47" name="Image 17" descr="preencoded.png">    </p:cNvPr>
          <p:cNvPicPr>
            <a:picLocks noChangeAspect="1"/>
          </p:cNvPicPr>
          <p:nvPr/>
        </p:nvPicPr>
        <p:blipFill>
          <a:blip r:embed="rId18"/>
          <a:srcRect l="-1773" r="-1773" t="0" b="0"/>
          <a:stretch/>
        </p:blipFill>
        <p:spPr>
          <a:xfrm>
            <a:off x="11229746" y="3569818"/>
            <a:ext cx="133502" cy="171907"/>
          </a:xfrm>
          <a:prstGeom prst="rect">
            <a:avLst/>
          </a:prstGeom>
        </p:spPr>
      </p:pic>
      <p:pic>
        <p:nvPicPr>
          <p:cNvPr id="48" name="Image 18" descr="preencoded.png">    </p:cNvPr>
          <p:cNvPicPr>
            <a:picLocks noChangeAspect="1"/>
          </p:cNvPicPr>
          <p:nvPr/>
        </p:nvPicPr>
        <p:blipFill>
          <a:blip r:embed="rId19"/>
          <a:srcRect l="-5288" r="-5288" t="0" b="0"/>
          <a:stretch/>
        </p:blipFill>
        <p:spPr>
          <a:xfrm>
            <a:off x="828446" y="3483864"/>
            <a:ext cx="105156" cy="95098"/>
          </a:xfrm>
          <a:prstGeom prst="rect">
            <a:avLst/>
          </a:prstGeom>
        </p:spPr>
      </p:pic>
      <p:sp>
        <p:nvSpPr>
          <p:cNvPr id="49" name="Text 28"/>
          <p:cNvSpPr txBox="1"/>
          <p:nvPr/>
        </p:nvSpPr>
        <p:spPr>
          <a:xfrm>
            <a:off x="695858" y="4205326"/>
            <a:ext cx="2559406" cy="200254"/>
          </a:xfrm>
          <a:prstGeom prst="rect">
            <a:avLst/>
          </a:prstGeom>
          <a:noFill/>
          <a:ln/>
        </p:spPr>
        <p:txBody>
          <a:bodyPr wrap="square" lIns="0" tIns="0" rIns="0" bIns="0" rtlCol="0" anchor="ctr"/>
          <a:lstStyle/>
          <a:p>
            <a:pPr algn="l" indent="0" marL="0">
              <a:buNone/>
            </a:pPr>
            <a:r>
              <a:rPr lang="en-US" sz="1000" b="1" spc="52" kern="0" dirty="0">
                <a:solidFill>
                  <a:srgbClr val="94A3B8"/>
                </a:solidFill>
                <a:latin typeface="Noto Sans JP" pitchFamily="34" charset="0"/>
                <a:ea typeface="Noto Sans JP" pitchFamily="34" charset="-122"/>
                <a:cs typeface="Noto Sans JP" pitchFamily="34" charset="-120"/>
              </a:rPr>
              <a:t>Practical Cases: Takeside Inc.</a:t>
            </a:r>
            <a:endParaRPr lang="en-US" sz="1000" dirty="0"/>
          </a:p>
        </p:txBody>
      </p:sp>
      <p:pic>
        <p:nvPicPr>
          <p:cNvPr id="50" name="Image 19" descr="preencoded.png">    </p:cNvPr>
          <p:cNvPicPr>
            <a:picLocks noChangeAspect="1"/>
          </p:cNvPicPr>
          <p:nvPr/>
        </p:nvPicPr>
        <p:blipFill>
          <a:blip r:embed="rId20"/>
          <a:srcRect l="-2083" r="-2083" t="0" b="0"/>
          <a:stretch/>
        </p:blipFill>
        <p:spPr>
          <a:xfrm>
            <a:off x="3231490" y="4300423"/>
            <a:ext cx="8483803" cy="9144"/>
          </a:xfrm>
          <a:prstGeom prst="rect">
            <a:avLst/>
          </a:prstGeom>
        </p:spPr>
      </p:pic>
      <p:sp>
        <p:nvSpPr>
          <p:cNvPr id="51" name="Shape 29"/>
          <p:cNvSpPr/>
          <p:nvPr/>
        </p:nvSpPr>
        <p:spPr>
          <a:xfrm>
            <a:off x="476402" y="4500677"/>
            <a:ext cx="3657600" cy="2076602"/>
          </a:xfrm>
          <a:prstGeom prst="roundRect">
            <a:avLst>
              <a:gd name="adj" fmla="val 2424"/>
            </a:avLst>
          </a:prstGeom>
          <a:solidFill>
            <a:srgbClr val="0F172A">
              <a:alpha val="60000"/>
            </a:srgbClr>
          </a:solidFill>
          <a:ln w="12700">
            <a:solidFill>
              <a:srgbClr val="94A3B8">
                <a:alpha val="20000"/>
              </a:srgbClr>
            </a:solidFill>
            <a:prstDash val="solid"/>
          </a:ln>
        </p:spPr>
      </p:sp>
      <p:pic>
        <p:nvPicPr>
          <p:cNvPr id="52" name="Image 20" descr="preencoded.png">    </p:cNvPr>
          <p:cNvPicPr>
            <a:picLocks noChangeAspect="1"/>
          </p:cNvPicPr>
          <p:nvPr/>
        </p:nvPicPr>
        <p:blipFill>
          <a:blip r:embed="rId21"/>
          <a:srcRect l="0" r="0" t="-524" b="-524"/>
          <a:stretch/>
        </p:blipFill>
        <p:spPr>
          <a:xfrm>
            <a:off x="629107" y="4683557"/>
            <a:ext cx="152705" cy="123444"/>
          </a:xfrm>
          <a:prstGeom prst="rect">
            <a:avLst/>
          </a:prstGeom>
        </p:spPr>
      </p:pic>
      <p:sp>
        <p:nvSpPr>
          <p:cNvPr id="53" name="Text 30"/>
          <p:cNvSpPr txBox="1"/>
          <p:nvPr/>
        </p:nvSpPr>
        <p:spPr>
          <a:xfrm>
            <a:off x="857707" y="4653382"/>
            <a:ext cx="1522476" cy="191110"/>
          </a:xfrm>
          <a:prstGeom prst="rect">
            <a:avLst/>
          </a:prstGeom>
          <a:noFill/>
          <a:ln/>
        </p:spPr>
        <p:txBody>
          <a:bodyPr wrap="square" lIns="0" tIns="0" rIns="0" bIns="0" rtlCol="0" anchor="ctr"/>
          <a:lstStyle/>
          <a:p>
            <a:pPr algn="l" indent="0" marL="0">
              <a:buNone/>
            </a:pPr>
            <a:r>
              <a:rPr lang="en-US" sz="900" b="1" dirty="0">
                <a:solidFill>
                  <a:srgbClr val="E2E8F0"/>
                </a:solidFill>
                <a:latin typeface="Noto Sans JP" pitchFamily="34" charset="0"/>
                <a:ea typeface="Noto Sans JP" pitchFamily="34" charset="-122"/>
                <a:cs typeface="Noto Sans JP" pitchFamily="34" charset="-120"/>
              </a:rPr>
              <a:t>大手物流DXプロジェクト</a:t>
            </a:r>
            <a:endParaRPr lang="en-US" sz="900" dirty="0"/>
          </a:p>
        </p:txBody>
      </p:sp>
      <p:sp>
        <p:nvSpPr>
          <p:cNvPr id="54" name="Text 31"/>
          <p:cNvSpPr txBox="1"/>
          <p:nvPr/>
        </p:nvSpPr>
        <p:spPr>
          <a:xfrm>
            <a:off x="629107" y="4895698"/>
            <a:ext cx="3429000" cy="1305763"/>
          </a:xfrm>
          <a:prstGeom prst="rect">
            <a:avLst/>
          </a:prstGeom>
          <a:noFill/>
          <a:ln/>
        </p:spPr>
        <p:txBody>
          <a:bodyPr wrap="square" lIns="0" tIns="0" rIns="0" bIns="0" rtlCol="0" anchor="t"/>
          <a:lstStyle/>
          <a:p>
            <a:pPr algn="l" indent="0" marL="0">
              <a:buNone/>
            </a:pPr>
            <a:r>
              <a:rPr lang="en-US" sz="800" dirty="0">
                <a:solidFill>
                  <a:srgbClr val="94A3B8"/>
                </a:solidFill>
                <a:latin typeface="Noto Sans JP" pitchFamily="34" charset="0"/>
                <a:ea typeface="Noto Sans JP" pitchFamily="34" charset="-122"/>
                <a:cs typeface="Noto Sans JP" pitchFamily="34" charset="-120"/>
              </a:rPr>
              <a:t>現場の「違和感」から在庫ロスの真因を発見。AIによるルート最適化ではなく、現場の入力負荷を下げるUI改善を提案し、本質的な課題を解決。</a:t>
            </a:r>
            <a:endParaRPr lang="en-US" sz="800" dirty="0"/>
          </a:p>
        </p:txBody>
      </p:sp>
      <p:sp>
        <p:nvSpPr>
          <p:cNvPr id="55" name="Text 32"/>
          <p:cNvSpPr txBox="1"/>
          <p:nvPr/>
        </p:nvSpPr>
        <p:spPr>
          <a:xfrm>
            <a:off x="629107" y="6277356"/>
            <a:ext cx="3467405" cy="143561"/>
          </a:xfrm>
          <a:prstGeom prst="rect">
            <a:avLst/>
          </a:prstGeom>
          <a:noFill/>
          <a:ln/>
        </p:spPr>
        <p:txBody>
          <a:bodyPr wrap="square" lIns="0" tIns="0" rIns="0" bIns="0" rtlCol="0" anchor="ctr"/>
          <a:lstStyle/>
          <a:p>
            <a:pPr algn="l" indent="0" marL="0">
              <a:buNone/>
            </a:pPr>
            <a:r>
              <a:rPr lang="en-US" sz="800" dirty="0">
                <a:solidFill>
                  <a:srgbClr val="64748B"/>
                </a:solidFill>
                <a:latin typeface="JetBrains Mono" pitchFamily="34" charset="0"/>
                <a:ea typeface="JetBrains Mono" pitchFamily="34" charset="-122"/>
                <a:cs typeface="JetBrains Mono" pitchFamily="34" charset="-120"/>
              </a:rPr>
              <a:t>#ProblemFinding #UI/UX</a:t>
            </a:r>
            <a:endParaRPr lang="en-US" sz="800" dirty="0"/>
          </a:p>
        </p:txBody>
      </p:sp>
      <p:sp>
        <p:nvSpPr>
          <p:cNvPr id="56" name="Shape 33"/>
          <p:cNvSpPr/>
          <p:nvPr/>
        </p:nvSpPr>
        <p:spPr>
          <a:xfrm>
            <a:off x="4270248" y="4500677"/>
            <a:ext cx="3657600" cy="2076602"/>
          </a:xfrm>
          <a:prstGeom prst="roundRect">
            <a:avLst>
              <a:gd name="adj" fmla="val 2424"/>
            </a:avLst>
          </a:prstGeom>
          <a:solidFill>
            <a:srgbClr val="0F172A">
              <a:alpha val="60000"/>
            </a:srgbClr>
          </a:solidFill>
          <a:ln w="12700">
            <a:solidFill>
              <a:srgbClr val="94A3B8">
                <a:alpha val="20000"/>
              </a:srgbClr>
            </a:solidFill>
            <a:prstDash val="solid"/>
          </a:ln>
        </p:spPr>
      </p:sp>
      <p:pic>
        <p:nvPicPr>
          <p:cNvPr id="57" name="Image 21" descr="preencoded.png">    </p:cNvPr>
          <p:cNvPicPr>
            <a:picLocks noChangeAspect="1"/>
          </p:cNvPicPr>
          <p:nvPr/>
        </p:nvPicPr>
        <p:blipFill>
          <a:blip r:embed="rId22"/>
          <a:srcRect l="0" r="0" t="0" b="0"/>
          <a:stretch/>
        </p:blipFill>
        <p:spPr>
          <a:xfrm>
            <a:off x="4422953" y="4683557"/>
            <a:ext cx="123444" cy="123444"/>
          </a:xfrm>
          <a:prstGeom prst="rect">
            <a:avLst/>
          </a:prstGeom>
        </p:spPr>
      </p:pic>
      <p:sp>
        <p:nvSpPr>
          <p:cNvPr id="58" name="Text 34"/>
          <p:cNvSpPr txBox="1"/>
          <p:nvPr/>
        </p:nvSpPr>
        <p:spPr>
          <a:xfrm>
            <a:off x="4623206" y="4653382"/>
            <a:ext cx="1666951" cy="191110"/>
          </a:xfrm>
          <a:prstGeom prst="rect">
            <a:avLst/>
          </a:prstGeom>
          <a:noFill/>
          <a:ln/>
        </p:spPr>
        <p:txBody>
          <a:bodyPr wrap="square" lIns="0" tIns="0" rIns="0" bIns="0" rtlCol="0" anchor="ctr"/>
          <a:lstStyle/>
          <a:p>
            <a:pPr algn="l" indent="0" marL="0">
              <a:buNone/>
            </a:pPr>
            <a:r>
              <a:rPr lang="en-US" sz="900" b="1" dirty="0">
                <a:solidFill>
                  <a:srgbClr val="E2E8F0"/>
                </a:solidFill>
                <a:latin typeface="Noto Sans JP" pitchFamily="34" charset="0"/>
                <a:ea typeface="Noto Sans JP" pitchFamily="34" charset="-122"/>
                <a:cs typeface="Noto Sans JP" pitchFamily="34" charset="-120"/>
              </a:rPr>
              <a:t>金融SaaS刷新プロジェクト</a:t>
            </a:r>
            <a:endParaRPr lang="en-US" sz="900" dirty="0"/>
          </a:p>
        </p:txBody>
      </p:sp>
      <p:sp>
        <p:nvSpPr>
          <p:cNvPr id="59" name="Text 35"/>
          <p:cNvSpPr txBox="1"/>
          <p:nvPr/>
        </p:nvSpPr>
        <p:spPr>
          <a:xfrm>
            <a:off x="4422953" y="4895698"/>
            <a:ext cx="3429000" cy="1305763"/>
          </a:xfrm>
          <a:prstGeom prst="rect">
            <a:avLst/>
          </a:prstGeom>
          <a:noFill/>
          <a:ln/>
        </p:spPr>
        <p:txBody>
          <a:bodyPr wrap="square" lIns="0" tIns="0" rIns="0" bIns="0" rtlCol="0" anchor="t"/>
          <a:lstStyle/>
          <a:p>
            <a:pPr algn="l" indent="0" marL="0">
              <a:buNone/>
            </a:pPr>
            <a:r>
              <a:rPr lang="en-US" sz="800" dirty="0">
                <a:solidFill>
                  <a:srgbClr val="94A3B8"/>
                </a:solidFill>
                <a:latin typeface="Noto Sans JP" pitchFamily="34" charset="0"/>
                <a:ea typeface="Noto Sans JP" pitchFamily="34" charset="-122"/>
                <a:cs typeface="Noto Sans JP" pitchFamily="34" charset="-120"/>
              </a:rPr>
              <a:t>若手エンジニアもPM視点で仕様策定に参加。AI実装により工数を50%削減し、浮いたリソースをセキュリティ監査の内製化に再投資。</a:t>
            </a:r>
            <a:endParaRPr lang="en-US" sz="800" dirty="0"/>
          </a:p>
        </p:txBody>
      </p:sp>
      <p:sp>
        <p:nvSpPr>
          <p:cNvPr id="60" name="Text 36"/>
          <p:cNvSpPr txBox="1"/>
          <p:nvPr/>
        </p:nvSpPr>
        <p:spPr>
          <a:xfrm>
            <a:off x="4422953" y="6277356"/>
            <a:ext cx="3467405" cy="143561"/>
          </a:xfrm>
          <a:prstGeom prst="rect">
            <a:avLst/>
          </a:prstGeom>
          <a:noFill/>
          <a:ln/>
        </p:spPr>
        <p:txBody>
          <a:bodyPr wrap="square" lIns="0" tIns="0" rIns="0" bIns="0" rtlCol="0" anchor="ctr"/>
          <a:lstStyle/>
          <a:p>
            <a:pPr algn="l" indent="0" marL="0">
              <a:buNone/>
            </a:pPr>
            <a:r>
              <a:rPr lang="en-US" sz="800" dirty="0">
                <a:solidFill>
                  <a:srgbClr val="64748B"/>
                </a:solidFill>
                <a:latin typeface="JetBrains Mono" pitchFamily="34" charset="0"/>
                <a:ea typeface="JetBrains Mono" pitchFamily="34" charset="-122"/>
                <a:cs typeface="JetBrains Mono" pitchFamily="34" charset="-120"/>
              </a:rPr>
              <a:t>#ResourceManagement #Security</a:t>
            </a:r>
            <a:endParaRPr lang="en-US" sz="800" dirty="0"/>
          </a:p>
        </p:txBody>
      </p:sp>
      <p:sp>
        <p:nvSpPr>
          <p:cNvPr id="61" name="Shape 37"/>
          <p:cNvSpPr/>
          <p:nvPr/>
        </p:nvSpPr>
        <p:spPr>
          <a:xfrm>
            <a:off x="8064094" y="4500677"/>
            <a:ext cx="3657600" cy="2076602"/>
          </a:xfrm>
          <a:prstGeom prst="roundRect">
            <a:avLst>
              <a:gd name="adj" fmla="val 2424"/>
            </a:avLst>
          </a:prstGeom>
          <a:solidFill>
            <a:srgbClr val="0F172A">
              <a:alpha val="60000"/>
            </a:srgbClr>
          </a:solidFill>
          <a:ln w="12700">
            <a:solidFill>
              <a:srgbClr val="94A3B8">
                <a:alpha val="20000"/>
              </a:srgbClr>
            </a:solidFill>
            <a:prstDash val="solid"/>
          </a:ln>
        </p:spPr>
      </p:sp>
      <p:pic>
        <p:nvPicPr>
          <p:cNvPr id="62" name="Image 22" descr="preencoded.png">    </p:cNvPr>
          <p:cNvPicPr>
            <a:picLocks noChangeAspect="1"/>
          </p:cNvPicPr>
          <p:nvPr/>
        </p:nvPicPr>
        <p:blipFill>
          <a:blip r:embed="rId23"/>
          <a:srcRect l="0" r="0" t="0" b="0"/>
          <a:stretch/>
        </p:blipFill>
        <p:spPr>
          <a:xfrm>
            <a:off x="8216798" y="4683557"/>
            <a:ext cx="123444" cy="123444"/>
          </a:xfrm>
          <a:prstGeom prst="rect">
            <a:avLst/>
          </a:prstGeom>
        </p:spPr>
      </p:pic>
      <p:sp>
        <p:nvSpPr>
          <p:cNvPr id="63" name="Text 38"/>
          <p:cNvSpPr txBox="1"/>
          <p:nvPr/>
        </p:nvSpPr>
        <p:spPr>
          <a:xfrm>
            <a:off x="8417052" y="4653382"/>
            <a:ext cx="1214323" cy="191110"/>
          </a:xfrm>
          <a:prstGeom prst="rect">
            <a:avLst/>
          </a:prstGeom>
          <a:noFill/>
          <a:ln/>
        </p:spPr>
        <p:txBody>
          <a:bodyPr wrap="square" lIns="0" tIns="0" rIns="0" bIns="0" rtlCol="0" anchor="ctr"/>
          <a:lstStyle/>
          <a:p>
            <a:pPr algn="l" indent="0" marL="0">
              <a:buNone/>
            </a:pPr>
            <a:r>
              <a:rPr lang="en-US" sz="900" b="1" dirty="0">
                <a:solidFill>
                  <a:srgbClr val="E2E8F0"/>
                </a:solidFill>
                <a:latin typeface="Noto Sans JP" pitchFamily="34" charset="0"/>
                <a:ea typeface="Noto Sans JP" pitchFamily="34" charset="-122"/>
                <a:cs typeface="Noto Sans JP" pitchFamily="34" charset="-120"/>
              </a:rPr>
              <a:t>医療データ基盤構築</a:t>
            </a:r>
            <a:endParaRPr lang="en-US" sz="900" dirty="0"/>
          </a:p>
        </p:txBody>
      </p:sp>
      <p:sp>
        <p:nvSpPr>
          <p:cNvPr id="64" name="Text 39"/>
          <p:cNvSpPr txBox="1"/>
          <p:nvPr/>
        </p:nvSpPr>
        <p:spPr>
          <a:xfrm>
            <a:off x="8216798" y="4895698"/>
            <a:ext cx="3429000" cy="1305763"/>
          </a:xfrm>
          <a:prstGeom prst="rect">
            <a:avLst/>
          </a:prstGeom>
          <a:noFill/>
          <a:ln/>
        </p:spPr>
        <p:txBody>
          <a:bodyPr wrap="square" lIns="0" tIns="0" rIns="0" bIns="0" rtlCol="0" anchor="t"/>
          <a:lstStyle/>
          <a:p>
            <a:pPr algn="l" indent="0" marL="0">
              <a:buNone/>
            </a:pPr>
            <a:r>
              <a:rPr lang="en-US" sz="800" dirty="0">
                <a:solidFill>
                  <a:srgbClr val="94A3B8"/>
                </a:solidFill>
                <a:latin typeface="Noto Sans JP" pitchFamily="34" charset="0"/>
                <a:ea typeface="Noto Sans JP" pitchFamily="34" charset="-122"/>
                <a:cs typeface="Noto Sans JP" pitchFamily="34" charset="-120"/>
              </a:rPr>
              <a:t>医師への直接ヒアリングをエンジニアが実施。AIが解析できない「診療の文脈」を仕様書に言語化し、誤診リスクを未然に防ぐ設計を実現。</a:t>
            </a:r>
            <a:endParaRPr lang="en-US" sz="800" dirty="0"/>
          </a:p>
        </p:txBody>
      </p:sp>
      <p:sp>
        <p:nvSpPr>
          <p:cNvPr id="65" name="Text 40"/>
          <p:cNvSpPr txBox="1"/>
          <p:nvPr/>
        </p:nvSpPr>
        <p:spPr>
          <a:xfrm>
            <a:off x="8216798" y="6277356"/>
            <a:ext cx="3467405" cy="143561"/>
          </a:xfrm>
          <a:prstGeom prst="rect">
            <a:avLst/>
          </a:prstGeom>
          <a:noFill/>
          <a:ln/>
        </p:spPr>
        <p:txBody>
          <a:bodyPr wrap="square" lIns="0" tIns="0" rIns="0" bIns="0" rtlCol="0" anchor="ctr"/>
          <a:lstStyle/>
          <a:p>
            <a:pPr algn="l" indent="0" marL="0">
              <a:buNone/>
            </a:pPr>
            <a:r>
              <a:rPr lang="en-US" sz="800" dirty="0">
                <a:solidFill>
                  <a:srgbClr val="64748B"/>
                </a:solidFill>
                <a:latin typeface="JetBrains Mono" pitchFamily="34" charset="0"/>
                <a:ea typeface="JetBrains Mono" pitchFamily="34" charset="-122"/>
                <a:cs typeface="JetBrains Mono" pitchFamily="34" charset="-120"/>
              </a:rPr>
              <a:t>#Communication #DomainKnowledge</a:t>
            </a:r>
            <a:endParaRPr lang="en-US" sz="800" dirty="0"/>
          </a:p>
        </p:txBody>
      </p:sp>
      <p:pic>
        <p:nvPicPr>
          <p:cNvPr id="66" name="Image 23" descr="preencoded.png">    </p:cNvPr>
          <p:cNvPicPr>
            <a:picLocks noChangeAspect="1"/>
          </p:cNvPicPr>
          <p:nvPr/>
        </p:nvPicPr>
        <p:blipFill>
          <a:blip r:embed="rId24"/>
          <a:srcRect l="-3425" r="-3425" t="0" b="0"/>
          <a:stretch/>
        </p:blipFill>
        <p:spPr>
          <a:xfrm>
            <a:off x="476402" y="4240987"/>
            <a:ext cx="142646" cy="13350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2026-02-20T15:41:52Z</dcterms:created>
  <dcterms:modified xsi:type="dcterms:W3CDTF">2026-02-20T15:41:52Z</dcterms:modified>
</cp:coreProperties>
</file>